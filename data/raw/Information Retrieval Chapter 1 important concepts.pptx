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8" r:id="rId3"/>
    <p:sldId id="262" r:id="rId4"/>
    <p:sldId id="263" r:id="rId5"/>
    <p:sldId id="264" r:id="rId6"/>
    <p:sldId id="265" r:id="rId7"/>
    <p:sldId id="267" r:id="rId8"/>
    <p:sldId id="370" r:id="rId9"/>
    <p:sldId id="371" r:id="rId10"/>
    <p:sldId id="372" r:id="rId11"/>
    <p:sldId id="373" r:id="rId12"/>
    <p:sldId id="273" r:id="rId13"/>
    <p:sldId id="272" r:id="rId14"/>
    <p:sldId id="276" r:id="rId15"/>
    <p:sldId id="277" r:id="rId16"/>
    <p:sldId id="279" r:id="rId17"/>
    <p:sldId id="280" r:id="rId18"/>
    <p:sldId id="281" r:id="rId19"/>
    <p:sldId id="282" r:id="rId20"/>
    <p:sldId id="288" r:id="rId21"/>
    <p:sldId id="289" r:id="rId22"/>
    <p:sldId id="290" r:id="rId23"/>
    <p:sldId id="291" r:id="rId24"/>
    <p:sldId id="292" r:id="rId25"/>
    <p:sldId id="386" r:id="rId26"/>
    <p:sldId id="387" r:id="rId27"/>
    <p:sldId id="388" r:id="rId28"/>
    <p:sldId id="389" r:id="rId29"/>
    <p:sldId id="293" r:id="rId30"/>
    <p:sldId id="390" r:id="rId31"/>
    <p:sldId id="391" r:id="rId32"/>
    <p:sldId id="392" r:id="rId33"/>
    <p:sldId id="295" r:id="rId34"/>
    <p:sldId id="296" r:id="rId35"/>
    <p:sldId id="301" r:id="rId36"/>
    <p:sldId id="302" r:id="rId37"/>
    <p:sldId id="297" r:id="rId38"/>
    <p:sldId id="298" r:id="rId39"/>
    <p:sldId id="299" r:id="rId40"/>
    <p:sldId id="300" r:id="rId41"/>
    <p:sldId id="303" r:id="rId42"/>
    <p:sldId id="304" r:id="rId43"/>
    <p:sldId id="305" r:id="rId44"/>
    <p:sldId id="306" r:id="rId45"/>
    <p:sldId id="307" r:id="rId46"/>
    <p:sldId id="309" r:id="rId47"/>
    <p:sldId id="310" r:id="rId48"/>
    <p:sldId id="312" r:id="rId49"/>
    <p:sldId id="385" r:id="rId50"/>
    <p:sldId id="315" r:id="rId51"/>
    <p:sldId id="314" r:id="rId52"/>
    <p:sldId id="316" r:id="rId53"/>
    <p:sldId id="317" r:id="rId54"/>
    <p:sldId id="318"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790"/>
    <p:restoredTop sz="94544"/>
  </p:normalViewPr>
  <p:slideViewPr>
    <p:cSldViewPr snapToGrid="0">
      <p:cViewPr varScale="1">
        <p:scale>
          <a:sx n="45" d="100"/>
          <a:sy n="45" d="100"/>
        </p:scale>
        <p:origin x="200" y="1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F5A84-1BD6-634F-97B1-A7D2FFDF7C44}"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FEC5E0-65D3-A442-9655-B8BA18FE4C3F}" type="slidenum">
              <a:rPr lang="en-US" smtClean="0"/>
              <a:t>‹#›</a:t>
            </a:fld>
            <a:endParaRPr lang="en-US"/>
          </a:p>
        </p:txBody>
      </p:sp>
    </p:spTree>
    <p:extLst>
      <p:ext uri="{BB962C8B-B14F-4D97-AF65-F5344CB8AC3E}">
        <p14:creationId xmlns:p14="http://schemas.microsoft.com/office/powerpoint/2010/main" val="345027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FEC5E0-65D3-A442-9655-B8BA18FE4C3F}" type="slidenum">
              <a:rPr lang="en-US" smtClean="0"/>
              <a:t>13</a:t>
            </a:fld>
            <a:endParaRPr lang="en-US"/>
          </a:p>
        </p:txBody>
      </p:sp>
    </p:spTree>
    <p:extLst>
      <p:ext uri="{BB962C8B-B14F-4D97-AF65-F5344CB8AC3E}">
        <p14:creationId xmlns:p14="http://schemas.microsoft.com/office/powerpoint/2010/main" val="2922747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91BC3-2A89-3052-D870-9B0BA7FB27F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FFB03C-E6FB-A716-296E-D012398F5F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4424BA-F55E-C246-A7D1-69D73B259396}"/>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5" name="Footer Placeholder 4">
            <a:extLst>
              <a:ext uri="{FF2B5EF4-FFF2-40B4-BE49-F238E27FC236}">
                <a16:creationId xmlns:a16="http://schemas.microsoft.com/office/drawing/2014/main" id="{793961BC-A173-8F65-0CF6-0F249830F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31F56-66D1-41D7-40C9-FB3DF4315F5F}"/>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982748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487B8-4BB3-7945-63FE-1CDF19E2496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ABFDB5-08E7-CB55-673B-27971E653A2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F3BA10-25D3-46DD-E076-3649D48048D3}"/>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5" name="Footer Placeholder 4">
            <a:extLst>
              <a:ext uri="{FF2B5EF4-FFF2-40B4-BE49-F238E27FC236}">
                <a16:creationId xmlns:a16="http://schemas.microsoft.com/office/drawing/2014/main" id="{A77CC173-5BCC-FCE5-339B-8B9F57811C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409E-0DD5-5B15-5E32-EF5827ACE965}"/>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510903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8A5D9-433E-2AD5-7DB5-6325AC42BC8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E40A24C-C195-52A5-7F4C-80ACE62AF7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FFD34CB-F500-1129-6F5B-F7CD2B539F54}"/>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5" name="Footer Placeholder 4">
            <a:extLst>
              <a:ext uri="{FF2B5EF4-FFF2-40B4-BE49-F238E27FC236}">
                <a16:creationId xmlns:a16="http://schemas.microsoft.com/office/drawing/2014/main" id="{98D1E912-4F4D-76D8-741C-D6690FCB50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0565DE-2EEB-0610-3F75-3C4BCDE66966}"/>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485105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E4A1F-19CB-67E6-92D5-3718670E8E1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56D4D83-5B07-80FA-9B1A-D6A85B19FAD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35DFE9A-B927-F62F-9CB9-3084E05A192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454CB4B-1CB6-28E8-1F2F-8212997220DC}"/>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6" name="Footer Placeholder 5">
            <a:extLst>
              <a:ext uri="{FF2B5EF4-FFF2-40B4-BE49-F238E27FC236}">
                <a16:creationId xmlns:a16="http://schemas.microsoft.com/office/drawing/2014/main" id="{51199A4C-9488-27BB-B5C6-6517C710B4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B620F6-B59F-306F-D67D-D850A9204E51}"/>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619739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FD7B8-3B93-3D7F-AE88-3DE0F2E9622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1E37C26-E964-1FE5-5E92-1651CE0FC4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FBEF23-18DC-DB03-ABF7-1DEB85C969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5E57668-DE49-632B-B4BC-0692DF3AE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B59C7C1-1CD6-DC8F-2372-EA68D0ACB70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0FF5612-0BD1-55FE-60C3-F8BD97C45AB8}"/>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8" name="Footer Placeholder 7">
            <a:extLst>
              <a:ext uri="{FF2B5EF4-FFF2-40B4-BE49-F238E27FC236}">
                <a16:creationId xmlns:a16="http://schemas.microsoft.com/office/drawing/2014/main" id="{3900194C-0793-5351-4354-0AC0E15B36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AAAAE2-698F-1604-0ADD-F31D24FD0309}"/>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931581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9E85C-AF8D-F66E-8676-B3ECFDAE267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6F7BEA7-954F-6A03-5739-772DDB64D134}"/>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4" name="Footer Placeholder 3">
            <a:extLst>
              <a:ext uri="{FF2B5EF4-FFF2-40B4-BE49-F238E27FC236}">
                <a16:creationId xmlns:a16="http://schemas.microsoft.com/office/drawing/2014/main" id="{314BEBE7-160B-4AE2-5E29-413B040C93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B3D5E7-E89E-2E8B-53D5-72152F99EA3C}"/>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2744196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D17BE-4D36-D917-5EF4-F201284D77E1}"/>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3" name="Footer Placeholder 2">
            <a:extLst>
              <a:ext uri="{FF2B5EF4-FFF2-40B4-BE49-F238E27FC236}">
                <a16:creationId xmlns:a16="http://schemas.microsoft.com/office/drawing/2014/main" id="{D7FEE132-541D-15BC-A82F-92125F0ABE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8609C4-84B4-A9AE-F9F5-F5A108EBCA45}"/>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627805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7556-8F40-8269-4531-F7CCACA878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99796EB-3246-B4CE-1AEC-E6BCB07E40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29563C5-108E-F200-D965-69A7D4D7C3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CB3FC97-2482-24EF-669C-5C51F9F466F6}"/>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6" name="Footer Placeholder 5">
            <a:extLst>
              <a:ext uri="{FF2B5EF4-FFF2-40B4-BE49-F238E27FC236}">
                <a16:creationId xmlns:a16="http://schemas.microsoft.com/office/drawing/2014/main" id="{83CB87DF-E5E5-8E1A-194C-710450333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B7C0E3-177D-0BBA-E3BA-B52AEDDEF983}"/>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1164952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6A99-1677-4AE7-3A19-A015778B0A0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75F3353-7166-93BE-47B8-5D6CEB86DE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F88A3-8D44-C6FA-DC84-1031C1817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55D6140-E9CB-A923-49E6-74AC32628F01}"/>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6" name="Footer Placeholder 5">
            <a:extLst>
              <a:ext uri="{FF2B5EF4-FFF2-40B4-BE49-F238E27FC236}">
                <a16:creationId xmlns:a16="http://schemas.microsoft.com/office/drawing/2014/main" id="{16C6524B-23C3-36DF-D6E3-DA2816FE81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D27C54-554C-385D-EE63-2A28E7A6735F}"/>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539542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843B-2804-B1D5-7098-AFC82B3DF26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F7C20DB-7A5B-8117-53DB-5BC1772475A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409582-A422-49E5-1BA4-BCDAEE466DBC}"/>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5" name="Footer Placeholder 4">
            <a:extLst>
              <a:ext uri="{FF2B5EF4-FFF2-40B4-BE49-F238E27FC236}">
                <a16:creationId xmlns:a16="http://schemas.microsoft.com/office/drawing/2014/main" id="{09F070FD-C5BE-381F-303A-8D7053C48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02C80-7625-3DBD-FDFA-8F2EFA6C0E51}"/>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177928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23F85F-58FA-A5B4-9946-BA48D43D519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5F7BFE9-9FD1-970F-3C15-4F7D9CC0E4B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9C90DB-579C-8955-B358-4D597DA7365B}"/>
              </a:ext>
            </a:extLst>
          </p:cNvPr>
          <p:cNvSpPr>
            <a:spLocks noGrp="1"/>
          </p:cNvSpPr>
          <p:nvPr>
            <p:ph type="dt" sz="half" idx="10"/>
          </p:nvPr>
        </p:nvSpPr>
        <p:spPr/>
        <p:txBody>
          <a:bodyPr/>
          <a:lstStyle/>
          <a:p>
            <a:fld id="{52635738-E601-6B4A-98FB-5FFDF7D6DB54}" type="datetimeFigureOut">
              <a:rPr lang="en-US" smtClean="0"/>
              <a:t>3/9/26</a:t>
            </a:fld>
            <a:endParaRPr lang="en-US"/>
          </a:p>
        </p:txBody>
      </p:sp>
      <p:sp>
        <p:nvSpPr>
          <p:cNvPr id="5" name="Footer Placeholder 4">
            <a:extLst>
              <a:ext uri="{FF2B5EF4-FFF2-40B4-BE49-F238E27FC236}">
                <a16:creationId xmlns:a16="http://schemas.microsoft.com/office/drawing/2014/main" id="{A7B55D56-9CDD-4199-1E8A-F0EE9D90E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3093E-B50D-0258-EA01-C0E14572D05A}"/>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98074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C4A97B-6CF2-8D88-C317-CACA1AF1C9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873DDC1-2900-07EA-05CB-56C6DC8F9A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0A1A3D-C97B-C1AC-7BA7-B758EEFF4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635738-E601-6B4A-98FB-5FFDF7D6DB54}" type="datetimeFigureOut">
              <a:rPr lang="en-US" smtClean="0"/>
              <a:t>3/9/26</a:t>
            </a:fld>
            <a:endParaRPr lang="en-US"/>
          </a:p>
        </p:txBody>
      </p:sp>
      <p:sp>
        <p:nvSpPr>
          <p:cNvPr id="5" name="Footer Placeholder 4">
            <a:extLst>
              <a:ext uri="{FF2B5EF4-FFF2-40B4-BE49-F238E27FC236}">
                <a16:creationId xmlns:a16="http://schemas.microsoft.com/office/drawing/2014/main" id="{492C6C35-379E-7F83-072C-3F87D08BB8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D2CA08-7BDF-D730-586D-65DB81509D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A2DF36-B936-2B46-834D-F9783B021837}" type="slidenum">
              <a:rPr lang="en-US" smtClean="0"/>
              <a:t>‹#›</a:t>
            </a:fld>
            <a:endParaRPr lang="en-US"/>
          </a:p>
        </p:txBody>
      </p:sp>
    </p:spTree>
    <p:extLst>
      <p:ext uri="{BB962C8B-B14F-4D97-AF65-F5344CB8AC3E}">
        <p14:creationId xmlns:p14="http://schemas.microsoft.com/office/powerpoint/2010/main" val="8640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google.com/search?q=Jaccard+Similarity&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G" TargetMode="External"/><Relationship Id="rId2" Type="http://schemas.openxmlformats.org/officeDocument/2006/relationships/hyperlink" Target="https://www.google.com/search?q=Cosine+Similarity&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E" TargetMode="External"/><Relationship Id="rId1" Type="http://schemas.openxmlformats.org/officeDocument/2006/relationships/slideLayout" Target="../slideLayouts/slideLayout2.xml"/><Relationship Id="rId4" Type="http://schemas.openxmlformats.org/officeDocument/2006/relationships/hyperlink" Target="https://www.google.com/search?q=Euclidean+Distance&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I"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C8D1A-824C-8A38-AC17-138E4B1CB06D}"/>
              </a:ext>
            </a:extLst>
          </p:cNvPr>
          <p:cNvSpPr>
            <a:spLocks noGrp="1"/>
          </p:cNvSpPr>
          <p:nvPr>
            <p:ph type="ctrTitle"/>
          </p:nvPr>
        </p:nvSpPr>
        <p:spPr/>
        <p:txBody>
          <a:bodyPr/>
          <a:lstStyle/>
          <a:p>
            <a:r>
              <a:rPr lang="en-US" dirty="0"/>
              <a:t>Information Retrieval</a:t>
            </a:r>
          </a:p>
        </p:txBody>
      </p:sp>
      <p:sp>
        <p:nvSpPr>
          <p:cNvPr id="3" name="Subtitle 2">
            <a:extLst>
              <a:ext uri="{FF2B5EF4-FFF2-40B4-BE49-F238E27FC236}">
                <a16:creationId xmlns:a16="http://schemas.microsoft.com/office/drawing/2014/main" id="{B84B7BB8-F1A5-C4EC-7A22-58F940EFD81C}"/>
              </a:ext>
            </a:extLst>
          </p:cNvPr>
          <p:cNvSpPr>
            <a:spLocks noGrp="1"/>
          </p:cNvSpPr>
          <p:nvPr>
            <p:ph type="subTitle" idx="1"/>
          </p:nvPr>
        </p:nvSpPr>
        <p:spPr/>
        <p:txBody>
          <a:bodyPr>
            <a:normAutofit lnSpcReduction="10000"/>
          </a:bodyPr>
          <a:lstStyle/>
          <a:p>
            <a:r>
              <a:rPr lang="en-US" dirty="0"/>
              <a:t>Course Code: BIT 406</a:t>
            </a:r>
          </a:p>
          <a:p>
            <a:r>
              <a:rPr lang="en-US" dirty="0"/>
              <a:t>Contact Hours: L-3 T-0 P-2</a:t>
            </a:r>
          </a:p>
          <a:p>
            <a:r>
              <a:rPr lang="en-US" dirty="0"/>
              <a:t>Credits: 4</a:t>
            </a:r>
          </a:p>
          <a:p>
            <a:r>
              <a:rPr lang="en-US" dirty="0"/>
              <a:t>Semester: 8</a:t>
            </a:r>
          </a:p>
        </p:txBody>
      </p:sp>
    </p:spTree>
    <p:extLst>
      <p:ext uri="{BB962C8B-B14F-4D97-AF65-F5344CB8AC3E}">
        <p14:creationId xmlns:p14="http://schemas.microsoft.com/office/powerpoint/2010/main" val="306722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9E974-F429-3937-1662-744BAB2C31EF}"/>
              </a:ext>
            </a:extLst>
          </p:cNvPr>
          <p:cNvSpPr>
            <a:spLocks noGrp="1"/>
          </p:cNvSpPr>
          <p:nvPr>
            <p:ph type="title"/>
          </p:nvPr>
        </p:nvSpPr>
        <p:spPr/>
        <p:txBody>
          <a:bodyPr/>
          <a:lstStyle/>
          <a:p>
            <a:r>
              <a:rPr lang="en-IN" dirty="0"/>
              <a:t>What exactly is Information Retrieval?</a:t>
            </a:r>
          </a:p>
        </p:txBody>
      </p:sp>
      <p:sp>
        <p:nvSpPr>
          <p:cNvPr id="3" name="Content Placeholder 2">
            <a:extLst>
              <a:ext uri="{FF2B5EF4-FFF2-40B4-BE49-F238E27FC236}">
                <a16:creationId xmlns:a16="http://schemas.microsoft.com/office/drawing/2014/main" id="{B6C3DB79-FA26-1039-B2C9-533402E35BE0}"/>
              </a:ext>
            </a:extLst>
          </p:cNvPr>
          <p:cNvSpPr>
            <a:spLocks noGrp="1"/>
          </p:cNvSpPr>
          <p:nvPr>
            <p:ph idx="1"/>
          </p:nvPr>
        </p:nvSpPr>
        <p:spPr/>
        <p:txBody>
          <a:bodyPr>
            <a:normAutofit fontScale="70000" lnSpcReduction="20000"/>
          </a:bodyPr>
          <a:lstStyle/>
          <a:p>
            <a:pPr marL="0" indent="0">
              <a:buNone/>
            </a:pPr>
            <a:r>
              <a:rPr lang="en-IN" b="1" dirty="0"/>
              <a:t>Information Retrieval</a:t>
            </a:r>
            <a:endParaRPr lang="en-IN" dirty="0"/>
          </a:p>
          <a:p>
            <a:pPr marL="0" indent="0">
              <a:buNone/>
            </a:pPr>
            <a:r>
              <a:rPr lang="en-IN" dirty="0"/>
              <a:t>Information retrieval is defined as the process of accessing and retrieving the most appropriate information from text based on a particular query given by the user, with the help of context-based indexing or metadata.</a:t>
            </a:r>
          </a:p>
          <a:p>
            <a:r>
              <a:rPr lang="en-IN" b="1" dirty="0">
                <a:solidFill>
                  <a:srgbClr val="FF0000"/>
                </a:solidFill>
              </a:rPr>
              <a:t>Google Search</a:t>
            </a:r>
            <a:r>
              <a:rPr lang="en-IN" dirty="0">
                <a:solidFill>
                  <a:srgbClr val="FF0000"/>
                </a:solidFill>
              </a:rPr>
              <a:t> is the most famous example of information retrieval.</a:t>
            </a:r>
          </a:p>
          <a:p>
            <a:pPr marL="0" indent="0">
              <a:buNone/>
            </a:pPr>
            <a:r>
              <a:rPr lang="en-IN" b="1" dirty="0"/>
              <a:t>Information Retrieval Systems</a:t>
            </a:r>
            <a:endParaRPr lang="en-IN" dirty="0"/>
          </a:p>
          <a:p>
            <a:r>
              <a:rPr lang="en-IN" dirty="0"/>
              <a:t>An information retrieval system searches a collection of natural language documents with the goal of retrieving exactly the set of documents that matches a user’s question. They have their origin in library systems.</a:t>
            </a:r>
          </a:p>
          <a:p>
            <a:r>
              <a:rPr lang="en-IN" dirty="0"/>
              <a:t>These systems assist users in finding the information they require but it does not attempt to deduce or generate answers. It tells about the existence and location of documents that might consist of the required information that is given to the user. </a:t>
            </a:r>
            <a:r>
              <a:rPr lang="en-IN" b="1" dirty="0">
                <a:solidFill>
                  <a:srgbClr val="FF0000"/>
                </a:solidFill>
              </a:rPr>
              <a:t>The documents that satisfy the user’s requirement are called relevant documents.</a:t>
            </a:r>
            <a:r>
              <a:rPr lang="en-IN" dirty="0"/>
              <a:t> If we have a perfect IR system, then it will retrieve only relevant documents.</a:t>
            </a:r>
          </a:p>
          <a:p>
            <a:pPr marL="0" indent="0">
              <a:buNone/>
            </a:pPr>
            <a:br>
              <a:rPr lang="en-IN" dirty="0"/>
            </a:br>
            <a:endParaRPr lang="en-US" dirty="0"/>
          </a:p>
        </p:txBody>
      </p:sp>
    </p:spTree>
    <p:extLst>
      <p:ext uri="{BB962C8B-B14F-4D97-AF65-F5344CB8AC3E}">
        <p14:creationId xmlns:p14="http://schemas.microsoft.com/office/powerpoint/2010/main" val="2198933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4DD2-D45A-1CA4-2090-4E27BDD75941}"/>
              </a:ext>
            </a:extLst>
          </p:cNvPr>
          <p:cNvSpPr>
            <a:spLocks noGrp="1"/>
          </p:cNvSpPr>
          <p:nvPr>
            <p:ph type="title"/>
          </p:nvPr>
        </p:nvSpPr>
        <p:spPr/>
        <p:txBody>
          <a:bodyPr/>
          <a:lstStyle/>
          <a:p>
            <a:r>
              <a:rPr lang="en-US" dirty="0"/>
              <a:t>Information Retrieval Models</a:t>
            </a:r>
          </a:p>
        </p:txBody>
      </p:sp>
      <p:sp>
        <p:nvSpPr>
          <p:cNvPr id="3" name="Content Placeholder 2">
            <a:extLst>
              <a:ext uri="{FF2B5EF4-FFF2-40B4-BE49-F238E27FC236}">
                <a16:creationId xmlns:a16="http://schemas.microsoft.com/office/drawing/2014/main" id="{A3B8729D-5191-F607-A965-524355D1DFF6}"/>
              </a:ext>
            </a:extLst>
          </p:cNvPr>
          <p:cNvSpPr>
            <a:spLocks noGrp="1"/>
          </p:cNvSpPr>
          <p:nvPr>
            <p:ph idx="1"/>
          </p:nvPr>
        </p:nvSpPr>
        <p:spPr/>
        <p:txBody>
          <a:bodyPr>
            <a:normAutofit fontScale="85000" lnSpcReduction="10000"/>
          </a:bodyPr>
          <a:lstStyle/>
          <a:p>
            <a:r>
              <a:rPr lang="en-IN" dirty="0"/>
              <a:t>Information retrieval models predict and explain what a user will find in relevance to the given query and consists of the following:</a:t>
            </a:r>
          </a:p>
          <a:p>
            <a:pPr lvl="1"/>
            <a:r>
              <a:rPr lang="en-IN" dirty="0"/>
              <a:t>A model for documents.</a:t>
            </a:r>
          </a:p>
          <a:p>
            <a:pPr lvl="1"/>
            <a:r>
              <a:rPr lang="en-IN" dirty="0"/>
              <a:t>A model for queries.</a:t>
            </a:r>
          </a:p>
          <a:p>
            <a:pPr lvl="1"/>
            <a:r>
              <a:rPr lang="en-IN" dirty="0"/>
              <a:t>A matching function that compares queries to documents.</a:t>
            </a:r>
          </a:p>
          <a:p>
            <a:r>
              <a:rPr lang="en-IN" dirty="0"/>
              <a:t>Mathematically, a retrieval model consists of the following components:</a:t>
            </a:r>
          </a:p>
          <a:p>
            <a:pPr marL="0" indent="0">
              <a:buNone/>
            </a:pPr>
            <a:r>
              <a:rPr lang="en-IN" b="1" dirty="0"/>
              <a:t>	D: </a:t>
            </a:r>
            <a:r>
              <a:rPr lang="en-IN" dirty="0"/>
              <a:t>Representation for documents.</a:t>
            </a:r>
          </a:p>
          <a:p>
            <a:pPr marL="0" indent="0">
              <a:buNone/>
            </a:pPr>
            <a:r>
              <a:rPr lang="en-IN" b="1" dirty="0"/>
              <a:t>	R: </a:t>
            </a:r>
            <a:r>
              <a:rPr lang="en-IN" dirty="0"/>
              <a:t>Representation for queries.</a:t>
            </a:r>
          </a:p>
          <a:p>
            <a:pPr marL="0" indent="0">
              <a:buNone/>
            </a:pPr>
            <a:r>
              <a:rPr lang="en-IN" b="1" dirty="0"/>
              <a:t>	F: </a:t>
            </a:r>
            <a:r>
              <a:rPr lang="en-IN" dirty="0"/>
              <a:t>The </a:t>
            </a:r>
            <a:r>
              <a:rPr lang="en-IN" dirty="0" err="1"/>
              <a:t>modeling</a:t>
            </a:r>
            <a:r>
              <a:rPr lang="en-IN" dirty="0"/>
              <a:t> framework for D, Q along with the relationship between 	them.</a:t>
            </a:r>
          </a:p>
          <a:p>
            <a:pPr marL="0" indent="0">
              <a:buNone/>
            </a:pPr>
            <a:r>
              <a:rPr lang="en-IN" b="1" dirty="0"/>
              <a:t>	R (q, di): </a:t>
            </a:r>
            <a:r>
              <a:rPr lang="en-IN" dirty="0"/>
              <a:t>A ranking or similarity function that orders the documents with 	respect to the query.</a:t>
            </a:r>
          </a:p>
          <a:p>
            <a:endParaRPr lang="en-US" dirty="0"/>
          </a:p>
        </p:txBody>
      </p:sp>
    </p:spTree>
    <p:extLst>
      <p:ext uri="{BB962C8B-B14F-4D97-AF65-F5344CB8AC3E}">
        <p14:creationId xmlns:p14="http://schemas.microsoft.com/office/powerpoint/2010/main" val="3672177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E874E-DE6D-2258-ACF5-AAFABE5AE99B}"/>
              </a:ext>
            </a:extLst>
          </p:cNvPr>
          <p:cNvSpPr>
            <a:spLocks noGrp="1"/>
          </p:cNvSpPr>
          <p:nvPr>
            <p:ph type="title"/>
          </p:nvPr>
        </p:nvSpPr>
        <p:spPr/>
        <p:txBody>
          <a:bodyPr/>
          <a:lstStyle/>
          <a:p>
            <a:r>
              <a:rPr lang="en-US" dirty="0"/>
              <a:t>Types of IR Model</a:t>
            </a:r>
          </a:p>
        </p:txBody>
      </p:sp>
      <p:sp>
        <p:nvSpPr>
          <p:cNvPr id="3" name="Content Placeholder 2">
            <a:extLst>
              <a:ext uri="{FF2B5EF4-FFF2-40B4-BE49-F238E27FC236}">
                <a16:creationId xmlns:a16="http://schemas.microsoft.com/office/drawing/2014/main" id="{ED2FA344-EEB2-0FAF-E126-63975BB4A637}"/>
              </a:ext>
            </a:extLst>
          </p:cNvPr>
          <p:cNvSpPr>
            <a:spLocks noGrp="1"/>
          </p:cNvSpPr>
          <p:nvPr>
            <p:ph idx="1"/>
          </p:nvPr>
        </p:nvSpPr>
        <p:spPr/>
        <p:txBody>
          <a:bodyPr>
            <a:normAutofit fontScale="25000" lnSpcReduction="20000"/>
          </a:bodyPr>
          <a:lstStyle/>
          <a:p>
            <a:pPr marL="0" indent="0" algn="just">
              <a:buNone/>
            </a:pPr>
            <a:r>
              <a:rPr lang="en-US" sz="8000" b="1" dirty="0"/>
              <a:t>Classical IR Models: </a:t>
            </a:r>
            <a:r>
              <a:rPr lang="en-US" sz="8000" dirty="0"/>
              <a:t>These are the simplest and easy-to-implement IR models. These are based on mathematical knowledge that was easily recognized and understood as well. Following are the examples of classical IR models:</a:t>
            </a:r>
          </a:p>
          <a:p>
            <a:pPr lvl="1"/>
            <a:r>
              <a:rPr lang="en-US" sz="8000" dirty="0"/>
              <a:t>Boolean models,</a:t>
            </a:r>
          </a:p>
          <a:p>
            <a:pPr lvl="1"/>
            <a:r>
              <a:rPr lang="en-US" sz="8000" dirty="0"/>
              <a:t>Vector models,</a:t>
            </a:r>
          </a:p>
          <a:p>
            <a:pPr lvl="1"/>
            <a:r>
              <a:rPr lang="en-US" sz="8000" dirty="0"/>
              <a:t>Probabilistic models.</a:t>
            </a:r>
          </a:p>
          <a:p>
            <a:pPr marL="0" indent="0" algn="just">
              <a:buNone/>
            </a:pPr>
            <a:r>
              <a:rPr lang="en-US" sz="8000" b="1" dirty="0"/>
              <a:t>Non-Classical IR Models: </a:t>
            </a:r>
            <a:r>
              <a:rPr lang="en-US" sz="8000" dirty="0"/>
              <a:t>These are completely opposite to the classical IR models. These are based on principles other than similarity, probability, Boolean operations. Following are the examples of Non-classical IR models:</a:t>
            </a:r>
          </a:p>
          <a:p>
            <a:pPr lvl="1"/>
            <a:r>
              <a:rPr lang="en-US" sz="8000" dirty="0"/>
              <a:t>Information logic models,</a:t>
            </a:r>
          </a:p>
          <a:p>
            <a:pPr lvl="1"/>
            <a:r>
              <a:rPr lang="en-US" sz="8000" dirty="0"/>
              <a:t>Situation theory models,</a:t>
            </a:r>
          </a:p>
          <a:p>
            <a:pPr lvl="1"/>
            <a:r>
              <a:rPr lang="en-US" sz="8000" dirty="0"/>
              <a:t>Interaction models.</a:t>
            </a:r>
          </a:p>
          <a:p>
            <a:pPr marL="0" indent="0" algn="just">
              <a:buNone/>
            </a:pPr>
            <a:r>
              <a:rPr lang="en-US" sz="8000" b="1" dirty="0"/>
              <a:t>Alternative IR Models: </a:t>
            </a:r>
            <a:r>
              <a:rPr lang="en-US" sz="8000" dirty="0"/>
              <a:t>It is the enhancement of the classical IR model that makes use of some specific techniques from some other fields. Following are the examples of Alternative IR models:</a:t>
            </a:r>
          </a:p>
          <a:p>
            <a:pPr lvl="1"/>
            <a:r>
              <a:rPr lang="en-US" sz="8000" dirty="0"/>
              <a:t>Cluster models,</a:t>
            </a:r>
          </a:p>
          <a:p>
            <a:pPr lvl="1"/>
            <a:r>
              <a:rPr lang="en-US" sz="8000" dirty="0"/>
              <a:t>Fuzzy models,</a:t>
            </a:r>
          </a:p>
          <a:p>
            <a:pPr lvl="1"/>
            <a:r>
              <a:rPr lang="en-US" sz="8000" dirty="0"/>
              <a:t>Latent Semantic Indexing (LSI) models.</a:t>
            </a:r>
          </a:p>
          <a:p>
            <a:pPr marL="0" indent="0">
              <a:buNone/>
            </a:pPr>
            <a:br>
              <a:rPr lang="en-US" dirty="0"/>
            </a:br>
            <a:endParaRPr lang="en-US" dirty="0"/>
          </a:p>
        </p:txBody>
      </p:sp>
    </p:spTree>
    <p:extLst>
      <p:ext uri="{BB962C8B-B14F-4D97-AF65-F5344CB8AC3E}">
        <p14:creationId xmlns:p14="http://schemas.microsoft.com/office/powerpoint/2010/main" val="3790570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F989D-9AAE-9A56-3D30-761D02657D21}"/>
              </a:ext>
            </a:extLst>
          </p:cNvPr>
          <p:cNvSpPr>
            <a:spLocks noGrp="1"/>
          </p:cNvSpPr>
          <p:nvPr>
            <p:ph type="title"/>
          </p:nvPr>
        </p:nvSpPr>
        <p:spPr/>
        <p:txBody>
          <a:bodyPr/>
          <a:lstStyle/>
          <a:p>
            <a:r>
              <a:rPr lang="en-US" dirty="0"/>
              <a:t>Vector Space Model</a:t>
            </a:r>
          </a:p>
        </p:txBody>
      </p:sp>
      <p:sp>
        <p:nvSpPr>
          <p:cNvPr id="3" name="Content Placeholder 2">
            <a:extLst>
              <a:ext uri="{FF2B5EF4-FFF2-40B4-BE49-F238E27FC236}">
                <a16:creationId xmlns:a16="http://schemas.microsoft.com/office/drawing/2014/main" id="{26D7D928-335F-CF1B-81CF-D37E2F7EBF47}"/>
              </a:ext>
            </a:extLst>
          </p:cNvPr>
          <p:cNvSpPr>
            <a:spLocks noGrp="1"/>
          </p:cNvSpPr>
          <p:nvPr>
            <p:ph idx="1"/>
          </p:nvPr>
        </p:nvSpPr>
        <p:spPr/>
        <p:txBody>
          <a:bodyPr>
            <a:normAutofit fontScale="92500" lnSpcReduction="20000"/>
          </a:bodyPr>
          <a:lstStyle/>
          <a:p>
            <a:pPr marL="0" indent="0">
              <a:buNone/>
            </a:pPr>
            <a:r>
              <a:rPr lang="en-IN" dirty="0"/>
              <a:t>This is based on Luhn’s similarity criterion, which states that </a:t>
            </a:r>
            <a:r>
              <a:rPr lang="en-IN" b="1" dirty="0"/>
              <a:t>“the more two representations agreed in given elements and their distribution, the higher would be the probability of their representing similar information”.</a:t>
            </a:r>
            <a:endParaRPr lang="en-IN" dirty="0"/>
          </a:p>
          <a:p>
            <a:pPr marL="0" indent="0">
              <a:buNone/>
            </a:pPr>
            <a:r>
              <a:rPr lang="en-IN" b="1" dirty="0"/>
              <a:t>1.</a:t>
            </a:r>
            <a:r>
              <a:rPr lang="en-IN" dirty="0"/>
              <a:t> In this model, the index representations (documents) and the queries are represented by vectors in a T dimensional Euclidean space.</a:t>
            </a:r>
          </a:p>
          <a:p>
            <a:pPr marL="0" indent="0">
              <a:buNone/>
            </a:pPr>
            <a:r>
              <a:rPr lang="en-IN" b="1" dirty="0"/>
              <a:t>2.</a:t>
            </a:r>
            <a:r>
              <a:rPr lang="en-IN" dirty="0"/>
              <a:t> T represents the number of distinct terms used in the documents.</a:t>
            </a:r>
          </a:p>
          <a:p>
            <a:pPr marL="0" indent="0">
              <a:buNone/>
            </a:pPr>
            <a:r>
              <a:rPr lang="en-IN" b="1" dirty="0"/>
              <a:t>3. </a:t>
            </a:r>
            <a:r>
              <a:rPr lang="en-IN" dirty="0"/>
              <a:t>Each axis corresponds to one term.</a:t>
            </a:r>
          </a:p>
          <a:p>
            <a:pPr marL="0" indent="0">
              <a:buNone/>
            </a:pPr>
            <a:r>
              <a:rPr lang="en-IN" b="1" dirty="0"/>
              <a:t>4. </a:t>
            </a:r>
            <a:r>
              <a:rPr lang="en-IN" dirty="0"/>
              <a:t>Ranked list of documents ordered by similarity to the query where the similarity between a query and a document is computed using a metric on the respective vectors.</a:t>
            </a:r>
          </a:p>
          <a:p>
            <a:pPr marL="0" indent="0">
              <a:buNone/>
            </a:pPr>
            <a:r>
              <a:rPr lang="en-IN" b="1" dirty="0"/>
              <a:t>5. </a:t>
            </a:r>
            <a:r>
              <a:rPr lang="en-IN" dirty="0"/>
              <a:t>The similarity measure of a document vector to a query vector is usually the cosine of the angle between them.</a:t>
            </a:r>
          </a:p>
          <a:p>
            <a:endParaRPr lang="en-US" dirty="0"/>
          </a:p>
        </p:txBody>
      </p:sp>
    </p:spTree>
    <p:extLst>
      <p:ext uri="{BB962C8B-B14F-4D97-AF65-F5344CB8AC3E}">
        <p14:creationId xmlns:p14="http://schemas.microsoft.com/office/powerpoint/2010/main" val="1639930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509E8-41E0-F189-8AAA-2F43EE9519C9}"/>
              </a:ext>
            </a:extLst>
          </p:cNvPr>
          <p:cNvSpPr>
            <a:spLocks noGrp="1"/>
          </p:cNvSpPr>
          <p:nvPr>
            <p:ph type="title"/>
          </p:nvPr>
        </p:nvSpPr>
        <p:spPr/>
        <p:txBody>
          <a:bodyPr/>
          <a:lstStyle/>
          <a:p>
            <a:r>
              <a:rPr lang="en-US" dirty="0"/>
              <a:t>Word Statistics</a:t>
            </a:r>
          </a:p>
        </p:txBody>
      </p:sp>
      <p:sp>
        <p:nvSpPr>
          <p:cNvPr id="3" name="Content Placeholder 2">
            <a:extLst>
              <a:ext uri="{FF2B5EF4-FFF2-40B4-BE49-F238E27FC236}">
                <a16:creationId xmlns:a16="http://schemas.microsoft.com/office/drawing/2014/main" id="{69B53F98-6436-A1A0-AC9C-1587A84F26DA}"/>
              </a:ext>
            </a:extLst>
          </p:cNvPr>
          <p:cNvSpPr>
            <a:spLocks noGrp="1"/>
          </p:cNvSpPr>
          <p:nvPr>
            <p:ph idx="1"/>
          </p:nvPr>
        </p:nvSpPr>
        <p:spPr/>
        <p:txBody>
          <a:bodyPr>
            <a:normAutofit fontScale="92500" lnSpcReduction="20000"/>
          </a:bodyPr>
          <a:lstStyle/>
          <a:p>
            <a:pPr marL="0" indent="0" algn="just">
              <a:buNone/>
            </a:pPr>
            <a:r>
              <a:rPr lang="en-US" dirty="0"/>
              <a:t>Word statistics refer to various quantitative measures and analyses applied to a corpus of text data to gain insights into the characteristics and patterns of the words contained within it. These statistics provide valuable information about the vocabulary, frequency distribution, and usage patterns of words in the text. Some common word statistics include:</a:t>
            </a:r>
          </a:p>
          <a:p>
            <a:pPr marL="0" indent="0">
              <a:buNone/>
            </a:pPr>
            <a:r>
              <a:rPr lang="en-US" b="1" dirty="0"/>
              <a:t>Key statistics include:</a:t>
            </a:r>
          </a:p>
          <a:p>
            <a:r>
              <a:rPr lang="en-US" dirty="0"/>
              <a:t> raw counts (Bag-of-Words)</a:t>
            </a:r>
          </a:p>
          <a:p>
            <a:r>
              <a:rPr lang="en-US" dirty="0"/>
              <a:t> weighted frequencies (TF-IDF)</a:t>
            </a:r>
          </a:p>
          <a:p>
            <a:r>
              <a:rPr lang="en-US" dirty="0"/>
              <a:t> learned contextual patterns (Word Embeddings like Word2Vec), capturing meaning through co-occurrence in high-dimensional spaces. </a:t>
            </a:r>
          </a:p>
        </p:txBody>
      </p:sp>
    </p:spTree>
    <p:extLst>
      <p:ext uri="{BB962C8B-B14F-4D97-AF65-F5344CB8AC3E}">
        <p14:creationId xmlns:p14="http://schemas.microsoft.com/office/powerpoint/2010/main" val="1426157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1570F-37DF-9C7A-3BA6-A0972DFFAAF7}"/>
              </a:ext>
            </a:extLst>
          </p:cNvPr>
          <p:cNvSpPr>
            <a:spLocks noGrp="1"/>
          </p:cNvSpPr>
          <p:nvPr>
            <p:ph type="title"/>
          </p:nvPr>
        </p:nvSpPr>
        <p:spPr/>
        <p:txBody>
          <a:bodyPr/>
          <a:lstStyle/>
          <a:p>
            <a:r>
              <a:rPr lang="en-US" dirty="0"/>
              <a:t>Key Word Statistics &amp; Concepts in VSM:</a:t>
            </a:r>
          </a:p>
        </p:txBody>
      </p:sp>
      <p:sp>
        <p:nvSpPr>
          <p:cNvPr id="3" name="Content Placeholder 2">
            <a:extLst>
              <a:ext uri="{FF2B5EF4-FFF2-40B4-BE49-F238E27FC236}">
                <a16:creationId xmlns:a16="http://schemas.microsoft.com/office/drawing/2014/main" id="{D008C36A-ED54-9201-888C-C40BB1D8FB3F}"/>
              </a:ext>
            </a:extLst>
          </p:cNvPr>
          <p:cNvSpPr>
            <a:spLocks noGrp="1"/>
          </p:cNvSpPr>
          <p:nvPr>
            <p:ph idx="1"/>
          </p:nvPr>
        </p:nvSpPr>
        <p:spPr/>
        <p:txBody>
          <a:bodyPr>
            <a:normAutofit fontScale="85000" lnSpcReduction="20000"/>
          </a:bodyPr>
          <a:lstStyle/>
          <a:p>
            <a:pPr algn="just"/>
            <a:r>
              <a:rPr lang="en-US" dirty="0"/>
              <a:t>Term Frequency (TF): How often a word appears in a specific document, indicating its local importance.</a:t>
            </a:r>
          </a:p>
          <a:p>
            <a:pPr algn="just"/>
            <a:r>
              <a:rPr lang="en-US" dirty="0"/>
              <a:t>Inverse Document Frequency (IDF): Measures a word's global rarity; common words get lower scores, rare words get higher scores, highlighting their significance across the entire collection (corpus).</a:t>
            </a:r>
          </a:p>
          <a:p>
            <a:pPr algn="just"/>
            <a:r>
              <a:rPr lang="en-US" dirty="0"/>
              <a:t>TF-IDF: Combines TF and IDF to weight words, giving higher scores to terms that are frequent in a document but rare overall, creating a sparse vector.</a:t>
            </a:r>
          </a:p>
          <a:p>
            <a:pPr algn="just"/>
            <a:r>
              <a:rPr lang="en-US" dirty="0"/>
              <a:t>Bag-of-Words (</a:t>
            </a:r>
            <a:r>
              <a:rPr lang="en-US" dirty="0" err="1"/>
              <a:t>BoW</a:t>
            </a:r>
            <a:r>
              <a:rPr lang="en-US" dirty="0"/>
              <a:t>): A simple model where each unique word in the corpus becomes a dimension, and document vectors are built from raw word counts, ignoring word order.</a:t>
            </a:r>
          </a:p>
          <a:p>
            <a:pPr algn="just"/>
            <a:r>
              <a:rPr lang="en-US" dirty="0"/>
              <a:t>Word Embeddings (Word2Vec, </a:t>
            </a:r>
            <a:r>
              <a:rPr lang="en-US" dirty="0" err="1"/>
              <a:t>GloVe</a:t>
            </a:r>
            <a:r>
              <a:rPr lang="en-US" dirty="0"/>
              <a:t>): Modern VSMs that learn dense, low-dimensional vectors for words, capturing semantic relationships (e.g., "king" - "man" + "woman" ≈ "queen") through neural networks and context. </a:t>
            </a:r>
          </a:p>
          <a:p>
            <a:pPr marL="0" indent="0">
              <a:buNone/>
            </a:pPr>
            <a:endParaRPr lang="en-US" dirty="0"/>
          </a:p>
        </p:txBody>
      </p:sp>
    </p:spTree>
    <p:extLst>
      <p:ext uri="{BB962C8B-B14F-4D97-AF65-F5344CB8AC3E}">
        <p14:creationId xmlns:p14="http://schemas.microsoft.com/office/powerpoint/2010/main" val="2509692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13116-DB8E-A332-7F5A-82A7860ADCE0}"/>
              </a:ext>
            </a:extLst>
          </p:cNvPr>
          <p:cNvSpPr>
            <a:spLocks noGrp="1"/>
          </p:cNvSpPr>
          <p:nvPr>
            <p:ph type="title"/>
          </p:nvPr>
        </p:nvSpPr>
        <p:spPr/>
        <p:txBody>
          <a:bodyPr/>
          <a:lstStyle/>
          <a:p>
            <a:r>
              <a:rPr lang="en-US" dirty="0"/>
              <a:t>Some Common Word Statistics</a:t>
            </a:r>
          </a:p>
        </p:txBody>
      </p:sp>
      <p:sp>
        <p:nvSpPr>
          <p:cNvPr id="3" name="Content Placeholder 2">
            <a:extLst>
              <a:ext uri="{FF2B5EF4-FFF2-40B4-BE49-F238E27FC236}">
                <a16:creationId xmlns:a16="http://schemas.microsoft.com/office/drawing/2014/main" id="{CE6C95C1-C15D-C6ED-8DB7-B114165A9FBC}"/>
              </a:ext>
            </a:extLst>
          </p:cNvPr>
          <p:cNvSpPr>
            <a:spLocks noGrp="1"/>
          </p:cNvSpPr>
          <p:nvPr>
            <p:ph idx="1"/>
          </p:nvPr>
        </p:nvSpPr>
        <p:spPr/>
        <p:txBody>
          <a:bodyPr>
            <a:normAutofit fontScale="92500"/>
          </a:bodyPr>
          <a:lstStyle/>
          <a:p>
            <a:pPr marL="514350" indent="-514350" algn="just">
              <a:buAutoNum type="arabicPeriod"/>
            </a:pPr>
            <a:r>
              <a:rPr lang="en-IN" dirty="0"/>
              <a:t>Word Frequency: Word frequency counts the number of times each word occurs in the text corpus. It provides an indication of the prominence or importance of individual words within the dataset.</a:t>
            </a:r>
          </a:p>
          <a:p>
            <a:pPr marL="514350" indent="-514350" algn="just">
              <a:buAutoNum type="arabicPeriod"/>
            </a:pPr>
            <a:r>
              <a:rPr lang="en-IN" dirty="0"/>
              <a:t>Word Length: Word length measures the number of characters or letters in each word. Analysing word lengths can reveal patterns such as the average word length, the distribution of word lengths, and the presence of long or short words.</a:t>
            </a:r>
          </a:p>
          <a:p>
            <a:pPr marL="514350" indent="-514350" algn="just">
              <a:buFont typeface="Arial" panose="020B0604020202020204" pitchFamily="34" charset="0"/>
              <a:buAutoNum type="arabicPeriod"/>
            </a:pPr>
            <a:r>
              <a:rPr lang="en-IN" dirty="0"/>
              <a:t>Vocabulary Size: Vocabulary size refers to the total number of unique words or distinct terms present in the text corpus. It reflects the diversity and richness of the vocabulary used in the dataset.</a:t>
            </a:r>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endParaRPr lang="en-IN" dirty="0"/>
          </a:p>
          <a:p>
            <a:endParaRPr lang="en-US" dirty="0"/>
          </a:p>
        </p:txBody>
      </p:sp>
    </p:spTree>
    <p:extLst>
      <p:ext uri="{BB962C8B-B14F-4D97-AF65-F5344CB8AC3E}">
        <p14:creationId xmlns:p14="http://schemas.microsoft.com/office/powerpoint/2010/main" val="2497267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862AA-5D59-E6BF-3F26-EE7BC3872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68EA0-7615-80B3-1B67-AB56A1B19601}"/>
              </a:ext>
            </a:extLst>
          </p:cNvPr>
          <p:cNvSpPr>
            <a:spLocks noGrp="1"/>
          </p:cNvSpPr>
          <p:nvPr>
            <p:ph type="title"/>
          </p:nvPr>
        </p:nvSpPr>
        <p:spPr/>
        <p:txBody>
          <a:bodyPr/>
          <a:lstStyle/>
          <a:p>
            <a:r>
              <a:rPr lang="en-US" dirty="0"/>
              <a:t>Some Common Word Statistics</a:t>
            </a:r>
          </a:p>
        </p:txBody>
      </p:sp>
      <p:sp>
        <p:nvSpPr>
          <p:cNvPr id="3" name="Content Placeholder 2">
            <a:extLst>
              <a:ext uri="{FF2B5EF4-FFF2-40B4-BE49-F238E27FC236}">
                <a16:creationId xmlns:a16="http://schemas.microsoft.com/office/drawing/2014/main" id="{13C33D43-9658-9811-1150-B86A7C093C40}"/>
              </a:ext>
            </a:extLst>
          </p:cNvPr>
          <p:cNvSpPr>
            <a:spLocks noGrp="1"/>
          </p:cNvSpPr>
          <p:nvPr>
            <p:ph idx="1"/>
          </p:nvPr>
        </p:nvSpPr>
        <p:spPr/>
        <p:txBody>
          <a:bodyPr>
            <a:normAutofit lnSpcReduction="10000"/>
          </a:bodyPr>
          <a:lstStyle/>
          <a:p>
            <a:pPr marL="0" indent="0" algn="just">
              <a:buNone/>
            </a:pPr>
            <a:r>
              <a:rPr lang="en-IN" dirty="0"/>
              <a:t>4. Term Frequency-Inverse Document Frequency (TF-IDF):TF-IDF is a statistical measure that evaluates the importance of a word in a document relative to a collection of documents. It combines term frequency (the frequency of a word in a document) with inverse document frequency (the frequency of the word across all documents) to identify terms that are both frequent in a document and rare across the entire corpus, thus highlighting key terms or concepts.</a:t>
            </a:r>
          </a:p>
          <a:p>
            <a:pPr marL="0" indent="0" algn="just">
              <a:buNone/>
            </a:pPr>
            <a:r>
              <a:rPr lang="en-IN" dirty="0"/>
              <a:t>5. Word Distribution: Word distribution analyses how words are distributed across the corpus, including measures such as Zipf's law, which describes the frequency distribution of words in natural language texts.</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endParaRPr lang="en-IN" dirty="0"/>
          </a:p>
          <a:p>
            <a:endParaRPr lang="en-US" dirty="0"/>
          </a:p>
        </p:txBody>
      </p:sp>
    </p:spTree>
    <p:extLst>
      <p:ext uri="{BB962C8B-B14F-4D97-AF65-F5344CB8AC3E}">
        <p14:creationId xmlns:p14="http://schemas.microsoft.com/office/powerpoint/2010/main" val="2678004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E2501-E6B3-4454-9C1B-AEAD3C82A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A6240-F86F-C354-6BAE-32128A91AAB0}"/>
              </a:ext>
            </a:extLst>
          </p:cNvPr>
          <p:cNvSpPr>
            <a:spLocks noGrp="1"/>
          </p:cNvSpPr>
          <p:nvPr>
            <p:ph type="title"/>
          </p:nvPr>
        </p:nvSpPr>
        <p:spPr/>
        <p:txBody>
          <a:bodyPr/>
          <a:lstStyle/>
          <a:p>
            <a:r>
              <a:rPr lang="en-US" dirty="0"/>
              <a:t>Some Common Word Statistics</a:t>
            </a:r>
          </a:p>
        </p:txBody>
      </p:sp>
      <p:sp>
        <p:nvSpPr>
          <p:cNvPr id="3" name="Content Placeholder 2">
            <a:extLst>
              <a:ext uri="{FF2B5EF4-FFF2-40B4-BE49-F238E27FC236}">
                <a16:creationId xmlns:a16="http://schemas.microsoft.com/office/drawing/2014/main" id="{2F16BC18-9BDC-DF22-8A1D-5666C51BE3BF}"/>
              </a:ext>
            </a:extLst>
          </p:cNvPr>
          <p:cNvSpPr>
            <a:spLocks noGrp="1"/>
          </p:cNvSpPr>
          <p:nvPr>
            <p:ph idx="1"/>
          </p:nvPr>
        </p:nvSpPr>
        <p:spPr/>
        <p:txBody>
          <a:bodyPr>
            <a:normAutofit/>
          </a:bodyPr>
          <a:lstStyle/>
          <a:p>
            <a:pPr marL="0" indent="0" algn="just">
              <a:buNone/>
            </a:pPr>
            <a:r>
              <a:rPr lang="en-IN" dirty="0"/>
              <a:t>6. </a:t>
            </a:r>
            <a:r>
              <a:rPr lang="en-IN" dirty="0" err="1"/>
              <a:t>Stopword</a:t>
            </a:r>
            <a:r>
              <a:rPr lang="en-IN" dirty="0"/>
              <a:t> Frequency: </a:t>
            </a:r>
            <a:r>
              <a:rPr lang="en-IN" dirty="0" err="1"/>
              <a:t>Stopwords</a:t>
            </a:r>
            <a:r>
              <a:rPr lang="en-IN" dirty="0"/>
              <a:t> are common words such as "the," "and," "is," etc., that are often filtered out in text analysis tasks. </a:t>
            </a:r>
            <a:r>
              <a:rPr lang="en-IN" dirty="0" err="1"/>
              <a:t>Stopword</a:t>
            </a:r>
            <a:r>
              <a:rPr lang="en-IN" dirty="0"/>
              <a:t> frequency counts the occurrence of </a:t>
            </a:r>
            <a:r>
              <a:rPr lang="en-IN" dirty="0" err="1"/>
              <a:t>stopwords</a:t>
            </a:r>
            <a:r>
              <a:rPr lang="en-IN" dirty="0"/>
              <a:t> in the text and helps identify terms that may not contribute significantly to the content or meaning of the text.</a:t>
            </a:r>
          </a:p>
          <a:p>
            <a:pPr marL="0" indent="0" algn="just">
              <a:buNone/>
            </a:pPr>
            <a:r>
              <a:rPr lang="en-IN" dirty="0"/>
              <a:t>7. N-grams: N-grams are sequences of N consecutive words or tokens extracted from the text. </a:t>
            </a:r>
            <a:r>
              <a:rPr lang="en-IN" dirty="0" err="1"/>
              <a:t>Analyzing</a:t>
            </a:r>
            <a:r>
              <a:rPr lang="en-IN" dirty="0"/>
              <a:t> N-gram statistics, such as bi-grams (sequences of two words) or tri-grams (sequences of three words), can provide insights into common word combinations and phrases.</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endParaRPr lang="en-IN" dirty="0"/>
          </a:p>
          <a:p>
            <a:endParaRPr lang="en-US" dirty="0"/>
          </a:p>
        </p:txBody>
      </p:sp>
    </p:spTree>
    <p:extLst>
      <p:ext uri="{BB962C8B-B14F-4D97-AF65-F5344CB8AC3E}">
        <p14:creationId xmlns:p14="http://schemas.microsoft.com/office/powerpoint/2010/main" val="2791119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1A4B-3F6A-BBB2-F299-E47B8D1BB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9B2D6-66FC-5DD7-16CC-01FB2D429620}"/>
              </a:ext>
            </a:extLst>
          </p:cNvPr>
          <p:cNvSpPr>
            <a:spLocks noGrp="1"/>
          </p:cNvSpPr>
          <p:nvPr>
            <p:ph type="title"/>
          </p:nvPr>
        </p:nvSpPr>
        <p:spPr/>
        <p:txBody>
          <a:bodyPr/>
          <a:lstStyle/>
          <a:p>
            <a:r>
              <a:rPr lang="en-US" dirty="0"/>
              <a:t>Some Common Word Statistics</a:t>
            </a:r>
          </a:p>
        </p:txBody>
      </p:sp>
      <p:sp>
        <p:nvSpPr>
          <p:cNvPr id="3" name="Content Placeholder 2">
            <a:extLst>
              <a:ext uri="{FF2B5EF4-FFF2-40B4-BE49-F238E27FC236}">
                <a16:creationId xmlns:a16="http://schemas.microsoft.com/office/drawing/2014/main" id="{E3F6F2D2-E693-9A30-61C5-6BF493B875DE}"/>
              </a:ext>
            </a:extLst>
          </p:cNvPr>
          <p:cNvSpPr>
            <a:spLocks noGrp="1"/>
          </p:cNvSpPr>
          <p:nvPr>
            <p:ph idx="1"/>
          </p:nvPr>
        </p:nvSpPr>
        <p:spPr/>
        <p:txBody>
          <a:bodyPr>
            <a:normAutofit fontScale="92500"/>
          </a:bodyPr>
          <a:lstStyle/>
          <a:p>
            <a:pPr marL="0" indent="0" algn="just">
              <a:buNone/>
            </a:pPr>
            <a:r>
              <a:rPr lang="en-IN" dirty="0"/>
              <a:t>8. Word Clouds: Word clouds visually represent word statistics by displaying words with varying sizes or </a:t>
            </a:r>
            <a:r>
              <a:rPr lang="en-IN" dirty="0" err="1"/>
              <a:t>colors</a:t>
            </a:r>
            <a:r>
              <a:rPr lang="en-IN" dirty="0"/>
              <a:t> based on their frequency or importance in the text. They offer a quick and intuitive way to visualize the most common or prominent words in the dataset.</a:t>
            </a:r>
          </a:p>
          <a:p>
            <a:pPr marL="0" indent="0" algn="just">
              <a:buNone/>
            </a:pPr>
            <a:endParaRPr lang="en-IN" dirty="0"/>
          </a:p>
          <a:p>
            <a:pPr marL="0" indent="0" algn="just">
              <a:buNone/>
            </a:pPr>
            <a:r>
              <a:rPr lang="en-IN" dirty="0"/>
              <a:t>Word statistics are fundamental to various natural language processing (NLP) tasks, including text classification, sentiment analysis, information retrieval, and topic </a:t>
            </a:r>
            <a:r>
              <a:rPr lang="en-IN" dirty="0" err="1"/>
              <a:t>modeling</a:t>
            </a:r>
            <a:r>
              <a:rPr lang="en-IN" dirty="0"/>
              <a:t>. By </a:t>
            </a:r>
            <a:r>
              <a:rPr lang="en-IN" dirty="0" err="1"/>
              <a:t>analyzing</a:t>
            </a:r>
            <a:r>
              <a:rPr lang="en-IN" dirty="0"/>
              <a:t> word statistics, researchers and practitioners can uncover meaningful patterns, trends, and insights from text data, ultimately enhancing our understanding of language usage and communication.</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endParaRPr lang="en-IN" dirty="0"/>
          </a:p>
          <a:p>
            <a:endParaRPr lang="en-US" dirty="0"/>
          </a:p>
        </p:txBody>
      </p:sp>
    </p:spTree>
    <p:extLst>
      <p:ext uri="{BB962C8B-B14F-4D97-AF65-F5344CB8AC3E}">
        <p14:creationId xmlns:p14="http://schemas.microsoft.com/office/powerpoint/2010/main" val="307509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1BB3-76AF-6D4A-71AE-99B4514E16EE}"/>
              </a:ext>
            </a:extLst>
          </p:cNvPr>
          <p:cNvSpPr>
            <a:spLocks noGrp="1"/>
          </p:cNvSpPr>
          <p:nvPr>
            <p:ph type="title"/>
          </p:nvPr>
        </p:nvSpPr>
        <p:spPr/>
        <p:txBody>
          <a:bodyPr/>
          <a:lstStyle/>
          <a:p>
            <a:r>
              <a:rPr lang="en-US" dirty="0"/>
              <a:t>Text Preprocessing</a:t>
            </a:r>
          </a:p>
        </p:txBody>
      </p:sp>
      <p:graphicFrame>
        <p:nvGraphicFramePr>
          <p:cNvPr id="4" name="Content Placeholder 3">
            <a:extLst>
              <a:ext uri="{FF2B5EF4-FFF2-40B4-BE49-F238E27FC236}">
                <a16:creationId xmlns:a16="http://schemas.microsoft.com/office/drawing/2014/main" id="{E20E5209-02B5-3C10-1CDA-F8FA599E3A9A}"/>
              </a:ext>
            </a:extLst>
          </p:cNvPr>
          <p:cNvGraphicFramePr>
            <a:graphicFrameLocks noGrp="1"/>
          </p:cNvGraphicFramePr>
          <p:nvPr>
            <p:ph idx="1"/>
            <p:extLst>
              <p:ext uri="{D42A27DB-BD31-4B8C-83A1-F6EECF244321}">
                <p14:modId xmlns:p14="http://schemas.microsoft.com/office/powerpoint/2010/main" val="749263855"/>
              </p:ext>
            </p:extLst>
          </p:nvPr>
        </p:nvGraphicFramePr>
        <p:xfrm>
          <a:off x="1000125" y="1482725"/>
          <a:ext cx="9986963" cy="4774866"/>
        </p:xfrm>
        <a:graphic>
          <a:graphicData uri="http://schemas.openxmlformats.org/drawingml/2006/table">
            <a:tbl>
              <a:tblPr/>
              <a:tblGrid>
                <a:gridCol w="1866345">
                  <a:extLst>
                    <a:ext uri="{9D8B030D-6E8A-4147-A177-3AD203B41FA5}">
                      <a16:colId xmlns:a16="http://schemas.microsoft.com/office/drawing/2014/main" val="3859799504"/>
                    </a:ext>
                  </a:extLst>
                </a:gridCol>
                <a:gridCol w="8120618">
                  <a:extLst>
                    <a:ext uri="{9D8B030D-6E8A-4147-A177-3AD203B41FA5}">
                      <a16:colId xmlns:a16="http://schemas.microsoft.com/office/drawing/2014/main" val="3278772477"/>
                    </a:ext>
                  </a:extLst>
                </a:gridCol>
              </a:tblGrid>
              <a:tr h="546100">
                <a:tc>
                  <a:txBody>
                    <a:bodyPr/>
                    <a:lstStyle/>
                    <a:p>
                      <a:pPr algn="l">
                        <a:buNone/>
                      </a:pPr>
                      <a:r>
                        <a:rPr lang="en-IN" sz="1200" b="1">
                          <a:solidFill>
                            <a:srgbClr val="000000"/>
                          </a:solidFill>
                          <a:effectLst/>
                        </a:rPr>
                        <a:t>Preprocessing Task</a:t>
                      </a:r>
                    </a:p>
                  </a:txBody>
                  <a:tcPr marL="30643" marR="30643" marT="15322" marB="15322">
                    <a:lnL w="9525" cap="flat" cmpd="sng" algn="ctr">
                      <a:solidFill>
                        <a:srgbClr val="90A443"/>
                      </a:solidFill>
                      <a:prstDash val="solid"/>
                      <a:round/>
                      <a:headEnd type="none" w="med" len="med"/>
                      <a:tailEnd type="none" w="med" len="med"/>
                    </a:lnL>
                    <a:lnR w="9525" cap="flat" cmpd="sng" algn="ctr">
                      <a:solidFill>
                        <a:srgbClr val="A0A143"/>
                      </a:solidFill>
                      <a:prstDash val="solid"/>
                      <a:round/>
                      <a:headEnd type="none" w="med" len="med"/>
                      <a:tailEnd type="none" w="med" len="med"/>
                    </a:lnR>
                    <a:lnT w="9525" cap="flat" cmpd="sng" algn="ctr">
                      <a:solidFill>
                        <a:srgbClr val="90A443"/>
                      </a:solidFill>
                      <a:prstDash val="solid"/>
                      <a:round/>
                      <a:headEnd type="none" w="med" len="med"/>
                      <a:tailEnd type="none" w="med" len="med"/>
                    </a:lnT>
                    <a:lnB w="9525" cap="flat" cmpd="sng" algn="ctr">
                      <a:solidFill>
                        <a:srgbClr val="E0A243"/>
                      </a:solidFill>
                      <a:prstDash val="solid"/>
                      <a:round/>
                      <a:headEnd type="none" w="med" len="med"/>
                      <a:tailEnd type="none" w="med" len="med"/>
                    </a:lnB>
                    <a:solidFill>
                      <a:srgbClr val="FFFFFF"/>
                    </a:solidFill>
                  </a:tcPr>
                </a:tc>
                <a:tc>
                  <a:txBody>
                    <a:bodyPr/>
                    <a:lstStyle/>
                    <a:p>
                      <a:pPr algn="l">
                        <a:buNone/>
                      </a:pPr>
                      <a:r>
                        <a:rPr lang="en-IN" sz="1200" b="1" dirty="0">
                          <a:solidFill>
                            <a:srgbClr val="000000"/>
                          </a:solidFill>
                          <a:effectLst/>
                        </a:rPr>
                        <a:t>Reasons</a:t>
                      </a:r>
                    </a:p>
                  </a:txBody>
                  <a:tcPr marL="30643" marR="30643" marT="15322" marB="15322">
                    <a:lnL w="9525" cap="flat" cmpd="sng" algn="ctr">
                      <a:solidFill>
                        <a:srgbClr val="A0A143"/>
                      </a:solidFill>
                      <a:prstDash val="solid"/>
                      <a:round/>
                      <a:headEnd type="none" w="med" len="med"/>
                      <a:tailEnd type="none" w="med" len="med"/>
                    </a:lnL>
                    <a:lnR w="9525" cap="flat" cmpd="sng" algn="ctr">
                      <a:solidFill>
                        <a:srgbClr val="A0A143"/>
                      </a:solidFill>
                      <a:prstDash val="solid"/>
                      <a:round/>
                      <a:headEnd type="none" w="med" len="med"/>
                      <a:tailEnd type="none" w="med" len="med"/>
                    </a:lnR>
                    <a:lnT w="9525" cap="flat" cmpd="sng" algn="ctr">
                      <a:solidFill>
                        <a:srgbClr val="A0A143"/>
                      </a:solidFill>
                      <a:prstDash val="solid"/>
                      <a:round/>
                      <a:headEnd type="none" w="med" len="med"/>
                      <a:tailEnd type="none" w="med" len="med"/>
                    </a:lnT>
                    <a:lnB w="9525" cap="flat" cmpd="sng" algn="ctr">
                      <a:solidFill>
                        <a:srgbClr val="309143"/>
                      </a:solidFill>
                      <a:prstDash val="solid"/>
                      <a:round/>
                      <a:headEnd type="none" w="med" len="med"/>
                      <a:tailEnd type="none" w="med" len="med"/>
                    </a:lnB>
                    <a:solidFill>
                      <a:srgbClr val="FFFFFF"/>
                    </a:solidFill>
                  </a:tcPr>
                </a:tc>
                <a:extLst>
                  <a:ext uri="{0D108BD9-81ED-4DB2-BD59-A6C34878D82A}">
                    <a16:rowId xmlns:a16="http://schemas.microsoft.com/office/drawing/2014/main" val="2154868288"/>
                  </a:ext>
                </a:extLst>
              </a:tr>
              <a:tr h="674151">
                <a:tc>
                  <a:txBody>
                    <a:bodyPr/>
                    <a:lstStyle/>
                    <a:p>
                      <a:pPr>
                        <a:buNone/>
                      </a:pPr>
                      <a:r>
                        <a:rPr lang="en-IN" sz="1200" dirty="0">
                          <a:solidFill>
                            <a:srgbClr val="000000"/>
                          </a:solidFill>
                          <a:effectLst/>
                        </a:rPr>
                        <a:t>Noise Reduction</a:t>
                      </a:r>
                    </a:p>
                  </a:txBody>
                  <a:tcPr marL="30643" marR="30643" marT="15322" marB="15322">
                    <a:lnL w="9525" cap="flat" cmpd="sng" algn="ctr">
                      <a:solidFill>
                        <a:srgbClr val="E0A243"/>
                      </a:solidFill>
                      <a:prstDash val="solid"/>
                      <a:round/>
                      <a:headEnd type="none" w="med" len="med"/>
                      <a:tailEnd type="none" w="med" len="med"/>
                    </a:lnL>
                    <a:lnR w="9525" cap="flat" cmpd="sng" algn="ctr">
                      <a:solidFill>
                        <a:srgbClr val="309143"/>
                      </a:solidFill>
                      <a:prstDash val="solid"/>
                      <a:round/>
                      <a:headEnd type="none" w="med" len="med"/>
                      <a:tailEnd type="none" w="med" len="med"/>
                    </a:lnR>
                    <a:lnT w="9525" cap="flat" cmpd="sng" algn="ctr">
                      <a:solidFill>
                        <a:srgbClr val="E0A243"/>
                      </a:solidFill>
                      <a:prstDash val="solid"/>
                      <a:round/>
                      <a:headEnd type="none" w="med" len="med"/>
                      <a:tailEnd type="none" w="med" len="med"/>
                    </a:lnT>
                    <a:lnB w="9525" cap="flat" cmpd="sng" algn="ctr">
                      <a:solidFill>
                        <a:srgbClr val="40AF43"/>
                      </a:solidFill>
                      <a:prstDash val="solid"/>
                      <a:round/>
                      <a:headEnd type="none" w="med" len="med"/>
                      <a:tailEnd type="none" w="med" len="med"/>
                    </a:lnB>
                    <a:solidFill>
                      <a:srgbClr val="FFFFFF"/>
                    </a:solidFill>
                  </a:tcPr>
                </a:tc>
                <a:tc>
                  <a:txBody>
                    <a:bodyPr/>
                    <a:lstStyle/>
                    <a:p>
                      <a:pPr>
                        <a:buNone/>
                      </a:pPr>
                      <a:r>
                        <a:rPr lang="en-IN" sz="1200">
                          <a:solidFill>
                            <a:srgbClr val="000000"/>
                          </a:solidFill>
                          <a:effectLst/>
                        </a:rPr>
                        <a:t>Text data often contains noise such as punctuation, special characters, and irrelevant symbols. Preprocessing helps remove these elements, making the text cleaner and easier to analyze.</a:t>
                      </a:r>
                    </a:p>
                  </a:txBody>
                  <a:tcPr marL="30643" marR="30643" marT="15322" marB="15322">
                    <a:lnL w="9525" cap="flat" cmpd="sng" algn="ctr">
                      <a:solidFill>
                        <a:srgbClr val="309143"/>
                      </a:solidFill>
                      <a:prstDash val="solid"/>
                      <a:round/>
                      <a:headEnd type="none" w="med" len="med"/>
                      <a:tailEnd type="none" w="med" len="med"/>
                    </a:lnL>
                    <a:lnR w="9525" cap="flat" cmpd="sng" algn="ctr">
                      <a:solidFill>
                        <a:srgbClr val="309143"/>
                      </a:solidFill>
                      <a:prstDash val="solid"/>
                      <a:round/>
                      <a:headEnd type="none" w="med" len="med"/>
                      <a:tailEnd type="none" w="med" len="med"/>
                    </a:lnR>
                    <a:lnT w="9525" cap="flat" cmpd="sng" algn="ctr">
                      <a:solidFill>
                        <a:srgbClr val="309143"/>
                      </a:solidFill>
                      <a:prstDash val="solid"/>
                      <a:round/>
                      <a:headEnd type="none" w="med" len="med"/>
                      <a:tailEnd type="none" w="med" len="med"/>
                    </a:lnT>
                    <a:lnB w="9525" cap="flat" cmpd="sng" algn="ctr">
                      <a:solidFill>
                        <a:srgbClr val="50A543"/>
                      </a:solidFill>
                      <a:prstDash val="solid"/>
                      <a:round/>
                      <a:headEnd type="none" w="med" len="med"/>
                      <a:tailEnd type="none" w="med" len="med"/>
                    </a:lnB>
                    <a:solidFill>
                      <a:srgbClr val="FFFFFF"/>
                    </a:solidFill>
                  </a:tcPr>
                </a:tc>
                <a:extLst>
                  <a:ext uri="{0D108BD9-81ED-4DB2-BD59-A6C34878D82A}">
                    <a16:rowId xmlns:a16="http://schemas.microsoft.com/office/drawing/2014/main" val="3445720854"/>
                  </a:ext>
                </a:extLst>
              </a:tr>
              <a:tr h="766081">
                <a:tc>
                  <a:txBody>
                    <a:bodyPr/>
                    <a:lstStyle/>
                    <a:p>
                      <a:pPr>
                        <a:buNone/>
                      </a:pPr>
                      <a:r>
                        <a:rPr lang="en-IN" sz="1200" dirty="0">
                          <a:solidFill>
                            <a:srgbClr val="000000"/>
                          </a:solidFill>
                          <a:effectLst/>
                        </a:rPr>
                        <a:t>Normalization</a:t>
                      </a:r>
                    </a:p>
                  </a:txBody>
                  <a:tcPr marL="30643" marR="30643" marT="15322" marB="15322">
                    <a:lnL w="9525" cap="flat" cmpd="sng" algn="ctr">
                      <a:solidFill>
                        <a:srgbClr val="40AF43"/>
                      </a:solidFill>
                      <a:prstDash val="solid"/>
                      <a:round/>
                      <a:headEnd type="none" w="med" len="med"/>
                      <a:tailEnd type="none" w="med" len="med"/>
                    </a:lnL>
                    <a:lnR w="9525" cap="flat" cmpd="sng" algn="ctr">
                      <a:solidFill>
                        <a:srgbClr val="50A543"/>
                      </a:solidFill>
                      <a:prstDash val="solid"/>
                      <a:round/>
                      <a:headEnd type="none" w="med" len="med"/>
                      <a:tailEnd type="none" w="med" len="med"/>
                    </a:lnR>
                    <a:lnT w="9525" cap="flat" cmpd="sng" algn="ctr">
                      <a:solidFill>
                        <a:srgbClr val="40AF43"/>
                      </a:solidFill>
                      <a:prstDash val="solid"/>
                      <a:round/>
                      <a:headEnd type="none" w="med" len="med"/>
                      <a:tailEnd type="none" w="med" len="med"/>
                    </a:lnT>
                    <a:lnB w="9525" cap="flat" cmpd="sng" algn="ctr">
                      <a:solidFill>
                        <a:srgbClr val="D0B243"/>
                      </a:solidFill>
                      <a:prstDash val="solid"/>
                      <a:round/>
                      <a:headEnd type="none" w="med" len="med"/>
                      <a:tailEnd type="none" w="med" len="med"/>
                    </a:lnB>
                    <a:solidFill>
                      <a:srgbClr val="FFFFFF"/>
                    </a:solidFill>
                  </a:tcPr>
                </a:tc>
                <a:tc>
                  <a:txBody>
                    <a:bodyPr/>
                    <a:lstStyle/>
                    <a:p>
                      <a:pPr>
                        <a:buNone/>
                      </a:pPr>
                      <a:r>
                        <a:rPr lang="en-IN" sz="1200">
                          <a:solidFill>
                            <a:srgbClr val="000000"/>
                          </a:solidFill>
                          <a:effectLst/>
                        </a:rPr>
                        <a:t>Different forms of words (e.g., “run,” “running,” “ran”) can convey the same meaning but appear in different forms. Preprocessing techniques like stemming and lemmatization help standardize these variations.</a:t>
                      </a:r>
                    </a:p>
                  </a:txBody>
                  <a:tcPr marL="30643" marR="30643" marT="15322" marB="15322">
                    <a:lnL w="9525" cap="flat" cmpd="sng" algn="ctr">
                      <a:solidFill>
                        <a:srgbClr val="50A543"/>
                      </a:solidFill>
                      <a:prstDash val="solid"/>
                      <a:round/>
                      <a:headEnd type="none" w="med" len="med"/>
                      <a:tailEnd type="none" w="med" len="med"/>
                    </a:lnL>
                    <a:lnR w="9525" cap="flat" cmpd="sng" algn="ctr">
                      <a:solidFill>
                        <a:srgbClr val="50A543"/>
                      </a:solidFill>
                      <a:prstDash val="solid"/>
                      <a:round/>
                      <a:headEnd type="none" w="med" len="med"/>
                      <a:tailEnd type="none" w="med" len="med"/>
                    </a:lnR>
                    <a:lnT w="9525" cap="flat" cmpd="sng" algn="ctr">
                      <a:solidFill>
                        <a:srgbClr val="50A543"/>
                      </a:solidFill>
                      <a:prstDash val="solid"/>
                      <a:round/>
                      <a:headEnd type="none" w="med" len="med"/>
                      <a:tailEnd type="none" w="med" len="med"/>
                    </a:lnT>
                    <a:lnB w="9525" cap="flat" cmpd="sng" algn="ctr">
                      <a:solidFill>
                        <a:srgbClr val="90BF43"/>
                      </a:solidFill>
                      <a:prstDash val="solid"/>
                      <a:round/>
                      <a:headEnd type="none" w="med" len="med"/>
                      <a:tailEnd type="none" w="med" len="med"/>
                    </a:lnB>
                    <a:solidFill>
                      <a:srgbClr val="FFFFFF"/>
                    </a:solidFill>
                  </a:tcPr>
                </a:tc>
                <a:extLst>
                  <a:ext uri="{0D108BD9-81ED-4DB2-BD59-A6C34878D82A}">
                    <a16:rowId xmlns:a16="http://schemas.microsoft.com/office/drawing/2014/main" val="3192113353"/>
                  </a:ext>
                </a:extLst>
              </a:tr>
              <a:tr h="766081">
                <a:tc>
                  <a:txBody>
                    <a:bodyPr/>
                    <a:lstStyle/>
                    <a:p>
                      <a:pPr>
                        <a:buNone/>
                      </a:pPr>
                      <a:r>
                        <a:rPr lang="en-IN" sz="1200">
                          <a:solidFill>
                            <a:srgbClr val="000000"/>
                          </a:solidFill>
                          <a:effectLst/>
                        </a:rPr>
                        <a:t>Tokenization</a:t>
                      </a:r>
                    </a:p>
                  </a:txBody>
                  <a:tcPr marL="30643" marR="30643" marT="15322" marB="15322">
                    <a:lnL w="9525" cap="flat" cmpd="sng" algn="ctr">
                      <a:solidFill>
                        <a:srgbClr val="D0B243"/>
                      </a:solidFill>
                      <a:prstDash val="solid"/>
                      <a:round/>
                      <a:headEnd type="none" w="med" len="med"/>
                      <a:tailEnd type="none" w="med" len="med"/>
                    </a:lnL>
                    <a:lnR w="9525" cap="flat" cmpd="sng" algn="ctr">
                      <a:solidFill>
                        <a:srgbClr val="90BF43"/>
                      </a:solidFill>
                      <a:prstDash val="solid"/>
                      <a:round/>
                      <a:headEnd type="none" w="med" len="med"/>
                      <a:tailEnd type="none" w="med" len="med"/>
                    </a:lnR>
                    <a:lnT w="9525" cap="flat" cmpd="sng" algn="ctr">
                      <a:solidFill>
                        <a:srgbClr val="D0B243"/>
                      </a:solidFill>
                      <a:prstDash val="solid"/>
                      <a:round/>
                      <a:headEnd type="none" w="med" len="med"/>
                      <a:tailEnd type="none" w="med" len="med"/>
                    </a:lnT>
                    <a:lnB w="9525" cap="flat" cmpd="sng" algn="ctr">
                      <a:solidFill>
                        <a:srgbClr val="A0B9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Text data needs to be broken down into smaller units, such as words or phrases, for analysis. Tokenization divides text into meaningful units, facilitating subsequent processing steps like feature extraction.</a:t>
                      </a:r>
                    </a:p>
                  </a:txBody>
                  <a:tcPr marL="30643" marR="30643" marT="15322" marB="15322">
                    <a:lnL w="9525" cap="flat" cmpd="sng" algn="ctr">
                      <a:solidFill>
                        <a:srgbClr val="90BF43"/>
                      </a:solidFill>
                      <a:prstDash val="solid"/>
                      <a:round/>
                      <a:headEnd type="none" w="med" len="med"/>
                      <a:tailEnd type="none" w="med" len="med"/>
                    </a:lnL>
                    <a:lnR w="9525" cap="flat" cmpd="sng" algn="ctr">
                      <a:solidFill>
                        <a:srgbClr val="90BF43"/>
                      </a:solidFill>
                      <a:prstDash val="solid"/>
                      <a:round/>
                      <a:headEnd type="none" w="med" len="med"/>
                      <a:tailEnd type="none" w="med" len="med"/>
                    </a:lnR>
                    <a:lnT w="9525" cap="flat" cmpd="sng" algn="ctr">
                      <a:solidFill>
                        <a:srgbClr val="90BF43"/>
                      </a:solidFill>
                      <a:prstDash val="solid"/>
                      <a:round/>
                      <a:headEnd type="none" w="med" len="med"/>
                      <a:tailEnd type="none" w="med" len="med"/>
                    </a:lnT>
                    <a:lnB w="9525" cap="flat" cmpd="sng" algn="ctr">
                      <a:solidFill>
                        <a:srgbClr val="90AD43"/>
                      </a:solidFill>
                      <a:prstDash val="solid"/>
                      <a:round/>
                      <a:headEnd type="none" w="med" len="med"/>
                      <a:tailEnd type="none" w="med" len="med"/>
                    </a:lnB>
                    <a:solidFill>
                      <a:srgbClr val="FFFFFF"/>
                    </a:solidFill>
                  </a:tcPr>
                </a:tc>
                <a:extLst>
                  <a:ext uri="{0D108BD9-81ED-4DB2-BD59-A6C34878D82A}">
                    <a16:rowId xmlns:a16="http://schemas.microsoft.com/office/drawing/2014/main" val="2260770478"/>
                  </a:ext>
                </a:extLst>
              </a:tr>
              <a:tr h="674151">
                <a:tc>
                  <a:txBody>
                    <a:bodyPr/>
                    <a:lstStyle/>
                    <a:p>
                      <a:pPr>
                        <a:buNone/>
                      </a:pPr>
                      <a:r>
                        <a:rPr lang="en-IN" sz="1200">
                          <a:solidFill>
                            <a:srgbClr val="000000"/>
                          </a:solidFill>
                          <a:effectLst/>
                        </a:rPr>
                        <a:t>Stopword Removal</a:t>
                      </a:r>
                    </a:p>
                  </a:txBody>
                  <a:tcPr marL="30643" marR="30643" marT="15322" marB="15322">
                    <a:lnL w="9525" cap="flat" cmpd="sng" algn="ctr">
                      <a:solidFill>
                        <a:srgbClr val="A0B943"/>
                      </a:solidFill>
                      <a:prstDash val="solid"/>
                      <a:round/>
                      <a:headEnd type="none" w="med" len="med"/>
                      <a:tailEnd type="none" w="med" len="med"/>
                    </a:lnL>
                    <a:lnR w="9525" cap="flat" cmpd="sng" algn="ctr">
                      <a:solidFill>
                        <a:srgbClr val="90AD43"/>
                      </a:solidFill>
                      <a:prstDash val="solid"/>
                      <a:round/>
                      <a:headEnd type="none" w="med" len="med"/>
                      <a:tailEnd type="none" w="med" len="med"/>
                    </a:lnR>
                    <a:lnT w="9525" cap="flat" cmpd="sng" algn="ctr">
                      <a:solidFill>
                        <a:srgbClr val="A0B943"/>
                      </a:solidFill>
                      <a:prstDash val="solid"/>
                      <a:round/>
                      <a:headEnd type="none" w="med" len="med"/>
                      <a:tailEnd type="none" w="med" len="med"/>
                    </a:lnT>
                    <a:lnB w="9525" cap="flat" cmpd="sng" algn="ctr">
                      <a:solidFill>
                        <a:srgbClr val="A0B143"/>
                      </a:solidFill>
                      <a:prstDash val="solid"/>
                      <a:round/>
                      <a:headEnd type="none" w="med" len="med"/>
                      <a:tailEnd type="none" w="med" len="med"/>
                    </a:lnB>
                    <a:solidFill>
                      <a:srgbClr val="FFFFFF"/>
                    </a:solidFill>
                  </a:tcPr>
                </a:tc>
                <a:tc>
                  <a:txBody>
                    <a:bodyPr/>
                    <a:lstStyle/>
                    <a:p>
                      <a:pPr>
                        <a:buNone/>
                      </a:pPr>
                      <a:r>
                        <a:rPr lang="en-IN" sz="1200" dirty="0" err="1">
                          <a:solidFill>
                            <a:srgbClr val="000000"/>
                          </a:solidFill>
                          <a:effectLst/>
                        </a:rPr>
                        <a:t>Stopwords</a:t>
                      </a:r>
                      <a:r>
                        <a:rPr lang="en-IN" sz="1200" dirty="0">
                          <a:solidFill>
                            <a:srgbClr val="000000"/>
                          </a:solidFill>
                          <a:effectLst/>
                        </a:rPr>
                        <a:t> are common words like “the,” “is,” and “and” that often occur frequently but convey little semantic meaning. Removing </a:t>
                      </a:r>
                      <a:r>
                        <a:rPr lang="en-IN" sz="1200" dirty="0" err="1">
                          <a:solidFill>
                            <a:srgbClr val="000000"/>
                          </a:solidFill>
                          <a:effectLst/>
                        </a:rPr>
                        <a:t>stopwords</a:t>
                      </a:r>
                      <a:r>
                        <a:rPr lang="en-IN" sz="1200" dirty="0">
                          <a:solidFill>
                            <a:srgbClr val="000000"/>
                          </a:solidFill>
                          <a:effectLst/>
                        </a:rPr>
                        <a:t> can improve the efficiency of text analysis by reducing noise.</a:t>
                      </a:r>
                    </a:p>
                  </a:txBody>
                  <a:tcPr marL="30643" marR="30643" marT="15322" marB="15322">
                    <a:lnL w="9525" cap="flat" cmpd="sng" algn="ctr">
                      <a:solidFill>
                        <a:srgbClr val="90AD43"/>
                      </a:solidFill>
                      <a:prstDash val="solid"/>
                      <a:round/>
                      <a:headEnd type="none" w="med" len="med"/>
                      <a:tailEnd type="none" w="med" len="med"/>
                    </a:lnL>
                    <a:lnR w="9525" cap="flat" cmpd="sng" algn="ctr">
                      <a:solidFill>
                        <a:srgbClr val="90AD43"/>
                      </a:solidFill>
                      <a:prstDash val="solid"/>
                      <a:round/>
                      <a:headEnd type="none" w="med" len="med"/>
                      <a:tailEnd type="none" w="med" len="med"/>
                    </a:lnR>
                    <a:lnT w="9525" cap="flat" cmpd="sng" algn="ctr">
                      <a:solidFill>
                        <a:srgbClr val="90AD43"/>
                      </a:solidFill>
                      <a:prstDash val="solid"/>
                      <a:round/>
                      <a:headEnd type="none" w="med" len="med"/>
                      <a:tailEnd type="none" w="med" len="med"/>
                    </a:lnT>
                    <a:lnB w="9525" cap="flat" cmpd="sng" algn="ctr">
                      <a:solidFill>
                        <a:srgbClr val="30B443"/>
                      </a:solidFill>
                      <a:prstDash val="solid"/>
                      <a:round/>
                      <a:headEnd type="none" w="med" len="med"/>
                      <a:tailEnd type="none" w="med" len="med"/>
                    </a:lnB>
                    <a:solidFill>
                      <a:srgbClr val="FFFFFF"/>
                    </a:solidFill>
                  </a:tcPr>
                </a:tc>
                <a:extLst>
                  <a:ext uri="{0D108BD9-81ED-4DB2-BD59-A6C34878D82A}">
                    <a16:rowId xmlns:a16="http://schemas.microsoft.com/office/drawing/2014/main" val="1352332063"/>
                  </a:ext>
                </a:extLst>
              </a:tr>
              <a:tr h="582221">
                <a:tc>
                  <a:txBody>
                    <a:bodyPr/>
                    <a:lstStyle/>
                    <a:p>
                      <a:pPr>
                        <a:buNone/>
                      </a:pPr>
                      <a:r>
                        <a:rPr lang="en-IN" sz="1200">
                          <a:solidFill>
                            <a:srgbClr val="000000"/>
                          </a:solidFill>
                          <a:effectLst/>
                        </a:rPr>
                        <a:t>Feature Extraction</a:t>
                      </a:r>
                    </a:p>
                  </a:txBody>
                  <a:tcPr marL="30643" marR="30643" marT="15322" marB="15322">
                    <a:lnL w="9525" cap="flat" cmpd="sng" algn="ctr">
                      <a:solidFill>
                        <a:srgbClr val="A0B143"/>
                      </a:solidFill>
                      <a:prstDash val="solid"/>
                      <a:round/>
                      <a:headEnd type="none" w="med" len="med"/>
                      <a:tailEnd type="none" w="med" len="med"/>
                    </a:lnL>
                    <a:lnR w="9525" cap="flat" cmpd="sng" algn="ctr">
                      <a:solidFill>
                        <a:srgbClr val="30B443"/>
                      </a:solidFill>
                      <a:prstDash val="solid"/>
                      <a:round/>
                      <a:headEnd type="none" w="med" len="med"/>
                      <a:tailEnd type="none" w="med" len="med"/>
                    </a:lnR>
                    <a:lnT w="9525" cap="flat" cmpd="sng" algn="ctr">
                      <a:solidFill>
                        <a:srgbClr val="A0B143"/>
                      </a:solidFill>
                      <a:prstDash val="solid"/>
                      <a:round/>
                      <a:headEnd type="none" w="med" len="med"/>
                      <a:tailEnd type="none" w="med" len="med"/>
                    </a:lnT>
                    <a:lnB w="9525" cap="flat" cmpd="sng" algn="ctr">
                      <a:solidFill>
                        <a:srgbClr val="40AC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Preprocessing can involve extracting features from text, such as word frequencies, n-grams, or word embeddings, which are essential for building machine learning models.</a:t>
                      </a:r>
                    </a:p>
                  </a:txBody>
                  <a:tcPr marL="30643" marR="30643" marT="15322" marB="15322">
                    <a:lnL w="9525" cap="flat" cmpd="sng" algn="ctr">
                      <a:solidFill>
                        <a:srgbClr val="30B443"/>
                      </a:solidFill>
                      <a:prstDash val="solid"/>
                      <a:round/>
                      <a:headEnd type="none" w="med" len="med"/>
                      <a:tailEnd type="none" w="med" len="med"/>
                    </a:lnL>
                    <a:lnR w="9525" cap="flat" cmpd="sng" algn="ctr">
                      <a:solidFill>
                        <a:srgbClr val="30B443"/>
                      </a:solidFill>
                      <a:prstDash val="solid"/>
                      <a:round/>
                      <a:headEnd type="none" w="med" len="med"/>
                      <a:tailEnd type="none" w="med" len="med"/>
                    </a:lnR>
                    <a:lnT w="9525" cap="flat" cmpd="sng" algn="ctr">
                      <a:solidFill>
                        <a:srgbClr val="30B443"/>
                      </a:solidFill>
                      <a:prstDash val="solid"/>
                      <a:round/>
                      <a:headEnd type="none" w="med" len="med"/>
                      <a:tailEnd type="none" w="med" len="med"/>
                    </a:lnT>
                    <a:lnB w="9525" cap="flat" cmpd="sng" algn="ctr">
                      <a:solidFill>
                        <a:srgbClr val="00A743"/>
                      </a:solidFill>
                      <a:prstDash val="solid"/>
                      <a:round/>
                      <a:headEnd type="none" w="med" len="med"/>
                      <a:tailEnd type="none" w="med" len="med"/>
                    </a:lnB>
                    <a:solidFill>
                      <a:srgbClr val="FFFFFF"/>
                    </a:solidFill>
                  </a:tcPr>
                </a:tc>
                <a:extLst>
                  <a:ext uri="{0D108BD9-81ED-4DB2-BD59-A6C34878D82A}">
                    <a16:rowId xmlns:a16="http://schemas.microsoft.com/office/drawing/2014/main" val="3164837005"/>
                  </a:ext>
                </a:extLst>
              </a:tr>
              <a:tr h="766081">
                <a:tc>
                  <a:txBody>
                    <a:bodyPr/>
                    <a:lstStyle/>
                    <a:p>
                      <a:pPr>
                        <a:buNone/>
                      </a:pPr>
                      <a:r>
                        <a:rPr lang="en-IN" sz="1200">
                          <a:solidFill>
                            <a:srgbClr val="000000"/>
                          </a:solidFill>
                          <a:effectLst/>
                        </a:rPr>
                        <a:t>Dimensionality Reduction</a:t>
                      </a:r>
                    </a:p>
                  </a:txBody>
                  <a:tcPr marL="30643" marR="30643" marT="15322" marB="15322">
                    <a:lnL w="9525" cap="flat" cmpd="sng" algn="ctr">
                      <a:solidFill>
                        <a:srgbClr val="40AC43"/>
                      </a:solidFill>
                      <a:prstDash val="solid"/>
                      <a:round/>
                      <a:headEnd type="none" w="med" len="med"/>
                      <a:tailEnd type="none" w="med" len="med"/>
                    </a:lnL>
                    <a:lnR w="9525" cap="flat" cmpd="sng" algn="ctr">
                      <a:solidFill>
                        <a:srgbClr val="00A743"/>
                      </a:solidFill>
                      <a:prstDash val="solid"/>
                      <a:round/>
                      <a:headEnd type="none" w="med" len="med"/>
                      <a:tailEnd type="none" w="med" len="med"/>
                    </a:lnR>
                    <a:lnT w="9525" cap="flat" cmpd="sng" algn="ctr">
                      <a:solidFill>
                        <a:srgbClr val="40AC43"/>
                      </a:solidFill>
                      <a:prstDash val="solid"/>
                      <a:round/>
                      <a:headEnd type="none" w="med" len="med"/>
                      <a:tailEnd type="none" w="med" len="med"/>
                    </a:lnT>
                    <a:lnB w="9525" cap="flat" cmpd="sng" algn="ctr">
                      <a:solidFill>
                        <a:srgbClr val="40AC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Text data often has a high dimensionality due to the presence of a large vocabulary. Preprocessing techniques like term frequency-inverse document frequency (TF-IDF) or dimensionality reduction methods can help.</a:t>
                      </a:r>
                    </a:p>
                  </a:txBody>
                  <a:tcPr marL="30643" marR="30643" marT="15322" marB="15322">
                    <a:lnL w="9525" cap="flat" cmpd="sng" algn="ctr">
                      <a:solidFill>
                        <a:srgbClr val="00A743"/>
                      </a:solidFill>
                      <a:prstDash val="solid"/>
                      <a:round/>
                      <a:headEnd type="none" w="med" len="med"/>
                      <a:tailEnd type="none" w="med" len="med"/>
                    </a:lnL>
                    <a:lnR w="9525" cap="flat" cmpd="sng" algn="ctr">
                      <a:solidFill>
                        <a:srgbClr val="00A743"/>
                      </a:solidFill>
                      <a:prstDash val="solid"/>
                      <a:round/>
                      <a:headEnd type="none" w="med" len="med"/>
                      <a:tailEnd type="none" w="med" len="med"/>
                    </a:lnR>
                    <a:lnT w="9525" cap="flat" cmpd="sng" algn="ctr">
                      <a:solidFill>
                        <a:srgbClr val="00A743"/>
                      </a:solidFill>
                      <a:prstDash val="solid"/>
                      <a:round/>
                      <a:headEnd type="none" w="med" len="med"/>
                      <a:tailEnd type="none" w="med" len="med"/>
                    </a:lnT>
                    <a:lnB w="9525" cap="flat" cmpd="sng" algn="ctr">
                      <a:solidFill>
                        <a:srgbClr val="00A743"/>
                      </a:solidFill>
                      <a:prstDash val="solid"/>
                      <a:round/>
                      <a:headEnd type="none" w="med" len="med"/>
                      <a:tailEnd type="none" w="med" len="med"/>
                    </a:lnB>
                    <a:solidFill>
                      <a:srgbClr val="FFFFFF"/>
                    </a:solidFill>
                  </a:tcPr>
                </a:tc>
                <a:extLst>
                  <a:ext uri="{0D108BD9-81ED-4DB2-BD59-A6C34878D82A}">
                    <a16:rowId xmlns:a16="http://schemas.microsoft.com/office/drawing/2014/main" val="1177967581"/>
                  </a:ext>
                </a:extLst>
              </a:tr>
            </a:tbl>
          </a:graphicData>
        </a:graphic>
      </p:graphicFrame>
    </p:spTree>
    <p:extLst>
      <p:ext uri="{BB962C8B-B14F-4D97-AF65-F5344CB8AC3E}">
        <p14:creationId xmlns:p14="http://schemas.microsoft.com/office/powerpoint/2010/main" val="1284181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7BF6-11A0-A595-E5D3-B8BABE85A7B1}"/>
              </a:ext>
            </a:extLst>
          </p:cNvPr>
          <p:cNvSpPr>
            <a:spLocks noGrp="1"/>
          </p:cNvSpPr>
          <p:nvPr>
            <p:ph type="title"/>
          </p:nvPr>
        </p:nvSpPr>
        <p:spPr>
          <a:xfrm>
            <a:off x="228600" y="32941"/>
            <a:ext cx="10515600" cy="1325563"/>
          </a:xfrm>
        </p:spPr>
        <p:txBody>
          <a:bodyPr/>
          <a:lstStyle/>
          <a:p>
            <a:r>
              <a:rPr lang="en-US" dirty="0"/>
              <a:t>Text Preprocessing</a:t>
            </a:r>
          </a:p>
        </p:txBody>
      </p:sp>
      <p:sp>
        <p:nvSpPr>
          <p:cNvPr id="3" name="Content Placeholder 2">
            <a:extLst>
              <a:ext uri="{FF2B5EF4-FFF2-40B4-BE49-F238E27FC236}">
                <a16:creationId xmlns:a16="http://schemas.microsoft.com/office/drawing/2014/main" id="{D6A0BD5A-CB98-1EDD-DFC9-987A59CAF510}"/>
              </a:ext>
            </a:extLst>
          </p:cNvPr>
          <p:cNvSpPr>
            <a:spLocks noGrp="1"/>
          </p:cNvSpPr>
          <p:nvPr>
            <p:ph idx="1"/>
          </p:nvPr>
        </p:nvSpPr>
        <p:spPr>
          <a:xfrm>
            <a:off x="0" y="1063625"/>
            <a:ext cx="7348537" cy="5791200"/>
          </a:xfrm>
        </p:spPr>
        <p:txBody>
          <a:bodyPr>
            <a:noAutofit/>
          </a:bodyPr>
          <a:lstStyle/>
          <a:p>
            <a:pPr algn="just">
              <a:lnSpc>
                <a:spcPct val="70000"/>
              </a:lnSpc>
            </a:pPr>
            <a:r>
              <a:rPr lang="en-IN" sz="1700" dirty="0"/>
              <a:t>Much of the text preparation and preprocessing methods have their roots in natural language processing. </a:t>
            </a:r>
          </a:p>
          <a:p>
            <a:pPr algn="just">
              <a:lnSpc>
                <a:spcPct val="70000"/>
              </a:lnSpc>
            </a:pPr>
            <a:r>
              <a:rPr lang="en-IN" sz="1700" dirty="0"/>
              <a:t>Text preprocessing takes an input of raw text and returns cleansed tokens.</a:t>
            </a:r>
          </a:p>
          <a:p>
            <a:pPr algn="just">
              <a:lnSpc>
                <a:spcPct val="70000"/>
              </a:lnSpc>
            </a:pPr>
            <a:r>
              <a:rPr lang="en-IN" sz="1700" dirty="0">
                <a:solidFill>
                  <a:srgbClr val="FF0000"/>
                </a:solidFill>
              </a:rPr>
              <a:t>Tokens are single words or groups of words that are tallied by their frequency and serve as the features of the analysis. </a:t>
            </a:r>
          </a:p>
          <a:p>
            <a:pPr algn="just">
              <a:lnSpc>
                <a:spcPct val="70000"/>
              </a:lnSpc>
            </a:pPr>
            <a:r>
              <a:rPr lang="en-IN" sz="1700" dirty="0"/>
              <a:t>The preprocessing process includes</a:t>
            </a:r>
          </a:p>
          <a:p>
            <a:pPr marL="0" indent="0" algn="just">
              <a:lnSpc>
                <a:spcPct val="70000"/>
              </a:lnSpc>
              <a:buNone/>
            </a:pPr>
            <a:r>
              <a:rPr lang="en-IN" sz="1700" dirty="0"/>
              <a:t>	(1) unitization and tokenization, </a:t>
            </a:r>
          </a:p>
          <a:p>
            <a:pPr marL="0" indent="0" algn="just">
              <a:lnSpc>
                <a:spcPct val="70000"/>
              </a:lnSpc>
              <a:buNone/>
            </a:pPr>
            <a:r>
              <a:rPr lang="en-IN" sz="1700" dirty="0"/>
              <a:t>	(2) standardization and cleansing or text data cleansing, </a:t>
            </a:r>
          </a:p>
          <a:p>
            <a:pPr marL="0" indent="0" algn="just">
              <a:lnSpc>
                <a:spcPct val="70000"/>
              </a:lnSpc>
              <a:buNone/>
            </a:pPr>
            <a:r>
              <a:rPr lang="en-IN" sz="1700" dirty="0"/>
              <a:t>	(3) stop word removal, and </a:t>
            </a:r>
          </a:p>
          <a:p>
            <a:pPr marL="0" indent="0" algn="just">
              <a:lnSpc>
                <a:spcPct val="70000"/>
              </a:lnSpc>
              <a:buNone/>
            </a:pPr>
            <a:r>
              <a:rPr lang="en-IN" sz="1700" dirty="0"/>
              <a:t>	(4) stemming or lemmatization. </a:t>
            </a:r>
          </a:p>
          <a:p>
            <a:pPr marL="0" indent="0" algn="just">
              <a:lnSpc>
                <a:spcPct val="70000"/>
              </a:lnSpc>
              <a:buNone/>
            </a:pPr>
            <a:r>
              <a:rPr lang="en-IN" sz="1700" dirty="0"/>
              <a:t>This process is depicted in Figure. </a:t>
            </a:r>
          </a:p>
          <a:p>
            <a:pPr algn="just">
              <a:lnSpc>
                <a:spcPct val="70000"/>
              </a:lnSpc>
            </a:pPr>
            <a:r>
              <a:rPr lang="en-IN" sz="1700" dirty="0"/>
              <a:t>Each step removes unnecessary information from the original text.</a:t>
            </a:r>
          </a:p>
          <a:p>
            <a:pPr marL="0" indent="0" algn="just">
              <a:lnSpc>
                <a:spcPct val="70000"/>
              </a:lnSpc>
              <a:buNone/>
            </a:pPr>
            <a:r>
              <a:rPr lang="en-IN" sz="1700" b="1" dirty="0"/>
              <a:t>NEED of PREPROCESSING</a:t>
            </a:r>
          </a:p>
          <a:p>
            <a:pPr algn="just">
              <a:lnSpc>
                <a:spcPct val="70000"/>
              </a:lnSpc>
            </a:pPr>
            <a:r>
              <a:rPr lang="en-IN" sz="1700" dirty="0"/>
              <a:t> Proper preprocessing of text data sets up the analysis for success. In text analysis, far more time is spent in preparing and preprocessing the text data than in the analysis itself (Dumais et al. 1998). </a:t>
            </a:r>
          </a:p>
          <a:p>
            <a:pPr algn="just">
              <a:lnSpc>
                <a:spcPct val="70000"/>
              </a:lnSpc>
            </a:pPr>
            <a:r>
              <a:rPr lang="en-IN" sz="1700" dirty="0"/>
              <a:t>Diligent and detailed work in cleansing and preprocessing makes the analysis process smoother.</a:t>
            </a:r>
          </a:p>
          <a:p>
            <a:pPr algn="just">
              <a:lnSpc>
                <a:spcPct val="70000"/>
              </a:lnSpc>
            </a:pPr>
            <a:r>
              <a:rPr lang="en-IN" sz="1700" dirty="0"/>
              <a:t>The stages along the pipeline standardize the data, thereby reducing the number of dimensions in the text dataset. There is a balance between retained information and reduced complexity in the choices made during the process.</a:t>
            </a:r>
            <a:endParaRPr lang="en-US" sz="1700" dirty="0"/>
          </a:p>
        </p:txBody>
      </p:sp>
      <p:pic>
        <p:nvPicPr>
          <p:cNvPr id="4" name="Picture 3">
            <a:extLst>
              <a:ext uri="{FF2B5EF4-FFF2-40B4-BE49-F238E27FC236}">
                <a16:creationId xmlns:a16="http://schemas.microsoft.com/office/drawing/2014/main" id="{C73A6F20-CDDC-CE3A-11D8-5D70678CA407}"/>
              </a:ext>
            </a:extLst>
          </p:cNvPr>
          <p:cNvPicPr>
            <a:picLocks noChangeAspect="1"/>
          </p:cNvPicPr>
          <p:nvPr/>
        </p:nvPicPr>
        <p:blipFill>
          <a:blip r:embed="rId3"/>
          <a:stretch>
            <a:fillRect/>
          </a:stretch>
        </p:blipFill>
        <p:spPr>
          <a:xfrm>
            <a:off x="7239000" y="1366044"/>
            <a:ext cx="4953000" cy="5270500"/>
          </a:xfrm>
          <a:prstGeom prst="rect">
            <a:avLst/>
          </a:prstGeom>
        </p:spPr>
      </p:pic>
    </p:spTree>
    <p:extLst>
      <p:ext uri="{BB962C8B-B14F-4D97-AF65-F5344CB8AC3E}">
        <p14:creationId xmlns:p14="http://schemas.microsoft.com/office/powerpoint/2010/main" val="933872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3B20-9F9F-C9EE-0768-1C346BDF2ADE}"/>
              </a:ext>
            </a:extLst>
          </p:cNvPr>
          <p:cNvSpPr>
            <a:spLocks noGrp="1"/>
          </p:cNvSpPr>
          <p:nvPr>
            <p:ph type="title"/>
          </p:nvPr>
        </p:nvSpPr>
        <p:spPr/>
        <p:txBody>
          <a:bodyPr/>
          <a:lstStyle/>
          <a:p>
            <a:r>
              <a:rPr lang="en-IN" dirty="0"/>
              <a:t>N-grams</a:t>
            </a:r>
            <a:endParaRPr lang="en-US" dirty="0"/>
          </a:p>
        </p:txBody>
      </p:sp>
      <p:sp>
        <p:nvSpPr>
          <p:cNvPr id="3" name="Content Placeholder 2">
            <a:extLst>
              <a:ext uri="{FF2B5EF4-FFF2-40B4-BE49-F238E27FC236}">
                <a16:creationId xmlns:a16="http://schemas.microsoft.com/office/drawing/2014/main" id="{978BBB20-2A0E-6FC1-BBE3-B4B38C6AEEC1}"/>
              </a:ext>
            </a:extLst>
          </p:cNvPr>
          <p:cNvSpPr>
            <a:spLocks noGrp="1"/>
          </p:cNvSpPr>
          <p:nvPr>
            <p:ph idx="1"/>
          </p:nvPr>
        </p:nvSpPr>
        <p:spPr>
          <a:xfrm>
            <a:off x="838199" y="1825625"/>
            <a:ext cx="10918371" cy="3421289"/>
          </a:xfrm>
        </p:spPr>
        <p:txBody>
          <a:bodyPr>
            <a:normAutofit fontScale="85000" lnSpcReduction="20000"/>
          </a:bodyPr>
          <a:lstStyle/>
          <a:p>
            <a:pPr algn="just"/>
            <a:r>
              <a:rPr lang="en-IN" dirty="0"/>
              <a:t>N-grams are an alternative to single words in the tokenization process.</a:t>
            </a:r>
          </a:p>
          <a:p>
            <a:pPr algn="just"/>
            <a:r>
              <a:rPr lang="en-IN" dirty="0"/>
              <a:t>N-grams are tokens; they are consecutive word sequences with length n. </a:t>
            </a:r>
          </a:p>
          <a:p>
            <a:pPr algn="just"/>
            <a:r>
              <a:rPr lang="en-IN" dirty="0"/>
              <a:t>For instance, bigrams are tokens composed of two side-by-side words; a single word is known as a unigram. </a:t>
            </a:r>
          </a:p>
          <a:p>
            <a:pPr algn="just"/>
            <a:r>
              <a:rPr lang="en-IN" dirty="0"/>
              <a:t>N-grams retain information about the co-occurrence of words, because they group adjacent words into the same token. </a:t>
            </a:r>
          </a:p>
          <a:p>
            <a:pPr algn="just"/>
            <a:r>
              <a:rPr lang="en-IN" dirty="0"/>
              <a:t>Visualize the process as a picture frame that contains n words. Initially, the frame rests over the first n words. This counts as a token. The frame then moves over one word resulting in the exclusion of the first word. This is the second token. This process repeats for the length of the text (</a:t>
            </a:r>
            <a:r>
              <a:rPr lang="en-IN" dirty="0" err="1"/>
              <a:t>Struhl</a:t>
            </a:r>
            <a:r>
              <a:rPr lang="en-IN" dirty="0"/>
              <a:t> 2015). </a:t>
            </a:r>
            <a:endParaRPr lang="en-US" dirty="0"/>
          </a:p>
        </p:txBody>
      </p:sp>
      <p:pic>
        <p:nvPicPr>
          <p:cNvPr id="4" name="Picture 3">
            <a:extLst>
              <a:ext uri="{FF2B5EF4-FFF2-40B4-BE49-F238E27FC236}">
                <a16:creationId xmlns:a16="http://schemas.microsoft.com/office/drawing/2014/main" id="{BCF197AE-A1C4-ACA7-E35B-AE6BC8C839E6}"/>
              </a:ext>
            </a:extLst>
          </p:cNvPr>
          <p:cNvPicPr>
            <a:picLocks noChangeAspect="1"/>
          </p:cNvPicPr>
          <p:nvPr/>
        </p:nvPicPr>
        <p:blipFill>
          <a:blip r:embed="rId2"/>
          <a:stretch>
            <a:fillRect/>
          </a:stretch>
        </p:blipFill>
        <p:spPr>
          <a:xfrm>
            <a:off x="5167086" y="5003800"/>
            <a:ext cx="3606800" cy="1854200"/>
          </a:xfrm>
          <a:prstGeom prst="rect">
            <a:avLst/>
          </a:prstGeom>
        </p:spPr>
      </p:pic>
    </p:spTree>
    <p:extLst>
      <p:ext uri="{BB962C8B-B14F-4D97-AF65-F5344CB8AC3E}">
        <p14:creationId xmlns:p14="http://schemas.microsoft.com/office/powerpoint/2010/main" val="3822802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A232-F2BB-B341-EAA8-DC245AE60934}"/>
              </a:ext>
            </a:extLst>
          </p:cNvPr>
          <p:cNvSpPr>
            <a:spLocks noGrp="1"/>
          </p:cNvSpPr>
          <p:nvPr>
            <p:ph type="title"/>
          </p:nvPr>
        </p:nvSpPr>
        <p:spPr/>
        <p:txBody>
          <a:bodyPr/>
          <a:lstStyle/>
          <a:p>
            <a:r>
              <a:rPr lang="en-IN" dirty="0"/>
              <a:t>Standardization and Cleaning</a:t>
            </a:r>
            <a:endParaRPr lang="en-US" dirty="0"/>
          </a:p>
        </p:txBody>
      </p:sp>
      <p:sp>
        <p:nvSpPr>
          <p:cNvPr id="3" name="Content Placeholder 2">
            <a:extLst>
              <a:ext uri="{FF2B5EF4-FFF2-40B4-BE49-F238E27FC236}">
                <a16:creationId xmlns:a16="http://schemas.microsoft.com/office/drawing/2014/main" id="{86FAC49A-B32B-E46E-5DE2-7E30340F5728}"/>
              </a:ext>
            </a:extLst>
          </p:cNvPr>
          <p:cNvSpPr>
            <a:spLocks noGrp="1"/>
          </p:cNvSpPr>
          <p:nvPr>
            <p:ph idx="1"/>
          </p:nvPr>
        </p:nvSpPr>
        <p:spPr/>
        <p:txBody>
          <a:bodyPr>
            <a:normAutofit fontScale="92500" lnSpcReduction="20000"/>
          </a:bodyPr>
          <a:lstStyle/>
          <a:p>
            <a:pPr algn="just"/>
            <a:r>
              <a:rPr lang="en-IN" dirty="0"/>
              <a:t>First, we want to standardize and clean the tokens. These transformations level the playing field by making the terms in each of the documents comparable. For instance, we do not want character, character, and Character to be considered separate items just because one has a comma, and another has an upper case C. This standardization and cleaning prevents this possibility from occurring.</a:t>
            </a:r>
          </a:p>
          <a:p>
            <a:pPr algn="just"/>
            <a:r>
              <a:rPr lang="en-IN" dirty="0"/>
              <a:t> Our first step is to convert the terms in the text to lower case. In this step, any capital letters are converted to lower case. </a:t>
            </a:r>
          </a:p>
          <a:p>
            <a:pPr algn="just"/>
            <a:r>
              <a:rPr lang="en-IN" dirty="0"/>
              <a:t>Following this conversion, we want to remove numbers, punctuation, and special characters. In real-world text data, there may be additional characters and tokens to clean. For instance, in some text documents, there may be extra spaces, such as white space. These are also eliminated at this stage. </a:t>
            </a:r>
            <a:endParaRPr lang="en-US" dirty="0"/>
          </a:p>
        </p:txBody>
      </p:sp>
    </p:spTree>
    <p:extLst>
      <p:ext uri="{BB962C8B-B14F-4D97-AF65-F5344CB8AC3E}">
        <p14:creationId xmlns:p14="http://schemas.microsoft.com/office/powerpoint/2010/main" val="3573447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1807-ABC0-1484-78FE-D7CDD900153C}"/>
              </a:ext>
            </a:extLst>
          </p:cNvPr>
          <p:cNvSpPr>
            <a:spLocks noGrp="1"/>
          </p:cNvSpPr>
          <p:nvPr>
            <p:ph type="title"/>
          </p:nvPr>
        </p:nvSpPr>
        <p:spPr/>
        <p:txBody>
          <a:bodyPr/>
          <a:lstStyle/>
          <a:p>
            <a:r>
              <a:rPr lang="en-IN" dirty="0"/>
              <a:t>Stop Word Removal</a:t>
            </a:r>
            <a:endParaRPr lang="en-US" dirty="0"/>
          </a:p>
        </p:txBody>
      </p:sp>
      <p:sp>
        <p:nvSpPr>
          <p:cNvPr id="3" name="Content Placeholder 2">
            <a:extLst>
              <a:ext uri="{FF2B5EF4-FFF2-40B4-BE49-F238E27FC236}">
                <a16:creationId xmlns:a16="http://schemas.microsoft.com/office/drawing/2014/main" id="{96FCA020-60AA-FD99-1FD7-0709A834F772}"/>
              </a:ext>
            </a:extLst>
          </p:cNvPr>
          <p:cNvSpPr>
            <a:spLocks noGrp="1"/>
          </p:cNvSpPr>
          <p:nvPr>
            <p:ph idx="1"/>
          </p:nvPr>
        </p:nvSpPr>
        <p:spPr/>
        <p:txBody>
          <a:bodyPr>
            <a:normAutofit fontScale="92500" lnSpcReduction="20000"/>
          </a:bodyPr>
          <a:lstStyle/>
          <a:p>
            <a:r>
              <a:rPr lang="en-IN" dirty="0"/>
              <a:t>Next, we want to drop frequently used filler words, or stop words, which add no value to the analysis. According to the Oxford English Dictionary, and, the, be, to, and of are the most common words in the English language.</a:t>
            </a:r>
          </a:p>
          <a:p>
            <a:r>
              <a:rPr lang="en-IN" dirty="0"/>
              <a:t> In the case of text analysis, we remove common terms because, although common terms such as these serve a grammatical purpose, they provide little information in terms of content (Salton 1989; Wilbur and Sirotkin 1992).</a:t>
            </a:r>
          </a:p>
          <a:p>
            <a:r>
              <a:rPr lang="en-IN" dirty="0"/>
              <a:t> A collection of stop words is known as a stop list. Alternatively, this collection of words can be known as a dictionary. These lists include many different languages and methods.2 The SMART information retrieval system, introduced by Salton (1971), has a popular stop word list containing 571 words.</a:t>
            </a:r>
            <a:endParaRPr lang="en-US" dirty="0"/>
          </a:p>
        </p:txBody>
      </p:sp>
    </p:spTree>
    <p:extLst>
      <p:ext uri="{BB962C8B-B14F-4D97-AF65-F5344CB8AC3E}">
        <p14:creationId xmlns:p14="http://schemas.microsoft.com/office/powerpoint/2010/main" val="1367967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CA68-5FE5-0C30-B696-E61E72A0145C}"/>
              </a:ext>
            </a:extLst>
          </p:cNvPr>
          <p:cNvSpPr>
            <a:spLocks noGrp="1"/>
          </p:cNvSpPr>
          <p:nvPr>
            <p:ph type="title"/>
          </p:nvPr>
        </p:nvSpPr>
        <p:spPr/>
        <p:txBody>
          <a:bodyPr/>
          <a:lstStyle/>
          <a:p>
            <a:r>
              <a:rPr lang="en-IN" dirty="0"/>
              <a:t>Custom Stop Word Dictionaries</a:t>
            </a:r>
            <a:endParaRPr lang="en-US" dirty="0"/>
          </a:p>
        </p:txBody>
      </p:sp>
      <p:sp>
        <p:nvSpPr>
          <p:cNvPr id="3" name="Content Placeholder 2">
            <a:extLst>
              <a:ext uri="{FF2B5EF4-FFF2-40B4-BE49-F238E27FC236}">
                <a16:creationId xmlns:a16="http://schemas.microsoft.com/office/drawing/2014/main" id="{B752A274-4D9E-4F2E-C75E-9BE9D0B10E74}"/>
              </a:ext>
            </a:extLst>
          </p:cNvPr>
          <p:cNvSpPr>
            <a:spLocks noGrp="1"/>
          </p:cNvSpPr>
          <p:nvPr>
            <p:ph idx="1"/>
          </p:nvPr>
        </p:nvSpPr>
        <p:spPr/>
        <p:txBody>
          <a:bodyPr>
            <a:normAutofit fontScale="70000" lnSpcReduction="20000"/>
          </a:bodyPr>
          <a:lstStyle/>
          <a:p>
            <a:pPr algn="just"/>
            <a:r>
              <a:rPr lang="en-IN" dirty="0"/>
              <a:t>Standard stop word dictionaries eliminate many of the most common words in a given language, but sometimes we also want to drop domain- or project-specific words or tokens.</a:t>
            </a:r>
          </a:p>
          <a:p>
            <a:pPr algn="just"/>
            <a:r>
              <a:rPr lang="en-IN" dirty="0"/>
              <a:t> In this case we can build a custom dictionary to complete this task. Often, projects will have topic-specific words that occur frequently but add little value. </a:t>
            </a:r>
          </a:p>
          <a:p>
            <a:pPr algn="just"/>
            <a:r>
              <a:rPr lang="en-IN" dirty="0"/>
              <a:t>To identify these words, we can also look at term frequencies. Words that have high frequencies across all documents in our collection but do not provide informational content are good candidates for removal. After making these choices, we can select a subset of the data with the term in it and read it. </a:t>
            </a:r>
          </a:p>
          <a:p>
            <a:pPr algn="just"/>
            <a:r>
              <a:rPr lang="en-IN" dirty="0"/>
              <a:t>While reading, we want to ensure that the term does not provide information that is relevant to the analysis question. In the creation of a custom stop word dictionary, the process should be repeated, creating subsets for reading several times to check for multiple uses of the term (Inmon 2017). </a:t>
            </a:r>
          </a:p>
          <a:p>
            <a:pPr algn="just"/>
            <a:r>
              <a:rPr lang="en-IN" dirty="0"/>
              <a:t>Custom dictionaries can be used in many text analysis projects and not exclusively to filter stop words. Custom dictionaries are created in information retrieval to find keywords in context (KWIC). Instead of finding tokens for removal, these keywords are used as search terms. </a:t>
            </a:r>
            <a:endParaRPr lang="en-US" dirty="0"/>
          </a:p>
        </p:txBody>
      </p:sp>
    </p:spTree>
    <p:extLst>
      <p:ext uri="{BB962C8B-B14F-4D97-AF65-F5344CB8AC3E}">
        <p14:creationId xmlns:p14="http://schemas.microsoft.com/office/powerpoint/2010/main" val="1827030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51694-6798-5618-9DEB-B6404A220FB7}"/>
              </a:ext>
            </a:extLst>
          </p:cNvPr>
          <p:cNvSpPr>
            <a:spLocks noGrp="1"/>
          </p:cNvSpPr>
          <p:nvPr>
            <p:ph type="title"/>
          </p:nvPr>
        </p:nvSpPr>
        <p:spPr/>
        <p:txBody>
          <a:bodyPr/>
          <a:lstStyle/>
          <a:p>
            <a:r>
              <a:rPr lang="en-IN" dirty="0"/>
              <a:t>Stemming and Lemmatization</a:t>
            </a:r>
            <a:endParaRPr lang="en-US" dirty="0"/>
          </a:p>
        </p:txBody>
      </p:sp>
      <p:sp>
        <p:nvSpPr>
          <p:cNvPr id="3" name="Content Placeholder 2">
            <a:extLst>
              <a:ext uri="{FF2B5EF4-FFF2-40B4-BE49-F238E27FC236}">
                <a16:creationId xmlns:a16="http://schemas.microsoft.com/office/drawing/2014/main" id="{43225F02-EAD8-AF6B-276C-2A1DC23A2978}"/>
              </a:ext>
            </a:extLst>
          </p:cNvPr>
          <p:cNvSpPr>
            <a:spLocks noGrp="1"/>
          </p:cNvSpPr>
          <p:nvPr>
            <p:ph idx="1"/>
          </p:nvPr>
        </p:nvSpPr>
        <p:spPr/>
        <p:txBody>
          <a:bodyPr>
            <a:normAutofit fontScale="55000" lnSpcReduction="20000"/>
          </a:bodyPr>
          <a:lstStyle/>
          <a:p>
            <a:r>
              <a:rPr lang="en-IN" dirty="0"/>
              <a:t>The final stage is to perform either stemming or lemmatization on the documents.</a:t>
            </a:r>
          </a:p>
          <a:p>
            <a:r>
              <a:rPr lang="en-IN" dirty="0"/>
              <a:t> Stemming and lemmatization involve breaking words down to their root word.</a:t>
            </a:r>
          </a:p>
          <a:p>
            <a:r>
              <a:rPr lang="en-IN" dirty="0"/>
              <a:t> Stemming involves the removal of a word’s suffix to reduce the size of the vocabulary (Porter 1980). </a:t>
            </a:r>
          </a:p>
          <a:p>
            <a:r>
              <a:rPr lang="en-IN" dirty="0"/>
              <a:t>Lemmatization is similar to stemming, except it incorporates information about the term’s part of speech (Yatsko 2011).</a:t>
            </a:r>
          </a:p>
          <a:p>
            <a:r>
              <a:rPr lang="en-IN" dirty="0"/>
              <a:t>Both methods combine words that contain the same root into a single token to reduce the number of unique tokens within the analysis set. </a:t>
            </a:r>
          </a:p>
          <a:p>
            <a:r>
              <a:rPr lang="en-IN" dirty="0"/>
              <a:t>Words with a common root often share a similar meaning.</a:t>
            </a:r>
          </a:p>
          <a:p>
            <a:r>
              <a:rPr lang="en-IN" dirty="0"/>
              <a:t> These words are then grouped into one token (Manning et al. 2008). There are exceptions to the roots of words sharing the same meaning, but the added reduction in complexity is often worth the price of incorrectly categorizing a few words. </a:t>
            </a:r>
          </a:p>
          <a:p>
            <a:r>
              <a:rPr lang="en-IN" dirty="0"/>
              <a:t>As an example, let’s use the root train. Train has several forms, including: </a:t>
            </a:r>
          </a:p>
          <a:p>
            <a:pPr marL="457200" lvl="1" indent="0">
              <a:buNone/>
            </a:pPr>
            <a:r>
              <a:rPr lang="en-IN" dirty="0"/>
              <a:t>– Train</a:t>
            </a:r>
          </a:p>
          <a:p>
            <a:pPr marL="457200" lvl="1" indent="0">
              <a:buNone/>
            </a:pPr>
            <a:r>
              <a:rPr lang="en-IN" dirty="0"/>
              <a:t> – Trains</a:t>
            </a:r>
          </a:p>
          <a:p>
            <a:pPr marL="457200" lvl="1" indent="0">
              <a:buNone/>
            </a:pPr>
            <a:r>
              <a:rPr lang="en-IN" dirty="0"/>
              <a:t> – Trained</a:t>
            </a:r>
          </a:p>
          <a:p>
            <a:pPr marL="457200" lvl="1" indent="0">
              <a:buNone/>
            </a:pPr>
            <a:r>
              <a:rPr lang="en-IN" dirty="0"/>
              <a:t> – Training</a:t>
            </a:r>
          </a:p>
          <a:p>
            <a:pPr marL="457200" lvl="1" indent="0">
              <a:buNone/>
            </a:pPr>
            <a:r>
              <a:rPr lang="en-IN" dirty="0"/>
              <a:t> – Trainer</a:t>
            </a:r>
          </a:p>
        </p:txBody>
      </p:sp>
    </p:spTree>
    <p:extLst>
      <p:ext uri="{BB962C8B-B14F-4D97-AF65-F5344CB8AC3E}">
        <p14:creationId xmlns:p14="http://schemas.microsoft.com/office/powerpoint/2010/main" val="2513216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05B7-0C99-E8E2-82DF-B3F283E9E441}"/>
              </a:ext>
            </a:extLst>
          </p:cNvPr>
          <p:cNvSpPr>
            <a:spLocks noGrp="1"/>
          </p:cNvSpPr>
          <p:nvPr>
            <p:ph type="title"/>
          </p:nvPr>
        </p:nvSpPr>
        <p:spPr/>
        <p:txBody>
          <a:bodyPr/>
          <a:lstStyle/>
          <a:p>
            <a:r>
              <a:rPr lang="en-IN" dirty="0"/>
              <a:t>Lemmatization</a:t>
            </a:r>
            <a:endParaRPr lang="en-US" dirty="0"/>
          </a:p>
        </p:txBody>
      </p:sp>
      <p:sp>
        <p:nvSpPr>
          <p:cNvPr id="3" name="Content Placeholder 2">
            <a:extLst>
              <a:ext uri="{FF2B5EF4-FFF2-40B4-BE49-F238E27FC236}">
                <a16:creationId xmlns:a16="http://schemas.microsoft.com/office/drawing/2014/main" id="{E33AB215-1397-14EE-982D-A38F9A499FF3}"/>
              </a:ext>
            </a:extLst>
          </p:cNvPr>
          <p:cNvSpPr>
            <a:spLocks noGrp="1"/>
          </p:cNvSpPr>
          <p:nvPr>
            <p:ph idx="1"/>
          </p:nvPr>
        </p:nvSpPr>
        <p:spPr/>
        <p:txBody>
          <a:bodyPr>
            <a:normAutofit/>
          </a:bodyPr>
          <a:lstStyle/>
          <a:p>
            <a:r>
              <a:rPr lang="en-IN" dirty="0"/>
              <a:t>One difficulty encountered with stemming (and text analytics in general) is that a single word could have multiple meanings depending on the word’s context or part of speech. </a:t>
            </a:r>
          </a:p>
          <a:p>
            <a:r>
              <a:rPr lang="en-IN" dirty="0"/>
              <a:t>Lemmatization deals with this problem by including the part of speech in the rules grouping word roots. This inclusion allows for separate rules for words with multiple meanings depending on the part of speech (Manning et al. 2008).</a:t>
            </a:r>
          </a:p>
          <a:p>
            <a:r>
              <a:rPr lang="en-IN" dirty="0"/>
              <a:t> This method helps improve the algorithm by correctly grouping tokens at the cost of added complexity. </a:t>
            </a:r>
            <a:endParaRPr lang="en-US" dirty="0"/>
          </a:p>
        </p:txBody>
      </p:sp>
    </p:spTree>
    <p:extLst>
      <p:ext uri="{BB962C8B-B14F-4D97-AF65-F5344CB8AC3E}">
        <p14:creationId xmlns:p14="http://schemas.microsoft.com/office/powerpoint/2010/main" val="1617680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E52EC-F31B-9BB7-F93A-99D4EB6ACF96}"/>
              </a:ext>
            </a:extLst>
          </p:cNvPr>
          <p:cNvSpPr>
            <a:spLocks noGrp="1"/>
          </p:cNvSpPr>
          <p:nvPr>
            <p:ph type="title"/>
          </p:nvPr>
        </p:nvSpPr>
        <p:spPr/>
        <p:txBody>
          <a:bodyPr/>
          <a:lstStyle/>
          <a:p>
            <a:r>
              <a:rPr lang="en-IN" dirty="0"/>
              <a:t>Term Frequency as Term Weight</a:t>
            </a:r>
            <a:endParaRPr lang="en-US" dirty="0"/>
          </a:p>
        </p:txBody>
      </p:sp>
      <p:sp>
        <p:nvSpPr>
          <p:cNvPr id="4" name="Rectangle 1">
            <a:extLst>
              <a:ext uri="{FF2B5EF4-FFF2-40B4-BE49-F238E27FC236}">
                <a16:creationId xmlns:a16="http://schemas.microsoft.com/office/drawing/2014/main" id="{E9FACAD0-2D81-3B32-AC2A-333E39E28136}"/>
              </a:ext>
            </a:extLst>
          </p:cNvPr>
          <p:cNvSpPr>
            <a:spLocks noGrp="1" noChangeArrowheads="1"/>
          </p:cNvSpPr>
          <p:nvPr>
            <p:ph idx="1"/>
          </p:nvPr>
        </p:nvSpPr>
        <p:spPr bwMode="auto">
          <a:xfrm>
            <a:off x="838200" y="1185139"/>
            <a:ext cx="615104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Term Frequency (TF):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TF(t, d) = number of times term </a:t>
            </a:r>
            <a:r>
              <a:rPr kumimoji="0" lang="en-US" altLang="en-US" sz="1800" b="0" i="1" u="none" strike="noStrike" cap="none" normalizeH="0" baseline="0" dirty="0">
                <a:ln>
                  <a:noFill/>
                </a:ln>
                <a:solidFill>
                  <a:schemeClr val="tx1"/>
                </a:solidFill>
                <a:effectLst/>
                <a:latin typeface="Arial" panose="020B0604020202020204" pitchFamily="34" charset="0"/>
              </a:rPr>
              <a:t>t</a:t>
            </a:r>
            <a:r>
              <a:rPr kumimoji="0" lang="en-US" altLang="en-US" sz="1800" b="0" i="0" u="none" strike="noStrike" cap="none" normalizeH="0" baseline="0" dirty="0">
                <a:ln>
                  <a:noFill/>
                </a:ln>
                <a:solidFill>
                  <a:schemeClr val="tx1"/>
                </a:solidFill>
                <a:effectLst/>
                <a:latin typeface="Arial" panose="020B0604020202020204" pitchFamily="34" charset="0"/>
              </a:rPr>
              <a:t> occurs in document </a:t>
            </a:r>
            <a:r>
              <a:rPr kumimoji="0" lang="en-US" altLang="en-US" sz="1800" b="0" i="1" u="none" strike="noStrike" cap="none" normalizeH="0" baseline="0" dirty="0">
                <a:ln>
                  <a:noFill/>
                </a:ln>
                <a:solidFill>
                  <a:schemeClr val="tx1"/>
                </a:solidFill>
                <a:effectLst/>
                <a:latin typeface="Arial" panose="020B0604020202020204" pitchFamily="34" charset="0"/>
              </a:rPr>
              <a:t>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Used as first measure of </a:t>
            </a:r>
            <a:r>
              <a:rPr kumimoji="0" lang="en-US" altLang="en-US" sz="1800" b="1" i="0" u="none" strike="noStrike" cap="none" normalizeH="0" baseline="0" dirty="0">
                <a:ln>
                  <a:noFill/>
                </a:ln>
                <a:solidFill>
                  <a:schemeClr val="tx1"/>
                </a:solidFill>
                <a:effectLst/>
                <a:latin typeface="Arial" panose="020B0604020202020204" pitchFamily="34" charset="0"/>
              </a:rPr>
              <a:t>term importance</a:t>
            </a:r>
            <a:r>
              <a:rPr kumimoji="0" lang="en-US" altLang="en-US" sz="1800" b="0" i="0" u="none" strike="noStrike" cap="none" normalizeH="0" baseline="0" dirty="0">
                <a:ln>
                  <a:noFill/>
                </a:ln>
                <a:solidFill>
                  <a:schemeClr val="tx1"/>
                </a:solidFill>
                <a:effectLst/>
                <a:latin typeface="Arial" panose="020B0604020202020204" pitchFamily="34" charset="0"/>
              </a:rPr>
              <a:t> in a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But </a:t>
            </a:r>
            <a:r>
              <a:rPr kumimoji="0" lang="en-US" altLang="en-US" sz="1800" b="1" i="0" u="none" strike="noStrike" cap="none" normalizeH="0" baseline="0" dirty="0">
                <a:ln>
                  <a:noFill/>
                </a:ln>
                <a:solidFill>
                  <a:schemeClr val="tx1"/>
                </a:solidFill>
                <a:effectLst/>
                <a:latin typeface="Arial" panose="020B0604020202020204" pitchFamily="34" charset="0"/>
              </a:rPr>
              <a:t>raw TF has problems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TF(q, d₁) = 10 and TF(q, d₂) = 100</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d₂ is </a:t>
            </a:r>
            <a:r>
              <a:rPr kumimoji="0" lang="en-US" altLang="en-US" sz="1800" b="1" i="0" u="none" strike="noStrike" cap="none" normalizeH="0" baseline="0" dirty="0">
                <a:ln>
                  <a:noFill/>
                </a:ln>
                <a:solidFill>
                  <a:schemeClr val="tx1"/>
                </a:solidFill>
                <a:effectLst/>
                <a:latin typeface="Arial" panose="020B0604020202020204" pitchFamily="34" charset="0"/>
              </a:rPr>
              <a:t>not really 10× more relevant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Could just be </a:t>
            </a:r>
            <a:r>
              <a:rPr kumimoji="0" lang="en-US" altLang="en-US" sz="1800" b="1" i="0" u="none" strike="noStrike" cap="none" normalizeH="0" baseline="0" dirty="0">
                <a:ln>
                  <a:noFill/>
                </a:ln>
                <a:solidFill>
                  <a:schemeClr val="tx1"/>
                </a:solidFill>
                <a:effectLst/>
                <a:latin typeface="Arial" panose="020B0604020202020204" pitchFamily="34" charset="0"/>
              </a:rPr>
              <a:t>repetition</a:t>
            </a:r>
            <a:r>
              <a:rPr kumimoji="0" lang="en-US" altLang="en-US" sz="1800" b="0" i="0" u="none" strike="noStrike" cap="none" normalizeH="0" baseline="0" dirty="0">
                <a:ln>
                  <a:noFill/>
                </a:ln>
                <a:solidFill>
                  <a:schemeClr val="tx1"/>
                </a:solidFill>
                <a:effectLst/>
                <a:latin typeface="Arial" panose="020B0604020202020204" pitchFamily="34" charset="0"/>
              </a:rPr>
              <a:t> of the same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Relevance does </a:t>
            </a:r>
            <a:r>
              <a:rPr kumimoji="0" lang="en-US" altLang="en-US" sz="1800" b="1" i="0" u="none" strike="noStrike" cap="none" normalizeH="0" baseline="0" dirty="0">
                <a:ln>
                  <a:noFill/>
                </a:ln>
                <a:solidFill>
                  <a:schemeClr val="tx1"/>
                </a:solidFill>
                <a:effectLst/>
                <a:latin typeface="Arial" panose="020B0604020202020204" pitchFamily="34" charset="0"/>
              </a:rPr>
              <a:t>not</a:t>
            </a:r>
            <a:r>
              <a:rPr kumimoji="0" lang="en-US" altLang="en-US" sz="1800" b="0" i="0" u="none" strike="noStrike" cap="none" normalizeH="0" baseline="0" dirty="0">
                <a:ln>
                  <a:noFill/>
                </a:ln>
                <a:solidFill>
                  <a:schemeClr val="tx1"/>
                </a:solidFill>
                <a:effectLst/>
                <a:latin typeface="Arial" panose="020B0604020202020204" pitchFamily="34" charset="0"/>
              </a:rPr>
              <a:t> grow linearly with TF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Solution: </a:t>
            </a:r>
            <a:r>
              <a:rPr kumimoji="0" lang="en-US" altLang="en-US" sz="1800" b="1" i="0" u="none" strike="noStrike" cap="none" normalizeH="0" baseline="0" dirty="0">
                <a:ln>
                  <a:noFill/>
                </a:ln>
                <a:solidFill>
                  <a:schemeClr val="tx1"/>
                </a:solidFill>
                <a:effectLst/>
                <a:latin typeface="Arial" panose="020B0604020202020204" pitchFamily="34" charset="0"/>
              </a:rPr>
              <a:t>log-frequency weighting</a:t>
            </a:r>
            <a:r>
              <a:rPr kumimoji="0" lang="en-US" altLang="en-US" sz="1800" b="0" i="0" u="none" strike="noStrike" cap="none" normalizeH="0" baseline="0" dirty="0">
                <a:ln>
                  <a:noFill/>
                </a:ln>
                <a:solidFill>
                  <a:schemeClr val="tx1"/>
                </a:solidFill>
                <a:effectLst/>
                <a:latin typeface="Arial" panose="020B0604020202020204" pitchFamily="34" charset="0"/>
              </a:rPr>
              <a:t> (damping TF)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TF(t, d) &gt;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weight(t, d) = 1 + log₁₀(TF(t, 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TF(t, d) =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weight(t, d) =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 → weight ≈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2 → ≈ 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10 → 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1000 → 4</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Big TF values no longer explode the score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0647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674A8-6556-375B-D1FE-9176E7C03C29}"/>
              </a:ext>
            </a:extLst>
          </p:cNvPr>
          <p:cNvSpPr>
            <a:spLocks noGrp="1"/>
          </p:cNvSpPr>
          <p:nvPr>
            <p:ph type="title"/>
          </p:nvPr>
        </p:nvSpPr>
        <p:spPr/>
        <p:txBody>
          <a:bodyPr>
            <a:normAutofit/>
          </a:bodyPr>
          <a:lstStyle/>
          <a:p>
            <a:r>
              <a:rPr lang="en-IN" dirty="0"/>
              <a:t>Rare Terms, Document Frequency &amp; IDF (Preview)</a:t>
            </a:r>
            <a:endParaRPr lang="en-US" dirty="0"/>
          </a:p>
        </p:txBody>
      </p:sp>
      <p:sp>
        <p:nvSpPr>
          <p:cNvPr id="4" name="Rectangle 1">
            <a:extLst>
              <a:ext uri="{FF2B5EF4-FFF2-40B4-BE49-F238E27FC236}">
                <a16:creationId xmlns:a16="http://schemas.microsoft.com/office/drawing/2014/main" id="{14C68CAE-F671-67D0-86F7-25F899EB9AA0}"/>
              </a:ext>
            </a:extLst>
          </p:cNvPr>
          <p:cNvSpPr>
            <a:spLocks noGrp="1" noChangeArrowheads="1"/>
          </p:cNvSpPr>
          <p:nvPr>
            <p:ph idx="1"/>
          </p:nvPr>
        </p:nvSpPr>
        <p:spPr bwMode="auto">
          <a:xfrm>
            <a:off x="838200" y="2293133"/>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Not all terms are equally useful for retrieval:</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Common words (e.g., </a:t>
            </a:r>
            <a:r>
              <a:rPr kumimoji="0" lang="en-US" altLang="en-US" sz="1400" b="0" i="1" u="none" strike="noStrike" cap="none" normalizeH="0" baseline="0" dirty="0">
                <a:ln>
                  <a:noFill/>
                </a:ln>
                <a:solidFill>
                  <a:schemeClr val="tx1"/>
                </a:solidFill>
                <a:effectLst/>
                <a:latin typeface="Arial" panose="020B0604020202020204" pitchFamily="34" charset="0"/>
              </a:rPr>
              <a:t>“the”, “is”, “person”</a:t>
            </a:r>
            <a:r>
              <a:rPr kumimoji="0" lang="en-US" altLang="en-US" sz="1400" b="0" i="0" u="none" strike="noStrike" cap="none" normalizeH="0" baseline="0" dirty="0">
                <a:ln>
                  <a:noFill/>
                </a:ln>
                <a:solidFill>
                  <a:schemeClr val="tx1"/>
                </a:solidFill>
                <a:effectLst/>
                <a:latin typeface="Arial" panose="020B0604020202020204" pitchFamily="34" charset="0"/>
              </a:rPr>
              <a:t>) appear in many documents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Rare words (e.g., </a:t>
            </a:r>
            <a:r>
              <a:rPr kumimoji="0" lang="en-US" altLang="en-US" sz="1400" b="0" i="1" u="none" strike="noStrike" cap="none" normalizeH="0" baseline="0" dirty="0">
                <a:ln>
                  <a:noFill/>
                </a:ln>
                <a:solidFill>
                  <a:schemeClr val="tx1"/>
                </a:solidFill>
                <a:effectLst/>
                <a:latin typeface="Arial" panose="020B0604020202020204" pitchFamily="34" charset="0"/>
              </a:rPr>
              <a:t>“capricious”</a:t>
            </a:r>
            <a:r>
              <a:rPr kumimoji="0" lang="en-US" altLang="en-US" sz="1400" b="0" i="0" u="none" strike="noStrike" cap="none" normalizeH="0" baseline="0" dirty="0">
                <a:ln>
                  <a:noFill/>
                </a:ln>
                <a:solidFill>
                  <a:schemeClr val="tx1"/>
                </a:solidFill>
                <a:effectLst/>
                <a:latin typeface="Arial" panose="020B0604020202020204" pitchFamily="34" charset="0"/>
              </a:rPr>
              <a:t>) are more </a:t>
            </a:r>
            <a:r>
              <a:rPr kumimoji="0" lang="en-US" altLang="en-US" sz="1400" b="1" i="0" u="none" strike="noStrike" cap="none" normalizeH="0" baseline="0" dirty="0">
                <a:ln>
                  <a:noFill/>
                </a:ln>
                <a:solidFill>
                  <a:schemeClr val="tx1"/>
                </a:solidFill>
                <a:effectLst/>
                <a:latin typeface="Arial" panose="020B0604020202020204" pitchFamily="34" charset="0"/>
              </a:rPr>
              <a:t>discriminative</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Document Frequency (DF):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DF(t) = number of documents in which term </a:t>
            </a:r>
            <a:r>
              <a:rPr kumimoji="0" lang="en-US" altLang="en-US" sz="1400" b="0" i="1" u="none" strike="noStrike" cap="none" normalizeH="0" baseline="0" dirty="0">
                <a:ln>
                  <a:noFill/>
                </a:ln>
                <a:solidFill>
                  <a:schemeClr val="tx1"/>
                </a:solidFill>
                <a:effectLst/>
                <a:latin typeface="Arial" panose="020B0604020202020204" pitchFamily="34" charset="0"/>
              </a:rPr>
              <a:t>t</a:t>
            </a:r>
            <a:r>
              <a:rPr kumimoji="0" lang="en-US" altLang="en-US" sz="1400" b="0" i="0" u="none" strike="noStrike" cap="none" normalizeH="0" baseline="0" dirty="0">
                <a:ln>
                  <a:noFill/>
                </a:ln>
                <a:solidFill>
                  <a:schemeClr val="tx1"/>
                </a:solidFill>
                <a:effectLst/>
                <a:latin typeface="Arial" panose="020B0604020202020204" pitchFamily="34" charset="0"/>
              </a:rPr>
              <a:t> appears at least once</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High DF → very common term</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Low DF → rare term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 want rare terms to get higher weight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Idea: </a:t>
            </a:r>
            <a:r>
              <a:rPr kumimoji="0" lang="en-US" altLang="en-US" sz="1800" b="1" i="0" u="none" strike="noStrike" cap="none" normalizeH="0" baseline="0" dirty="0">
                <a:ln>
                  <a:noFill/>
                </a:ln>
                <a:solidFill>
                  <a:schemeClr val="tx1"/>
                </a:solidFill>
                <a:effectLst/>
                <a:latin typeface="Arial" panose="020B0604020202020204" pitchFamily="34" charset="0"/>
              </a:rPr>
              <a:t>Inverse Document Frequency (IDF)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IDF(t) ≈ log(N / DF(t)), where N = total number of documents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Common terms (high DF) → low IDF</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Rare terms (low DF) → high IDF</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Together with TF (and log TF), IDF leads to </a:t>
            </a:r>
            <a:r>
              <a:rPr kumimoji="0" lang="en-US" altLang="en-US" sz="1400" b="1" i="0" u="none" strike="noStrike" cap="none" normalizeH="0" baseline="0" dirty="0">
                <a:ln>
                  <a:noFill/>
                </a:ln>
                <a:solidFill>
                  <a:schemeClr val="tx1"/>
                </a:solidFill>
                <a:effectLst/>
                <a:latin typeface="Arial" panose="020B0604020202020204" pitchFamily="34" charset="0"/>
              </a:rPr>
              <a:t>TF–IDF weighting</a:t>
            </a:r>
            <a:r>
              <a:rPr kumimoji="0" lang="en-US" altLang="en-US" sz="1400" b="0" i="0" u="none" strike="noStrike" cap="none" normalizeH="0" baseline="0" dirty="0">
                <a:ln>
                  <a:noFill/>
                </a:ln>
                <a:solidFill>
                  <a:schemeClr val="tx1"/>
                </a:solidFill>
                <a:effectLst/>
                <a:latin typeface="Arial" panose="020B0604020202020204" pitchFamily="34" charset="0"/>
              </a:rPr>
              <a: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which is the foundation of many </a:t>
            </a:r>
            <a:r>
              <a:rPr kumimoji="0" lang="en-US" altLang="en-US" sz="1400" b="1" i="0" u="none" strike="noStrike" cap="none" normalizeH="0" baseline="0" dirty="0">
                <a:ln>
                  <a:noFill/>
                </a:ln>
                <a:solidFill>
                  <a:schemeClr val="tx1"/>
                </a:solidFill>
                <a:effectLst/>
                <a:latin typeface="Arial" panose="020B0604020202020204" pitchFamily="34" charset="0"/>
              </a:rPr>
              <a:t>ranked retrieval models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467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A3056-5465-992D-0523-CC20CF775660}"/>
              </a:ext>
            </a:extLst>
          </p:cNvPr>
          <p:cNvSpPr>
            <a:spLocks noGrp="1"/>
          </p:cNvSpPr>
          <p:nvPr>
            <p:ph type="title"/>
          </p:nvPr>
        </p:nvSpPr>
        <p:spPr/>
        <p:txBody>
          <a:bodyPr/>
          <a:lstStyle/>
          <a:p>
            <a:r>
              <a:rPr lang="en-IN" dirty="0"/>
              <a:t>Recap: Why Term Weighting?</a:t>
            </a:r>
            <a:endParaRPr lang="en-US" dirty="0"/>
          </a:p>
        </p:txBody>
      </p:sp>
      <p:sp>
        <p:nvSpPr>
          <p:cNvPr id="3" name="Content Placeholder 2">
            <a:extLst>
              <a:ext uri="{FF2B5EF4-FFF2-40B4-BE49-F238E27FC236}">
                <a16:creationId xmlns:a16="http://schemas.microsoft.com/office/drawing/2014/main" id="{2F200B69-93B8-D8EC-5DBA-3AA17A36BCB1}"/>
              </a:ext>
            </a:extLst>
          </p:cNvPr>
          <p:cNvSpPr>
            <a:spLocks noGrp="1"/>
          </p:cNvSpPr>
          <p:nvPr>
            <p:ph idx="1"/>
          </p:nvPr>
        </p:nvSpPr>
        <p:spPr/>
        <p:txBody>
          <a:bodyPr/>
          <a:lstStyle/>
          <a:p>
            <a:r>
              <a:rPr lang="en-IN" dirty="0"/>
              <a:t>Retrieval ranks documents based on </a:t>
            </a:r>
            <a:r>
              <a:rPr lang="en-IN" b="1" dirty="0"/>
              <a:t>relevance to a query</a:t>
            </a:r>
            <a:endParaRPr lang="en-IN" dirty="0"/>
          </a:p>
          <a:p>
            <a:r>
              <a:rPr lang="en-IN" dirty="0"/>
              <a:t>Early idea: Binary model</a:t>
            </a:r>
          </a:p>
          <a:p>
            <a:pPr lvl="1"/>
            <a:r>
              <a:rPr lang="en-IN" dirty="0"/>
              <a:t>1 → term present</a:t>
            </a:r>
          </a:p>
          <a:p>
            <a:pPr lvl="1"/>
            <a:r>
              <a:rPr lang="en-IN" dirty="0"/>
              <a:t>0 → term absent</a:t>
            </a:r>
          </a:p>
          <a:p>
            <a:r>
              <a:rPr lang="en-IN" dirty="0"/>
              <a:t>Improved idea: Use </a:t>
            </a:r>
            <a:r>
              <a:rPr lang="en-IN" b="1" dirty="0"/>
              <a:t>term frequency</a:t>
            </a:r>
            <a:r>
              <a:rPr lang="en-IN" dirty="0"/>
              <a:t> (TF) instead of binary match</a:t>
            </a:r>
          </a:p>
          <a:p>
            <a:r>
              <a:rPr lang="en-IN" dirty="0"/>
              <a:t>Term weights act as a </a:t>
            </a:r>
            <a:r>
              <a:rPr lang="en-IN" b="1" dirty="0"/>
              <a:t>signal for relevance</a:t>
            </a:r>
            <a:endParaRPr lang="en-IN" dirty="0"/>
          </a:p>
          <a:p>
            <a:r>
              <a:rPr lang="en-IN" dirty="0"/>
              <a:t>Goal: Assign appropriate weight so rarer &amp; meaningful terms influence ranking more</a:t>
            </a:r>
          </a:p>
          <a:p>
            <a:endParaRPr lang="en-US" dirty="0"/>
          </a:p>
        </p:txBody>
      </p:sp>
    </p:spTree>
    <p:extLst>
      <p:ext uri="{BB962C8B-B14F-4D97-AF65-F5344CB8AC3E}">
        <p14:creationId xmlns:p14="http://schemas.microsoft.com/office/powerpoint/2010/main" val="3960246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311C0-96CC-8F4C-F891-622F9FF91B72}"/>
              </a:ext>
            </a:extLst>
          </p:cNvPr>
          <p:cNvSpPr>
            <a:spLocks noGrp="1"/>
          </p:cNvSpPr>
          <p:nvPr>
            <p:ph type="title"/>
          </p:nvPr>
        </p:nvSpPr>
        <p:spPr/>
        <p:txBody>
          <a:bodyPr>
            <a:normAutofit/>
          </a:bodyPr>
          <a:lstStyle/>
          <a:p>
            <a:r>
              <a:rPr lang="en-US" dirty="0"/>
              <a:t>From Binary Presence → Term Incidence Vector</a:t>
            </a:r>
          </a:p>
        </p:txBody>
      </p:sp>
      <p:sp>
        <p:nvSpPr>
          <p:cNvPr id="3" name="Content Placeholder 2">
            <a:extLst>
              <a:ext uri="{FF2B5EF4-FFF2-40B4-BE49-F238E27FC236}">
                <a16:creationId xmlns:a16="http://schemas.microsoft.com/office/drawing/2014/main" id="{1819A262-97D0-A3C7-4A8B-880AF9B38234}"/>
              </a:ext>
            </a:extLst>
          </p:cNvPr>
          <p:cNvSpPr>
            <a:spLocks noGrp="1"/>
          </p:cNvSpPr>
          <p:nvPr>
            <p:ph idx="1"/>
          </p:nvPr>
        </p:nvSpPr>
        <p:spPr/>
        <p:txBody>
          <a:bodyPr/>
          <a:lstStyle/>
          <a:p>
            <a:r>
              <a:rPr lang="en-IN" dirty="0"/>
              <a:t>For each term (e.g., “</a:t>
            </a:r>
            <a:r>
              <a:rPr lang="en-IN" dirty="0" err="1"/>
              <a:t>india</a:t>
            </a:r>
            <a:r>
              <a:rPr lang="en-IN" dirty="0"/>
              <a:t>”) build a vector over all documents</a:t>
            </a:r>
          </a:p>
          <a:p>
            <a:r>
              <a:rPr lang="en-IN" dirty="0"/>
              <a:t>Document index </a:t>
            </a:r>
            <a:r>
              <a:rPr lang="en-IN" dirty="0" err="1"/>
              <a:t>i</a:t>
            </a:r>
            <a:r>
              <a:rPr lang="en-IN" dirty="0"/>
              <a:t> contains:</a:t>
            </a:r>
          </a:p>
          <a:p>
            <a:pPr lvl="1"/>
            <a:r>
              <a:rPr lang="en-IN" dirty="0"/>
              <a:t>1 → term appears in doc </a:t>
            </a:r>
            <a:r>
              <a:rPr lang="en-IN" dirty="0" err="1"/>
              <a:t>i</a:t>
            </a:r>
            <a:endParaRPr lang="en-IN" dirty="0"/>
          </a:p>
          <a:p>
            <a:pPr lvl="1"/>
            <a:r>
              <a:rPr lang="en-IN" dirty="0"/>
              <a:t>0 → term absent in doc </a:t>
            </a:r>
            <a:r>
              <a:rPr lang="en-IN" dirty="0" err="1"/>
              <a:t>i</a:t>
            </a:r>
            <a:endParaRPr lang="en-IN" dirty="0"/>
          </a:p>
          <a:p>
            <a:r>
              <a:rPr lang="en-IN" dirty="0"/>
              <a:t>Vector length = number of documents (</a:t>
            </a:r>
            <a:r>
              <a:rPr lang="en-IN" b="1" dirty="0"/>
              <a:t>M</a:t>
            </a:r>
            <a:r>
              <a:rPr lang="en-IN" dirty="0"/>
              <a:t>)</a:t>
            </a:r>
          </a:p>
          <a:p>
            <a:r>
              <a:rPr lang="en-IN" dirty="0"/>
              <a:t>Forms basis for </a:t>
            </a:r>
            <a:r>
              <a:rPr lang="en-IN" b="1" dirty="0"/>
              <a:t>Boolean Retrieval Model</a:t>
            </a:r>
            <a:endParaRPr lang="en-IN" dirty="0"/>
          </a:p>
          <a:p>
            <a:r>
              <a:rPr lang="en-IN" dirty="0"/>
              <a:t>But Boolean retrieval doesn’t differentiate </a:t>
            </a:r>
            <a:r>
              <a:rPr lang="en-IN" b="1" dirty="0"/>
              <a:t>more relevant vs less relevant</a:t>
            </a:r>
            <a:endParaRPr lang="en-IN" dirty="0"/>
          </a:p>
          <a:p>
            <a:endParaRPr lang="en-US" dirty="0"/>
          </a:p>
        </p:txBody>
      </p:sp>
    </p:spTree>
    <p:extLst>
      <p:ext uri="{BB962C8B-B14F-4D97-AF65-F5344CB8AC3E}">
        <p14:creationId xmlns:p14="http://schemas.microsoft.com/office/powerpoint/2010/main" val="3224305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C3EB-DE79-822C-DF4A-F6E9801215AA}"/>
              </a:ext>
            </a:extLst>
          </p:cNvPr>
          <p:cNvSpPr>
            <a:spLocks noGrp="1"/>
          </p:cNvSpPr>
          <p:nvPr>
            <p:ph type="title"/>
          </p:nvPr>
        </p:nvSpPr>
        <p:spPr/>
        <p:txBody>
          <a:bodyPr/>
          <a:lstStyle/>
          <a:p>
            <a:r>
              <a:rPr lang="en-IN" dirty="0"/>
              <a:t>Term Frequency (TF) + Log Damping</a:t>
            </a:r>
            <a:endParaRPr lang="en-US" dirty="0"/>
          </a:p>
        </p:txBody>
      </p:sp>
      <p:sp>
        <p:nvSpPr>
          <p:cNvPr id="3" name="Content Placeholder 2">
            <a:extLst>
              <a:ext uri="{FF2B5EF4-FFF2-40B4-BE49-F238E27FC236}">
                <a16:creationId xmlns:a16="http://schemas.microsoft.com/office/drawing/2014/main" id="{AA3AD444-63E7-CDAD-E0E1-E4F1F78DB132}"/>
              </a:ext>
            </a:extLst>
          </p:cNvPr>
          <p:cNvSpPr>
            <a:spLocks noGrp="1"/>
          </p:cNvSpPr>
          <p:nvPr>
            <p:ph idx="1"/>
          </p:nvPr>
        </p:nvSpPr>
        <p:spPr/>
        <p:txBody>
          <a:bodyPr>
            <a:normAutofit fontScale="77500" lnSpcReduction="20000"/>
          </a:bodyPr>
          <a:lstStyle/>
          <a:p>
            <a:r>
              <a:rPr lang="en-IN" dirty="0"/>
              <a:t>Store </a:t>
            </a:r>
            <a:r>
              <a:rPr lang="en-IN" b="1" dirty="0"/>
              <a:t>counts</a:t>
            </a:r>
            <a:r>
              <a:rPr lang="en-IN" dirty="0"/>
              <a:t> instead of just presence = TF(</a:t>
            </a:r>
            <a:r>
              <a:rPr lang="en-IN" dirty="0" err="1"/>
              <a:t>t,d</a:t>
            </a:r>
            <a:r>
              <a:rPr lang="en-IN" dirty="0"/>
              <a:t>)</a:t>
            </a:r>
          </a:p>
          <a:p>
            <a:r>
              <a:rPr lang="en-IN" dirty="0"/>
              <a:t>Problem: raw TF increases </a:t>
            </a:r>
            <a:r>
              <a:rPr lang="en-IN" b="1" dirty="0"/>
              <a:t>linearly</a:t>
            </a:r>
            <a:r>
              <a:rPr lang="en-IN" dirty="0"/>
              <a:t>, but relevance does not</a:t>
            </a:r>
          </a:p>
          <a:p>
            <a:r>
              <a:rPr lang="en-IN" dirty="0"/>
              <a:t>Solution: </a:t>
            </a:r>
            <a:r>
              <a:rPr lang="en-IN" b="1" dirty="0"/>
              <a:t>Sublinear scaling using log</a:t>
            </a:r>
            <a:endParaRPr lang="en-IN" dirty="0"/>
          </a:p>
          <a:p>
            <a:r>
              <a:rPr lang="en-IN" dirty="0"/>
              <a:t>If TF &gt; 0:</a:t>
            </a:r>
            <a:br>
              <a:rPr lang="en-IN" dirty="0"/>
            </a:br>
            <a:r>
              <a:rPr lang="en-IN" dirty="0"/>
              <a:t>→ weight(</a:t>
            </a:r>
            <a:r>
              <a:rPr lang="en-IN" dirty="0" err="1"/>
              <a:t>t,d</a:t>
            </a:r>
            <a:r>
              <a:rPr lang="en-IN" dirty="0"/>
              <a:t>) = 1 + log₁₀(TF(</a:t>
            </a:r>
            <a:r>
              <a:rPr lang="en-IN" dirty="0" err="1"/>
              <a:t>t,d</a:t>
            </a:r>
            <a:r>
              <a:rPr lang="en-IN" dirty="0"/>
              <a:t>))</a:t>
            </a:r>
            <a:br>
              <a:rPr lang="en-IN" dirty="0"/>
            </a:br>
            <a:r>
              <a:rPr lang="en-IN" dirty="0"/>
              <a:t>Else:</a:t>
            </a:r>
            <a:br>
              <a:rPr lang="en-IN" dirty="0"/>
            </a:br>
            <a:r>
              <a:rPr lang="en-IN" dirty="0"/>
              <a:t>→ 0</a:t>
            </a:r>
          </a:p>
          <a:p>
            <a:r>
              <a:rPr lang="en-IN" b="1" dirty="0"/>
              <a:t>Effect Example:</a:t>
            </a:r>
            <a:endParaRPr lang="en-IN" dirty="0"/>
          </a:p>
          <a:p>
            <a:r>
              <a:rPr lang="en-IN" dirty="0"/>
              <a:t>TF=1 → weight=1</a:t>
            </a:r>
          </a:p>
          <a:p>
            <a:r>
              <a:rPr lang="en-IN" dirty="0"/>
              <a:t>TF=2 → 1.3</a:t>
            </a:r>
          </a:p>
          <a:p>
            <a:r>
              <a:rPr lang="en-IN" dirty="0"/>
              <a:t>TF=10 → 2</a:t>
            </a:r>
          </a:p>
          <a:p>
            <a:r>
              <a:rPr lang="en-IN" dirty="0"/>
              <a:t>TF=1000 → 4</a:t>
            </a:r>
            <a:br>
              <a:rPr lang="en-IN" dirty="0"/>
            </a:br>
            <a:r>
              <a:rPr lang="en-IN" dirty="0"/>
              <a:t>→ Big TF doesn’t explode score</a:t>
            </a:r>
          </a:p>
          <a:p>
            <a:endParaRPr lang="en-US" dirty="0"/>
          </a:p>
        </p:txBody>
      </p:sp>
    </p:spTree>
    <p:extLst>
      <p:ext uri="{BB962C8B-B14F-4D97-AF65-F5344CB8AC3E}">
        <p14:creationId xmlns:p14="http://schemas.microsoft.com/office/powerpoint/2010/main" val="1084903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A3138-CB76-8811-415C-FB719D18150F}"/>
              </a:ext>
            </a:extLst>
          </p:cNvPr>
          <p:cNvSpPr>
            <a:spLocks noGrp="1"/>
          </p:cNvSpPr>
          <p:nvPr>
            <p:ph type="title"/>
          </p:nvPr>
        </p:nvSpPr>
        <p:spPr/>
        <p:txBody>
          <a:bodyPr/>
          <a:lstStyle/>
          <a:p>
            <a:r>
              <a:rPr lang="en-US" dirty="0"/>
              <a:t>TF-IDF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CD3C76-78C4-BE1E-C887-19C30EEDDE7C}"/>
                  </a:ext>
                </a:extLst>
              </p:cNvPr>
              <p:cNvSpPr>
                <a:spLocks noGrp="1"/>
              </p:cNvSpPr>
              <p:nvPr>
                <p:ph idx="1"/>
              </p:nvPr>
            </p:nvSpPr>
            <p:spPr/>
            <p:txBody>
              <a:bodyPr>
                <a:normAutofit fontScale="85000" lnSpcReduction="20000"/>
              </a:bodyPr>
              <a:lstStyle/>
              <a:p>
                <a:r>
                  <a:rPr lang="en-IN" b="1" dirty="0"/>
                  <a:t>Given Documents</a:t>
                </a:r>
              </a:p>
              <a:p>
                <a:pPr marL="0" indent="0">
                  <a:buNone/>
                </a:pPr>
                <a:r>
                  <a:rPr lang="en-IN" b="1" dirty="0"/>
                  <a:t>D1:</a:t>
                </a:r>
                <a:r>
                  <a:rPr lang="en-IN" dirty="0"/>
                  <a:t> "data mining techniques"</a:t>
                </a:r>
              </a:p>
              <a:p>
                <a:pPr marL="0" indent="0">
                  <a:buNone/>
                </a:pPr>
                <a:r>
                  <a:rPr lang="en-IN" b="1" dirty="0"/>
                  <a:t>D2:</a:t>
                </a:r>
                <a:r>
                  <a:rPr lang="en-IN" dirty="0"/>
                  <a:t> "data science methods"</a:t>
                </a:r>
              </a:p>
              <a:p>
                <a:pPr marL="0" indent="0">
                  <a:buNone/>
                </a:pPr>
                <a:r>
                  <a:rPr lang="en-IN" b="1" dirty="0"/>
                  <a:t>D3:</a:t>
                </a:r>
                <a:r>
                  <a:rPr lang="en-IN" dirty="0"/>
                  <a:t> "mining data models"</a:t>
                </a:r>
              </a:p>
              <a:p>
                <a:pPr marL="0" indent="0">
                  <a:buNone/>
                </a:pPr>
                <a:r>
                  <a:rPr lang="en-IN" dirty="0"/>
                  <a:t>Total documents</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𝑁</m:t>
                      </m:r>
                      <m:r>
                        <a:rPr lang="en-IN">
                          <a:latin typeface="Cambria Math" panose="02040503050406030204" pitchFamily="18" charset="0"/>
                        </a:rPr>
                        <m:t>=3</m:t>
                      </m:r>
                    </m:oMath>
                  </m:oMathPara>
                </a14:m>
                <a:endParaRPr lang="en-IN" dirty="0"/>
              </a:p>
              <a:p>
                <a:pPr marL="0" indent="0">
                  <a:buNone/>
                </a:pPr>
                <a:r>
                  <a:rPr lang="en-IN" dirty="0"/>
                  <a:t>We will calculate values for the term </a:t>
                </a:r>
                <a:r>
                  <a:rPr lang="en-IN" b="1" dirty="0"/>
                  <a:t>“data”</a:t>
                </a:r>
                <a:r>
                  <a:rPr lang="en-IN" dirty="0"/>
                  <a:t>.</a:t>
                </a:r>
              </a:p>
              <a:p>
                <a:pPr marL="0" indent="0">
                  <a:buNone/>
                </a:pPr>
                <a:r>
                  <a:rPr lang="en-IN" b="1" dirty="0"/>
                  <a:t>a) TF for term “data” in D1</a:t>
                </a:r>
              </a:p>
              <a:p>
                <a:pPr marL="0" indent="0">
                  <a:buNone/>
                </a:pPr>
                <a:r>
                  <a:rPr lang="en-IN" dirty="0"/>
                  <a:t>Document </a:t>
                </a:r>
                <a:r>
                  <a:rPr lang="en-IN" b="1" dirty="0"/>
                  <a:t>D1</a:t>
                </a:r>
                <a:r>
                  <a:rPr lang="en-IN" dirty="0"/>
                  <a:t>:</a:t>
                </a:r>
                <a:br>
                  <a:rPr lang="en-IN" dirty="0"/>
                </a:br>
                <a:r>
                  <a:rPr lang="en-IN" dirty="0"/>
                  <a:t>data mining techniques</a:t>
                </a:r>
              </a:p>
              <a:p>
                <a:pPr marL="0" indent="0">
                  <a:buNone/>
                </a:pPr>
                <a:r>
                  <a:rPr lang="en-IN" dirty="0"/>
                  <a:t>The word </a:t>
                </a:r>
                <a:r>
                  <a:rPr lang="en-IN" b="1" dirty="0"/>
                  <a:t>data</a:t>
                </a:r>
                <a:r>
                  <a:rPr lang="en-IN" dirty="0"/>
                  <a:t> appears </a:t>
                </a:r>
                <a:r>
                  <a:rPr lang="en-IN" b="1" dirty="0"/>
                  <a:t>1 time</a:t>
                </a:r>
                <a:r>
                  <a:rPr lang="en-IN" dirty="0"/>
                  <a:t>.</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𝑇𝐹</m:t>
                      </m:r>
                      <m:d>
                        <m:dPr>
                          <m:sepChr m:val=","/>
                          <m:ctrlPr>
                            <a:rPr lang="ar-AE" i="1">
                              <a:latin typeface="Cambria Math" panose="02040503050406030204" pitchFamily="18" charset="0"/>
                            </a:rPr>
                          </m:ctrlPr>
                        </m:dPr>
                        <m:e>
                          <m:r>
                            <a:rPr lang="ar-AE" i="1">
                              <a:latin typeface="Cambria Math" panose="02040503050406030204" pitchFamily="18" charset="0"/>
                            </a:rPr>
                            <m:t>𝑑</m:t>
                          </m:r>
                        </m:e>
                        <m:e>
                          <m:r>
                            <a:rPr lang="ar-AE" i="1">
                              <a:latin typeface="Cambria Math" panose="02040503050406030204" pitchFamily="18" charset="0"/>
                            </a:rPr>
                            <m:t>𝑎𝑡𝑎𝐷</m:t>
                          </m:r>
                          <m:r>
                            <a:rPr lang="ar-AE">
                              <a:latin typeface="Cambria Math" panose="02040503050406030204" pitchFamily="18" charset="0"/>
                            </a:rPr>
                            <m:t>1</m:t>
                          </m:r>
                        </m:e>
                      </m:d>
                      <m:r>
                        <a:rPr lang="ar-AE">
                          <a:latin typeface="Cambria Math" panose="02040503050406030204" pitchFamily="18" charset="0"/>
                        </a:rPr>
                        <m:t>=1</m:t>
                      </m:r>
                    </m:oMath>
                  </m:oMathPara>
                </a14:m>
                <a:endParaRPr lang="ar-AE" dirty="0"/>
              </a:p>
              <a:p>
                <a:endParaRPr lang="en-US" dirty="0"/>
              </a:p>
            </p:txBody>
          </p:sp>
        </mc:Choice>
        <mc:Fallback xmlns="">
          <p:sp>
            <p:nvSpPr>
              <p:cNvPr id="3" name="Content Placeholder 2">
                <a:extLst>
                  <a:ext uri="{FF2B5EF4-FFF2-40B4-BE49-F238E27FC236}">
                    <a16:creationId xmlns:a16="http://schemas.microsoft.com/office/drawing/2014/main" id="{10CD3C76-78C4-BE1E-C887-19C30EEDDE7C}"/>
                  </a:ext>
                </a:extLst>
              </p:cNvPr>
              <p:cNvSpPr>
                <a:spLocks noGrp="1" noRot="1" noChangeAspect="1" noMove="1" noResize="1" noEditPoints="1" noAdjustHandles="1" noChangeArrowheads="1" noChangeShapeType="1" noTextEdit="1"/>
              </p:cNvSpPr>
              <p:nvPr>
                <p:ph idx="1"/>
              </p:nvPr>
            </p:nvSpPr>
            <p:spPr>
              <a:blipFill>
                <a:blip r:embed="rId2"/>
                <a:stretch>
                  <a:fillRect l="-965" t="-3198" b="-2326"/>
                </a:stretch>
              </a:blipFill>
            </p:spPr>
            <p:txBody>
              <a:bodyPr/>
              <a:lstStyle/>
              <a:p>
                <a:r>
                  <a:rPr lang="en-US">
                    <a:noFill/>
                  </a:rPr>
                  <a:t> </a:t>
                </a:r>
              </a:p>
            </p:txBody>
          </p:sp>
        </mc:Fallback>
      </mc:AlternateContent>
    </p:spTree>
    <p:extLst>
      <p:ext uri="{BB962C8B-B14F-4D97-AF65-F5344CB8AC3E}">
        <p14:creationId xmlns:p14="http://schemas.microsoft.com/office/powerpoint/2010/main" val="435861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97AF-A8F2-6D4C-9FB9-C283E8187B9F}"/>
              </a:ext>
            </a:extLst>
          </p:cNvPr>
          <p:cNvSpPr>
            <a:spLocks noGrp="1"/>
          </p:cNvSpPr>
          <p:nvPr>
            <p:ph type="title"/>
          </p:nvPr>
        </p:nvSpPr>
        <p:spPr/>
        <p:txBody>
          <a:bodyPr/>
          <a:lstStyle/>
          <a:p>
            <a:r>
              <a:rPr lang="en-US" dirty="0"/>
              <a:t>TF-IDF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96CC8A-F63F-051B-5171-7F72518A4796}"/>
                  </a:ext>
                </a:extLst>
              </p:cNvPr>
              <p:cNvSpPr>
                <a:spLocks noGrp="1"/>
              </p:cNvSpPr>
              <p:nvPr>
                <p:ph idx="1"/>
              </p:nvPr>
            </p:nvSpPr>
            <p:spPr/>
            <p:txBody>
              <a:bodyPr/>
              <a:lstStyle/>
              <a:p>
                <a:pPr marL="0" indent="0">
                  <a:buNone/>
                </a:pPr>
                <a:r>
                  <a:rPr lang="en-IN" b="1" dirty="0"/>
                  <a:t>(b) DF for term “data”</a:t>
                </a:r>
              </a:p>
              <a:p>
                <a:r>
                  <a:rPr lang="en-IN" dirty="0"/>
                  <a:t>Check all documents:</a:t>
                </a:r>
              </a:p>
              <a:p>
                <a:r>
                  <a:rPr lang="en-IN" b="1" dirty="0"/>
                  <a:t>D1</a:t>
                </a:r>
                <a:r>
                  <a:rPr lang="en-IN" dirty="0"/>
                  <a:t> → data </a:t>
                </a:r>
              </a:p>
              <a:p>
                <a:r>
                  <a:rPr lang="en-IN" b="1" dirty="0"/>
                  <a:t>D2</a:t>
                </a:r>
                <a:r>
                  <a:rPr lang="en-IN" dirty="0"/>
                  <a:t> → data </a:t>
                </a:r>
              </a:p>
              <a:p>
                <a:r>
                  <a:rPr lang="en-IN" b="1" dirty="0"/>
                  <a:t>D3</a:t>
                </a:r>
                <a:r>
                  <a:rPr lang="en-IN" dirty="0"/>
                  <a:t> → data </a:t>
                </a:r>
              </a:p>
              <a:p>
                <a:r>
                  <a:rPr lang="en-IN" dirty="0"/>
                  <a:t>So,</a:t>
                </a:r>
              </a:p>
              <a:p>
                <a14:m>
                  <m:oMath xmlns:m="http://schemas.openxmlformats.org/officeDocument/2006/math">
                    <m:r>
                      <a:rPr lang="en-IN" i="1">
                        <a:latin typeface="Cambria Math" panose="02040503050406030204" pitchFamily="18" charset="0"/>
                      </a:rPr>
                      <m:t>𝐷𝐹</m:t>
                    </m:r>
                    <m:d>
                      <m:dPr>
                        <m:ctrlPr>
                          <a:rPr lang="ar-AE" i="1">
                            <a:latin typeface="Cambria Math" panose="02040503050406030204" pitchFamily="18" charset="0"/>
                          </a:rPr>
                        </m:ctrlPr>
                      </m:dPr>
                      <m:e>
                        <m:r>
                          <a:rPr lang="ar-AE" i="1">
                            <a:latin typeface="Cambria Math" panose="02040503050406030204" pitchFamily="18" charset="0"/>
                          </a:rPr>
                          <m:t>𝑑𝑎𝑡𝑎</m:t>
                        </m:r>
                      </m:e>
                    </m:d>
                    <m:r>
                      <a:rPr lang="ar-AE">
                        <a:latin typeface="Cambria Math" panose="02040503050406030204" pitchFamily="18" charset="0"/>
                      </a:rPr>
                      <m:t>=3</m:t>
                    </m:r>
                  </m:oMath>
                </a14:m>
                <a:endParaRPr lang="ar-AE" dirty="0"/>
              </a:p>
              <a:p>
                <a:endParaRPr lang="en-US" dirty="0"/>
              </a:p>
            </p:txBody>
          </p:sp>
        </mc:Choice>
        <mc:Fallback xmlns="">
          <p:sp>
            <p:nvSpPr>
              <p:cNvPr id="3" name="Content Placeholder 2">
                <a:extLst>
                  <a:ext uri="{FF2B5EF4-FFF2-40B4-BE49-F238E27FC236}">
                    <a16:creationId xmlns:a16="http://schemas.microsoft.com/office/drawing/2014/main" id="{4496CC8A-F63F-051B-5171-7F72518A4796}"/>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020523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5316C-3EDC-C6E3-20A3-8D5D0D13001D}"/>
              </a:ext>
            </a:extLst>
          </p:cNvPr>
          <p:cNvSpPr>
            <a:spLocks noGrp="1"/>
          </p:cNvSpPr>
          <p:nvPr>
            <p:ph type="title"/>
          </p:nvPr>
        </p:nvSpPr>
        <p:spPr/>
        <p:txBody>
          <a:bodyPr/>
          <a:lstStyle/>
          <a:p>
            <a:r>
              <a:rPr lang="en-US" dirty="0"/>
              <a:t>TF-IDF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B72096-8491-A89D-D77C-8AD0815124EF}"/>
                  </a:ext>
                </a:extLst>
              </p:cNvPr>
              <p:cNvSpPr>
                <a:spLocks noGrp="1"/>
              </p:cNvSpPr>
              <p:nvPr>
                <p:ph idx="1"/>
              </p:nvPr>
            </p:nvSpPr>
            <p:spPr/>
            <p:txBody>
              <a:bodyPr/>
              <a:lstStyle/>
              <a:p>
                <a:pPr marL="0" indent="0">
                  <a:buNone/>
                </a:pPr>
                <a:r>
                  <a:rPr lang="en-IN" b="1" dirty="0"/>
                  <a:t>Normalized IDF</a:t>
                </a:r>
              </a:p>
              <a:p>
                <a:pPr marL="0" indent="0">
                  <a:buNone/>
                </a:pPr>
                <a:r>
                  <a:rPr lang="en-IN" dirty="0"/>
                  <a:t>Formula:</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𝐼𝐷𝐹</m:t>
                      </m:r>
                      <m:r>
                        <a:rPr lang="en-IN">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𝑁</m:t>
                                  </m:r>
                                </m:num>
                                <m:den>
                                  <m:r>
                                    <a:rPr lang="ar-AE" i="1">
                                      <a:latin typeface="Cambria Math" panose="02040503050406030204" pitchFamily="18" charset="0"/>
                                    </a:rPr>
                                    <m:t>𝐷𝐹</m:t>
                                  </m:r>
                                </m:den>
                              </m:f>
                            </m:e>
                          </m:d>
                        </m:e>
                      </m:func>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𝐼𝐷𝐹</m:t>
                      </m:r>
                      <m:r>
                        <a:rPr lang="ar-AE">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3</m:t>
                                  </m:r>
                                </m:num>
                                <m:den>
                                  <m:r>
                                    <a:rPr lang="ar-AE">
                                      <a:latin typeface="Cambria Math" panose="02040503050406030204" pitchFamily="18" charset="0"/>
                                    </a:rPr>
                                    <m:t>3</m:t>
                                  </m:r>
                                </m:den>
                              </m:f>
                            </m:e>
                          </m:d>
                        </m:e>
                      </m:func>
                    </m:oMath>
                  </m:oMathPara>
                </a14:m>
                <a:endParaRPr lang="ar-AE" dirty="0"/>
              </a:p>
              <a:p>
                <a:pPr marL="0" indent="0">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𝐼𝐷𝐹</m:t>
                      </m:r>
                      <m:r>
                        <a:rPr lang="ar-AE">
                          <a:latin typeface="Cambria Math" panose="02040503050406030204" pitchFamily="18" charset="0"/>
                        </a:rPr>
                        <m:t>=</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=0</m:t>
                      </m:r>
                    </m:oMath>
                  </m:oMathPara>
                </a14:m>
                <a:endParaRPr lang="ar-AE" dirty="0"/>
              </a:p>
              <a:p>
                <a:endParaRPr lang="en-US" dirty="0"/>
              </a:p>
            </p:txBody>
          </p:sp>
        </mc:Choice>
        <mc:Fallback xmlns="">
          <p:sp>
            <p:nvSpPr>
              <p:cNvPr id="3" name="Content Placeholder 2">
                <a:extLst>
                  <a:ext uri="{FF2B5EF4-FFF2-40B4-BE49-F238E27FC236}">
                    <a16:creationId xmlns:a16="http://schemas.microsoft.com/office/drawing/2014/main" id="{5AB72096-8491-A89D-D77C-8AD0815124EF}"/>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279836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CE9DD-24FE-CE56-EA6F-F790EDBEAA37}"/>
              </a:ext>
            </a:extLst>
          </p:cNvPr>
          <p:cNvSpPr>
            <a:spLocks noGrp="1"/>
          </p:cNvSpPr>
          <p:nvPr>
            <p:ph type="title"/>
          </p:nvPr>
        </p:nvSpPr>
        <p:spPr/>
        <p:txBody>
          <a:bodyPr/>
          <a:lstStyle/>
          <a:p>
            <a:r>
              <a:rPr lang="en-US" dirty="0"/>
              <a:t>TF-IDF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349D98-6AD5-3651-0462-73C4D3525392}"/>
                  </a:ext>
                </a:extLst>
              </p:cNvPr>
              <p:cNvSpPr>
                <a:spLocks noGrp="1"/>
              </p:cNvSpPr>
              <p:nvPr>
                <p:ph idx="1"/>
              </p:nvPr>
            </p:nvSpPr>
            <p:spPr/>
            <p:txBody>
              <a:bodyPr/>
              <a:lstStyle/>
              <a:p>
                <a:pPr marL="0" indent="0">
                  <a:buNone/>
                </a:pPr>
                <a:r>
                  <a:rPr lang="en-IN" b="1" dirty="0"/>
                  <a:t>TF-IDF for “data” in D1</a:t>
                </a:r>
              </a:p>
              <a:p>
                <a:pPr marL="0" indent="0">
                  <a:buNone/>
                </a:pPr>
                <a:r>
                  <a:rPr lang="en-IN" dirty="0"/>
                  <a:t>Formula:</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𝑇𝐹</m:t>
                      </m:r>
                      <m:r>
                        <m:rPr>
                          <m:nor/>
                        </m:rPr>
                        <a:rPr lang="en-IN" i="1"/>
                        <m:t>−</m:t>
                      </m:r>
                      <m:r>
                        <a:rPr lang="en-IN" i="1">
                          <a:latin typeface="Cambria Math" panose="02040503050406030204" pitchFamily="18" charset="0"/>
                        </a:rPr>
                        <m:t>𝐼𝐷𝐹</m:t>
                      </m:r>
                      <m:r>
                        <a:rPr lang="en-IN">
                          <a:latin typeface="Cambria Math" panose="02040503050406030204" pitchFamily="18" charset="0"/>
                        </a:rPr>
                        <m:t>=</m:t>
                      </m:r>
                      <m:r>
                        <a:rPr lang="en-IN" i="1">
                          <a:latin typeface="Cambria Math" panose="02040503050406030204" pitchFamily="18" charset="0"/>
                        </a:rPr>
                        <m:t>𝑇𝐹</m:t>
                      </m:r>
                      <m:r>
                        <a:rPr lang="en-IN">
                          <a:latin typeface="Cambria Math" panose="02040503050406030204" pitchFamily="18" charset="0"/>
                        </a:rPr>
                        <m:t>×</m:t>
                      </m:r>
                      <m:r>
                        <a:rPr lang="en-IN" i="1">
                          <a:latin typeface="Cambria Math" panose="02040503050406030204" pitchFamily="18" charset="0"/>
                        </a:rPr>
                        <m:t>𝐼𝐷𝐹</m:t>
                      </m:r>
                    </m:oMath>
                  </m:oMathPara>
                </a14:m>
                <a:endParaRPr lang="en-IN" b="0"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𝑇𝐹</m:t>
                      </m:r>
                      <m:r>
                        <a:rPr lang="en-IN">
                          <a:latin typeface="Cambria Math" panose="02040503050406030204" pitchFamily="18" charset="0"/>
                        </a:rPr>
                        <m:t>=1</m:t>
                      </m:r>
                    </m:oMath>
                  </m:oMathPara>
                </a14:m>
                <a:endParaRPr lang="en-IN"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𝐼𝐷𝐹</m:t>
                      </m:r>
                      <m:r>
                        <a:rPr lang="en-IN">
                          <a:latin typeface="Cambria Math" panose="02040503050406030204" pitchFamily="18" charset="0"/>
                        </a:rPr>
                        <m:t>=0</m:t>
                      </m:r>
                    </m:oMath>
                  </m:oMathPara>
                </a14:m>
                <a:endParaRPr lang="en-IN"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𝑇𝐹</m:t>
                      </m:r>
                      <m:r>
                        <m:rPr>
                          <m:nor/>
                        </m:rPr>
                        <a:rPr lang="en-IN" i="1"/>
                        <m:t>−</m:t>
                      </m:r>
                      <m:r>
                        <a:rPr lang="en-IN" i="1">
                          <a:latin typeface="Cambria Math" panose="02040503050406030204" pitchFamily="18" charset="0"/>
                        </a:rPr>
                        <m:t>𝐼𝐷𝐹</m:t>
                      </m:r>
                      <m:r>
                        <a:rPr lang="en-IN">
                          <a:latin typeface="Cambria Math" panose="02040503050406030204" pitchFamily="18" charset="0"/>
                        </a:rPr>
                        <m:t>=1×0=0</m:t>
                      </m:r>
                    </m:oMath>
                  </m:oMathPara>
                </a14:m>
                <a:endParaRPr lang="en-IN" b="0" dirty="0"/>
              </a:p>
              <a:p>
                <a:endParaRPr lang="en-US" dirty="0"/>
              </a:p>
            </p:txBody>
          </p:sp>
        </mc:Choice>
        <mc:Fallback xmlns="">
          <p:sp>
            <p:nvSpPr>
              <p:cNvPr id="3" name="Content Placeholder 2">
                <a:extLst>
                  <a:ext uri="{FF2B5EF4-FFF2-40B4-BE49-F238E27FC236}">
                    <a16:creationId xmlns:a16="http://schemas.microsoft.com/office/drawing/2014/main" id="{64349D98-6AD5-3651-0462-73C4D352539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627372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DBC5-B4B0-9AF1-28BE-D8D4ED5E32FF}"/>
              </a:ext>
            </a:extLst>
          </p:cNvPr>
          <p:cNvSpPr>
            <a:spLocks noGrp="1"/>
          </p:cNvSpPr>
          <p:nvPr>
            <p:ph type="title"/>
          </p:nvPr>
        </p:nvSpPr>
        <p:spPr/>
        <p:txBody>
          <a:bodyPr/>
          <a:lstStyle/>
          <a:p>
            <a:r>
              <a:rPr lang="en-US" dirty="0"/>
              <a:t>Why Rare Terms Matter (Intuition)</a:t>
            </a:r>
          </a:p>
        </p:txBody>
      </p:sp>
      <p:sp>
        <p:nvSpPr>
          <p:cNvPr id="4" name="Rectangle 1">
            <a:extLst>
              <a:ext uri="{FF2B5EF4-FFF2-40B4-BE49-F238E27FC236}">
                <a16:creationId xmlns:a16="http://schemas.microsoft.com/office/drawing/2014/main" id="{FCF43381-3F22-9AD1-7C03-DC70CF7502A9}"/>
              </a:ext>
            </a:extLst>
          </p:cNvPr>
          <p:cNvSpPr>
            <a:spLocks noGrp="1" noChangeArrowheads="1"/>
          </p:cNvSpPr>
          <p:nvPr>
            <p:ph idx="1"/>
          </p:nvPr>
        </p:nvSpPr>
        <p:spPr bwMode="auto">
          <a:xfrm>
            <a:off x="938213" y="1690688"/>
            <a:ext cx="1052563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Rare terms are </a:t>
            </a:r>
            <a:r>
              <a:rPr kumimoji="0" lang="en-US" altLang="en-US" b="1" i="0" u="none" strike="noStrike" cap="none" normalizeH="0" baseline="0" dirty="0">
                <a:ln>
                  <a:noFill/>
                </a:ln>
                <a:solidFill>
                  <a:schemeClr val="tx1"/>
                </a:solidFill>
                <a:effectLst/>
                <a:latin typeface="Arial" panose="020B0604020202020204" pitchFamily="34" charset="0"/>
              </a:rPr>
              <a:t>more informative</a:t>
            </a:r>
            <a:r>
              <a:rPr kumimoji="0" lang="en-US" altLang="en-US" b="0" i="0" u="none" strike="noStrike" cap="none" normalizeH="0" baseline="0" dirty="0">
                <a:ln>
                  <a:noFill/>
                </a:ln>
                <a:solidFill>
                  <a:schemeClr val="tx1"/>
                </a:solidFill>
                <a:effectLst/>
                <a:latin typeface="Arial" panose="020B0604020202020204" pitchFamily="34" charset="0"/>
              </a:rPr>
              <a:t> than common terms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Example query: </a:t>
            </a:r>
            <a:r>
              <a:rPr kumimoji="0" lang="en-US" altLang="en-US" b="0" i="1" u="none" strike="noStrike" cap="none" normalizeH="0" baseline="0" dirty="0">
                <a:ln>
                  <a:noFill/>
                </a:ln>
                <a:solidFill>
                  <a:schemeClr val="tx1"/>
                </a:solidFill>
                <a:effectLst/>
                <a:latin typeface="Arial" panose="020B0604020202020204" pitchFamily="34" charset="0"/>
              </a:rPr>
              <a:t>“diseases caused by smoking”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Relevant info mostly in </a:t>
            </a:r>
            <a:r>
              <a:rPr kumimoji="0" lang="en-US" altLang="en-US" b="1" i="0" u="none" strike="noStrike" cap="none" normalizeH="0" baseline="0" dirty="0">
                <a:ln>
                  <a:noFill/>
                </a:ln>
                <a:solidFill>
                  <a:schemeClr val="tx1"/>
                </a:solidFill>
                <a:effectLst/>
                <a:latin typeface="Arial" panose="020B0604020202020204" pitchFamily="34" charset="0"/>
              </a:rPr>
              <a:t>“diseases”</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“smoking”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Term </a:t>
            </a:r>
            <a:r>
              <a:rPr kumimoji="0" lang="en-US" altLang="en-US" b="1" i="0" u="none" strike="noStrike" cap="none" normalizeH="0" baseline="0" dirty="0">
                <a:ln>
                  <a:noFill/>
                </a:ln>
                <a:solidFill>
                  <a:schemeClr val="tx1"/>
                </a:solidFill>
                <a:effectLst/>
                <a:latin typeface="Arial" panose="020B0604020202020204" pitchFamily="34" charset="0"/>
              </a:rPr>
              <a:t>“cause/caused”</a:t>
            </a:r>
            <a:r>
              <a:rPr kumimoji="0" lang="en-US" altLang="en-US" b="0" i="0" u="none" strike="noStrike" cap="none" normalizeH="0" baseline="0" dirty="0">
                <a:ln>
                  <a:noFill/>
                </a:ln>
                <a:solidFill>
                  <a:schemeClr val="tx1"/>
                </a:solidFill>
                <a:effectLst/>
                <a:latin typeface="Arial" panose="020B0604020202020204" pitchFamily="34" charset="0"/>
              </a:rPr>
              <a:t> is too generic → less useful for retrieval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Rarity depends on </a:t>
            </a:r>
            <a:r>
              <a:rPr kumimoji="0" lang="en-US" altLang="en-US" b="1" i="0" u="none" strike="noStrike" cap="none" normalizeH="0" baseline="0" dirty="0">
                <a:ln>
                  <a:noFill/>
                </a:ln>
                <a:solidFill>
                  <a:schemeClr val="tx1"/>
                </a:solidFill>
                <a:effectLst/>
                <a:latin typeface="Arial" panose="020B0604020202020204" pitchFamily="34" charset="0"/>
              </a:rPr>
              <a:t>collection</a:t>
            </a:r>
            <a:r>
              <a:rPr kumimoji="0" lang="en-US" altLang="en-US" b="0" i="0" u="none" strike="noStrike" cap="none" normalizeH="0" baseline="0" dirty="0">
                <a:ln>
                  <a:noFill/>
                </a:ln>
                <a:solidFill>
                  <a:schemeClr val="tx1"/>
                </a:solidFill>
                <a:effectLst/>
                <a:latin typeface="Arial" panose="020B0604020202020204" pitchFamily="34" charset="0"/>
              </a:rPr>
              <a:t>, not dictionary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Stop words removed, but many non-</a:t>
            </a:r>
            <a:r>
              <a:rPr kumimoji="0" lang="en-US" altLang="en-US" b="0" i="0" u="none" strike="noStrike" cap="none" normalizeH="0" baseline="0" dirty="0" err="1">
                <a:ln>
                  <a:noFill/>
                </a:ln>
                <a:solidFill>
                  <a:schemeClr val="tx1"/>
                </a:solidFill>
                <a:effectLst/>
                <a:latin typeface="Arial" panose="020B0604020202020204" pitchFamily="34" charset="0"/>
              </a:rPr>
              <a:t>stopwords</a:t>
            </a:r>
            <a:r>
              <a:rPr kumimoji="0" lang="en-US" altLang="en-US" b="0" i="0" u="none" strike="noStrike" cap="none" normalizeH="0" baseline="0" dirty="0">
                <a:ln>
                  <a:noFill/>
                </a:ln>
                <a:solidFill>
                  <a:schemeClr val="tx1"/>
                </a:solidFill>
                <a:effectLst/>
                <a:latin typeface="Arial" panose="020B0604020202020204" pitchFamily="34" charset="0"/>
              </a:rPr>
              <a:t> are still </a:t>
            </a:r>
            <a:r>
              <a:rPr kumimoji="0" lang="en-US" altLang="en-US" b="1" i="0" u="none" strike="noStrike" cap="none" normalizeH="0" baseline="0" dirty="0">
                <a:ln>
                  <a:noFill/>
                </a:ln>
                <a:solidFill>
                  <a:schemeClr val="tx1"/>
                </a:solidFill>
                <a:effectLst/>
                <a:latin typeface="Arial" panose="020B0604020202020204" pitchFamily="34" charset="0"/>
              </a:rPr>
              <a:t>frequent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9326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53E1-7024-58C7-64DB-16B021603C30}"/>
              </a:ext>
            </a:extLst>
          </p:cNvPr>
          <p:cNvSpPr>
            <a:spLocks noGrp="1"/>
          </p:cNvSpPr>
          <p:nvPr>
            <p:ph type="title"/>
          </p:nvPr>
        </p:nvSpPr>
        <p:spPr/>
        <p:txBody>
          <a:bodyPr/>
          <a:lstStyle/>
          <a:p>
            <a:r>
              <a:rPr lang="en-US" dirty="0"/>
              <a:t>Binary Weighting</a:t>
            </a:r>
            <a:br>
              <a:rPr lang="en-US" dirty="0"/>
            </a:br>
            <a:endParaRPr lang="en-US" dirty="0"/>
          </a:p>
        </p:txBody>
      </p:sp>
      <p:sp>
        <p:nvSpPr>
          <p:cNvPr id="3" name="Content Placeholder 2">
            <a:extLst>
              <a:ext uri="{FF2B5EF4-FFF2-40B4-BE49-F238E27FC236}">
                <a16:creationId xmlns:a16="http://schemas.microsoft.com/office/drawing/2014/main" id="{761913F6-4149-486B-5930-5AC21CBC0872}"/>
              </a:ext>
            </a:extLst>
          </p:cNvPr>
          <p:cNvSpPr>
            <a:spLocks noGrp="1"/>
          </p:cNvSpPr>
          <p:nvPr>
            <p:ph idx="1"/>
          </p:nvPr>
        </p:nvSpPr>
        <p:spPr/>
        <p:txBody>
          <a:bodyPr/>
          <a:lstStyle/>
          <a:p>
            <a:r>
              <a:rPr lang="en-US" dirty="0"/>
              <a:t>In binary weighting, each term in a document is assigned a weight of 1 if it occurs in the </a:t>
            </a:r>
            <a:r>
              <a:rPr lang="en-US" dirty="0" err="1"/>
              <a:t>documentand</a:t>
            </a:r>
            <a:r>
              <a:rPr lang="en-US" dirty="0"/>
              <a:t> 0 otherwise. </a:t>
            </a:r>
          </a:p>
          <a:p>
            <a:r>
              <a:rPr lang="en-US" dirty="0"/>
              <a:t>Binary weighting is a simple term weighting scheme that does not consider the frequency or rarity of terms.</a:t>
            </a:r>
          </a:p>
          <a:p>
            <a:endParaRPr lang="en-US" dirty="0"/>
          </a:p>
        </p:txBody>
      </p:sp>
    </p:spTree>
    <p:extLst>
      <p:ext uri="{BB962C8B-B14F-4D97-AF65-F5344CB8AC3E}">
        <p14:creationId xmlns:p14="http://schemas.microsoft.com/office/powerpoint/2010/main" val="2152907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1221A-28EA-A791-5129-16240F73E847}"/>
              </a:ext>
            </a:extLst>
          </p:cNvPr>
          <p:cNvSpPr>
            <a:spLocks noGrp="1"/>
          </p:cNvSpPr>
          <p:nvPr>
            <p:ph type="title"/>
          </p:nvPr>
        </p:nvSpPr>
        <p:spPr/>
        <p:txBody>
          <a:bodyPr/>
          <a:lstStyle/>
          <a:p>
            <a:r>
              <a:rPr lang="en-US" dirty="0"/>
              <a:t>Logarithmic Weighting</a:t>
            </a:r>
            <a:br>
              <a:rPr lang="en-US" dirty="0"/>
            </a:br>
            <a:endParaRPr lang="en-US" dirty="0"/>
          </a:p>
        </p:txBody>
      </p:sp>
      <p:sp>
        <p:nvSpPr>
          <p:cNvPr id="3" name="Content Placeholder 2">
            <a:extLst>
              <a:ext uri="{FF2B5EF4-FFF2-40B4-BE49-F238E27FC236}">
                <a16:creationId xmlns:a16="http://schemas.microsoft.com/office/drawing/2014/main" id="{3D41C05B-EF99-AE4F-47E8-F124A4ED3C53}"/>
              </a:ext>
            </a:extLst>
          </p:cNvPr>
          <p:cNvSpPr>
            <a:spLocks noGrp="1"/>
          </p:cNvSpPr>
          <p:nvPr>
            <p:ph idx="1"/>
          </p:nvPr>
        </p:nvSpPr>
        <p:spPr/>
        <p:txBody>
          <a:bodyPr/>
          <a:lstStyle/>
          <a:p>
            <a:r>
              <a:rPr lang="en-US" dirty="0"/>
              <a:t>Logarithmic weighting applies a logarithmic transformation to the term frequency (TF) of each term in a document. It helps dampen the impact of excessively high term frequencies and prevents disproportionately high weights for terms that occur frequently.</a:t>
            </a:r>
          </a:p>
          <a:p>
            <a:endParaRPr lang="en-US" dirty="0"/>
          </a:p>
        </p:txBody>
      </p:sp>
    </p:spTree>
    <p:extLst>
      <p:ext uri="{BB962C8B-B14F-4D97-AF65-F5344CB8AC3E}">
        <p14:creationId xmlns:p14="http://schemas.microsoft.com/office/powerpoint/2010/main" val="473734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EFA0E-29DE-8A20-0F22-2B2731DE4031}"/>
              </a:ext>
            </a:extLst>
          </p:cNvPr>
          <p:cNvSpPr>
            <a:spLocks noGrp="1"/>
          </p:cNvSpPr>
          <p:nvPr>
            <p:ph type="title"/>
          </p:nvPr>
        </p:nvSpPr>
        <p:spPr/>
        <p:txBody>
          <a:bodyPr/>
          <a:lstStyle/>
          <a:p>
            <a:r>
              <a:rPr lang="en-US" dirty="0"/>
              <a:t>BM25 (Best Matching 25)</a:t>
            </a:r>
            <a:br>
              <a:rPr lang="en-US" dirty="0"/>
            </a:br>
            <a:endParaRPr lang="en-US" dirty="0"/>
          </a:p>
        </p:txBody>
      </p:sp>
      <p:sp>
        <p:nvSpPr>
          <p:cNvPr id="3" name="Content Placeholder 2">
            <a:extLst>
              <a:ext uri="{FF2B5EF4-FFF2-40B4-BE49-F238E27FC236}">
                <a16:creationId xmlns:a16="http://schemas.microsoft.com/office/drawing/2014/main" id="{A9B72E3D-CC1F-4D0D-FDD1-9F9FE84153ED}"/>
              </a:ext>
            </a:extLst>
          </p:cNvPr>
          <p:cNvSpPr>
            <a:spLocks noGrp="1"/>
          </p:cNvSpPr>
          <p:nvPr>
            <p:ph idx="1"/>
          </p:nvPr>
        </p:nvSpPr>
        <p:spPr/>
        <p:txBody>
          <a:bodyPr/>
          <a:lstStyle/>
          <a:p>
            <a:r>
              <a:rPr lang="en-US" dirty="0"/>
              <a:t>BM25 is a probabilistic term weighting scheme commonly used in information retrieval. It extends TF-IDF by incorporating additional factors such as document length normalization and term saturation to improve retrieval effectiveness.</a:t>
            </a:r>
          </a:p>
          <a:p>
            <a:endParaRPr lang="en-US" dirty="0"/>
          </a:p>
        </p:txBody>
      </p:sp>
    </p:spTree>
    <p:extLst>
      <p:ext uri="{BB962C8B-B14F-4D97-AF65-F5344CB8AC3E}">
        <p14:creationId xmlns:p14="http://schemas.microsoft.com/office/powerpoint/2010/main" val="2684810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B55-B3F2-F0D0-EBD2-0DCF769E72ED}"/>
              </a:ext>
            </a:extLst>
          </p:cNvPr>
          <p:cNvSpPr>
            <a:spLocks noGrp="1"/>
          </p:cNvSpPr>
          <p:nvPr>
            <p:ph type="title"/>
          </p:nvPr>
        </p:nvSpPr>
        <p:spPr/>
        <p:txBody>
          <a:bodyPr/>
          <a:lstStyle/>
          <a:p>
            <a:r>
              <a:rPr lang="en-US" dirty="0"/>
              <a:t>Similarity Function</a:t>
            </a:r>
          </a:p>
        </p:txBody>
      </p:sp>
      <p:sp>
        <p:nvSpPr>
          <p:cNvPr id="5" name="Rectangle 2">
            <a:extLst>
              <a:ext uri="{FF2B5EF4-FFF2-40B4-BE49-F238E27FC236}">
                <a16:creationId xmlns:a16="http://schemas.microsoft.com/office/drawing/2014/main" id="{A299D0FD-0FD3-3EAA-36B5-C608E8ED7CF0}"/>
              </a:ext>
            </a:extLst>
          </p:cNvPr>
          <p:cNvSpPr>
            <a:spLocks noGrp="1" noChangeArrowheads="1"/>
          </p:cNvSpPr>
          <p:nvPr>
            <p:ph idx="1"/>
          </p:nvPr>
        </p:nvSpPr>
        <p:spPr bwMode="auto">
          <a:xfrm>
            <a:off x="838200" y="1600042"/>
            <a:ext cx="10972800"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FontTx/>
              <a:buChar char="•"/>
            </a:pPr>
            <a:r>
              <a:rPr lang="en-US" altLang="en-US" dirty="0"/>
              <a:t>A similarity function in information retrieval is a mathematical formula that calculates a numerical score indicating how closely a document matches a user query. </a:t>
            </a:r>
          </a:p>
          <a:p>
            <a:pPr marL="0" indent="0">
              <a:lnSpc>
                <a:spcPct val="100000"/>
              </a:lnSpc>
              <a:buFontTx/>
              <a:buChar char="•"/>
            </a:pPr>
            <a:r>
              <a:rPr lang="en-US" altLang="en-US" dirty="0"/>
              <a:t>These functions rank documents by measuring the proximity of vector representations (like term frequency) in a vector space model, with higher scores indicating higher relevance. </a:t>
            </a:r>
          </a:p>
          <a:p>
            <a:pPr marL="0" indent="0">
              <a:lnSpc>
                <a:spcPct val="100000"/>
              </a:lnSpc>
              <a:buFontTx/>
              <a:buChar char="•"/>
            </a:pPr>
            <a:r>
              <a:rPr lang="en-US" altLang="en-US" dirty="0"/>
              <a:t>Common examples include cosine, Jaccard, and Euclidean distance, typically resulting in scores between 0 and 1. </a:t>
            </a:r>
          </a:p>
          <a:p>
            <a:pPr marL="0" indent="0">
              <a:lnSpc>
                <a:spcPct val="100000"/>
              </a:lnSpc>
              <a:buNone/>
            </a:pPr>
            <a:r>
              <a:rPr lang="en-US" altLang="en-US" dirty="0"/>
              <a:t>Key Aspects of Similarity Functions</a:t>
            </a:r>
          </a:p>
          <a:p>
            <a:pPr marL="0" indent="0">
              <a:lnSpc>
                <a:spcPct val="100000"/>
              </a:lnSpc>
              <a:buFontTx/>
              <a:buChar char="•"/>
            </a:pPr>
            <a:r>
              <a:rPr lang="en-US" altLang="en-US" dirty="0"/>
              <a:t>Purpose: To rank documents by relevance, allowing retrieval systems to return the most relevant items first, rather than just exact matches.</a:t>
            </a:r>
          </a:p>
        </p:txBody>
      </p:sp>
    </p:spTree>
    <p:extLst>
      <p:ext uri="{BB962C8B-B14F-4D97-AF65-F5344CB8AC3E}">
        <p14:creationId xmlns:p14="http://schemas.microsoft.com/office/powerpoint/2010/main" val="1116978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A5218-0AA1-385D-940C-D9B7444CF722}"/>
              </a:ext>
            </a:extLst>
          </p:cNvPr>
          <p:cNvSpPr>
            <a:spLocks noGrp="1"/>
          </p:cNvSpPr>
          <p:nvPr>
            <p:ph type="title"/>
          </p:nvPr>
        </p:nvSpPr>
        <p:spPr/>
        <p:txBody>
          <a:bodyPr/>
          <a:lstStyle/>
          <a:p>
            <a:r>
              <a:rPr lang="en-US" altLang="en-US" dirty="0"/>
              <a:t>Types of Measures:</a:t>
            </a:r>
            <a:endParaRPr lang="en-US" dirty="0"/>
          </a:p>
        </p:txBody>
      </p:sp>
      <p:sp>
        <p:nvSpPr>
          <p:cNvPr id="3" name="Content Placeholder 2">
            <a:extLst>
              <a:ext uri="{FF2B5EF4-FFF2-40B4-BE49-F238E27FC236}">
                <a16:creationId xmlns:a16="http://schemas.microsoft.com/office/drawing/2014/main" id="{546100AA-041F-A10C-1B84-869A6B71FC84}"/>
              </a:ext>
            </a:extLst>
          </p:cNvPr>
          <p:cNvSpPr>
            <a:spLocks noGrp="1"/>
          </p:cNvSpPr>
          <p:nvPr>
            <p:ph idx="1"/>
          </p:nvPr>
        </p:nvSpPr>
        <p:spPr/>
        <p:txBody>
          <a:bodyPr>
            <a:normAutofit/>
          </a:bodyPr>
          <a:lstStyle/>
          <a:p>
            <a:pPr marL="0" indent="0">
              <a:lnSpc>
                <a:spcPct val="100000"/>
              </a:lnSpc>
              <a:buFontTx/>
              <a:buChar char="•"/>
            </a:pPr>
            <a:r>
              <a:rPr lang="en-US" altLang="en-US" dirty="0">
                <a:hlinkClick r:id="rId2">
                  <a:extLst>
                    <a:ext uri="{A12FA001-AC4F-418D-AE19-62706E023703}">
                      <ahyp:hlinkClr xmlns:ahyp="http://schemas.microsoft.com/office/drawing/2018/hyperlinkcolor" val="tx"/>
                    </a:ext>
                  </a:extLst>
                </a:hlinkClick>
              </a:rPr>
              <a:t>Cosine Similarity</a:t>
            </a:r>
            <a:r>
              <a:rPr lang="en-US" altLang="en-US" dirty="0"/>
              <a:t>: Measures the cosine of the angle between two vectors, focusing on the orientation rather than magnitude, which is effective for varying document lengths.</a:t>
            </a:r>
          </a:p>
          <a:p>
            <a:pPr marL="0" indent="0">
              <a:lnSpc>
                <a:spcPct val="100000"/>
              </a:lnSpc>
              <a:buFontTx/>
              <a:buChar char="•"/>
            </a:pPr>
            <a:r>
              <a:rPr lang="en-US" altLang="en-US" dirty="0">
                <a:hlinkClick r:id="rId3">
                  <a:extLst>
                    <a:ext uri="{A12FA001-AC4F-418D-AE19-62706E023703}">
                      <ahyp:hlinkClr xmlns:ahyp="http://schemas.microsoft.com/office/drawing/2018/hyperlinkcolor" val="tx"/>
                    </a:ext>
                  </a:extLst>
                </a:hlinkClick>
              </a:rPr>
              <a:t>Jaccard Similarity</a:t>
            </a:r>
            <a:r>
              <a:rPr lang="en-US" altLang="en-US" dirty="0"/>
              <a:t>: Calculates the ratio of shared terms (intersection) to the total unique terms (union) between two documents, ranging from 0 to 1.</a:t>
            </a:r>
          </a:p>
          <a:p>
            <a:pPr marL="0" indent="0">
              <a:lnSpc>
                <a:spcPct val="100000"/>
              </a:lnSpc>
              <a:buFontTx/>
              <a:buChar char="•"/>
            </a:pPr>
            <a:r>
              <a:rPr lang="en-US" altLang="en-US" dirty="0">
                <a:hlinkClick r:id="rId4">
                  <a:extLst>
                    <a:ext uri="{A12FA001-AC4F-418D-AE19-62706E023703}">
                      <ahyp:hlinkClr xmlns:ahyp="http://schemas.microsoft.com/office/drawing/2018/hyperlinkcolor" val="tx"/>
                    </a:ext>
                  </a:extLst>
                </a:hlinkClick>
              </a:rPr>
              <a:t>Euclidean Distance</a:t>
            </a:r>
            <a:r>
              <a:rPr lang="en-US" altLang="en-US" dirty="0"/>
              <a:t>: Measures the straight-line distance between two points in vector space; smaller distances indicate higher similarity.</a:t>
            </a:r>
          </a:p>
          <a:p>
            <a:endParaRPr lang="en-US" dirty="0"/>
          </a:p>
        </p:txBody>
      </p:sp>
    </p:spTree>
    <p:extLst>
      <p:ext uri="{BB962C8B-B14F-4D97-AF65-F5344CB8AC3E}">
        <p14:creationId xmlns:p14="http://schemas.microsoft.com/office/powerpoint/2010/main" val="4220402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C9B27-9412-0413-D7C0-6607404C614B}"/>
              </a:ext>
            </a:extLst>
          </p:cNvPr>
          <p:cNvSpPr>
            <a:spLocks noGrp="1"/>
          </p:cNvSpPr>
          <p:nvPr>
            <p:ph type="title"/>
          </p:nvPr>
        </p:nvSpPr>
        <p:spPr/>
        <p:txBody>
          <a:bodyPr/>
          <a:lstStyle/>
          <a:p>
            <a:r>
              <a:rPr lang="en-US" dirty="0"/>
              <a:t>Cosine Similarity</a:t>
            </a:r>
          </a:p>
        </p:txBody>
      </p:sp>
      <p:sp>
        <p:nvSpPr>
          <p:cNvPr id="3" name="Content Placeholder 2">
            <a:extLst>
              <a:ext uri="{FF2B5EF4-FFF2-40B4-BE49-F238E27FC236}">
                <a16:creationId xmlns:a16="http://schemas.microsoft.com/office/drawing/2014/main" id="{590305FE-C4E2-BECD-D71F-E08EBE128A8C}"/>
              </a:ext>
            </a:extLst>
          </p:cNvPr>
          <p:cNvSpPr>
            <a:spLocks noGrp="1"/>
          </p:cNvSpPr>
          <p:nvPr>
            <p:ph idx="1"/>
          </p:nvPr>
        </p:nvSpPr>
        <p:spPr/>
        <p:txBody>
          <a:bodyPr>
            <a:normAutofit/>
          </a:bodyPr>
          <a:lstStyle/>
          <a:p>
            <a:pPr algn="just"/>
            <a:r>
              <a:rPr lang="en-IN" dirty="0"/>
              <a:t>Cosine similarity is a widely used similarity measure that calculates the cosine of the angle between two vectors in a multi-dimensional space. In the context of text documents represented as term frequency vectors, cosine similarity computes the cosine of the angle between the vectors representing the documents.</a:t>
            </a:r>
          </a:p>
          <a:p>
            <a:pPr algn="just"/>
            <a:r>
              <a:rPr lang="en-IN" dirty="0"/>
              <a:t>Cosine similarity ranges from -1 to 1, with 1 indicating perfect similarity, 0 indicating no similarity, and -1 indicating perfect dissimilarity.</a:t>
            </a:r>
          </a:p>
          <a:p>
            <a:endParaRPr lang="en-US" dirty="0"/>
          </a:p>
        </p:txBody>
      </p:sp>
    </p:spTree>
    <p:extLst>
      <p:ext uri="{BB962C8B-B14F-4D97-AF65-F5344CB8AC3E}">
        <p14:creationId xmlns:p14="http://schemas.microsoft.com/office/powerpoint/2010/main" val="13111740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13DDF-1297-995A-D27E-41D774E88DAC}"/>
              </a:ext>
            </a:extLst>
          </p:cNvPr>
          <p:cNvSpPr>
            <a:spLocks noGrp="1"/>
          </p:cNvSpPr>
          <p:nvPr>
            <p:ph idx="1"/>
          </p:nvPr>
        </p:nvSpPr>
        <p:spPr>
          <a:xfrm>
            <a:off x="676275" y="957353"/>
            <a:ext cx="4448175" cy="4305300"/>
          </a:xfrm>
        </p:spPr>
        <p:txBody>
          <a:bodyPr>
            <a:normAutofit fontScale="55000" lnSpcReduction="20000"/>
          </a:bodyPr>
          <a:lstStyle/>
          <a:p>
            <a:pPr marL="0" indent="0">
              <a:buNone/>
            </a:pPr>
            <a:r>
              <a:rPr lang="en-IN" b="1" dirty="0"/>
              <a:t>Vocabulary (correct shared order)</a:t>
            </a:r>
          </a:p>
          <a:p>
            <a:r>
              <a:rPr lang="en-IN" dirty="0"/>
              <a:t>Let the vocabulary be:</a:t>
            </a:r>
          </a:p>
          <a:p>
            <a:r>
              <a:rPr lang="en-IN" dirty="0"/>
              <a:t>["cat", "dog"]</a:t>
            </a:r>
          </a:p>
          <a:p>
            <a:r>
              <a:rPr lang="en-IN" b="1" dirty="0"/>
              <a:t>Documents</a:t>
            </a:r>
          </a:p>
          <a:p>
            <a:r>
              <a:rPr lang="en-IN" dirty="0"/>
              <a:t>Doc1: "cat"</a:t>
            </a:r>
          </a:p>
          <a:p>
            <a:r>
              <a:rPr lang="en-IN" dirty="0"/>
              <a:t>Doc2: "dog"</a:t>
            </a:r>
          </a:p>
          <a:p>
            <a:r>
              <a:rPr lang="en-IN" b="1" dirty="0"/>
              <a:t>Correct vectors (same order for both)</a:t>
            </a:r>
          </a:p>
          <a:p>
            <a:r>
              <a:rPr lang="en-IN" dirty="0"/>
              <a:t>Using order ["</a:t>
            </a:r>
            <a:r>
              <a:rPr lang="en-IN" dirty="0" err="1"/>
              <a:t>cat","dog</a:t>
            </a:r>
            <a:r>
              <a:rPr lang="en-IN" dirty="0"/>
              <a:t>"]:</a:t>
            </a:r>
          </a:p>
          <a:p>
            <a:r>
              <a:rPr lang="en-IN" dirty="0"/>
              <a:t>Doc1 → [1, 0]</a:t>
            </a:r>
          </a:p>
          <a:p>
            <a:r>
              <a:rPr lang="en-IN" dirty="0"/>
              <a:t>Doc2 → [0, 1]</a:t>
            </a:r>
          </a:p>
          <a:p>
            <a:r>
              <a:rPr lang="en-IN" dirty="0"/>
              <a:t>Cosine similarity:</a:t>
            </a:r>
          </a:p>
          <a:p>
            <a:r>
              <a:rPr lang="en-IN" dirty="0"/>
              <a:t>dot = 1·0 + 0·1 = 0</a:t>
            </a:r>
          </a:p>
          <a:p>
            <a:r>
              <a:rPr lang="en-IN" dirty="0"/>
              <a:t>magnitudes = 1 and 1</a:t>
            </a:r>
          </a:p>
          <a:p>
            <a:r>
              <a:rPr lang="en-IN" dirty="0"/>
              <a:t>similarity = 0 / (1·1) = </a:t>
            </a:r>
            <a:r>
              <a:rPr lang="en-IN" b="1" dirty="0"/>
              <a:t>0</a:t>
            </a:r>
            <a:r>
              <a:rPr lang="en-IN" dirty="0"/>
              <a:t>  (they share no words)</a:t>
            </a:r>
          </a:p>
          <a:p>
            <a:endParaRPr lang="en-US" dirty="0"/>
          </a:p>
        </p:txBody>
      </p:sp>
      <p:sp>
        <p:nvSpPr>
          <p:cNvPr id="4" name="TextBox 3">
            <a:extLst>
              <a:ext uri="{FF2B5EF4-FFF2-40B4-BE49-F238E27FC236}">
                <a16:creationId xmlns:a16="http://schemas.microsoft.com/office/drawing/2014/main" id="{4D67503C-7A06-B777-3843-930DFD65C0D5}"/>
              </a:ext>
            </a:extLst>
          </p:cNvPr>
          <p:cNvSpPr txBox="1"/>
          <p:nvPr/>
        </p:nvSpPr>
        <p:spPr>
          <a:xfrm>
            <a:off x="6096000" y="896958"/>
            <a:ext cx="5419725" cy="3970318"/>
          </a:xfrm>
          <a:prstGeom prst="rect">
            <a:avLst/>
          </a:prstGeom>
          <a:noFill/>
        </p:spPr>
        <p:txBody>
          <a:bodyPr wrap="square" rtlCol="0">
            <a:spAutoFit/>
          </a:bodyPr>
          <a:lstStyle/>
          <a:p>
            <a:r>
              <a:rPr lang="en-IN" b="1" dirty="0"/>
              <a:t>Wrong case (different order used for Doc2)</a:t>
            </a:r>
          </a:p>
          <a:p>
            <a:r>
              <a:rPr lang="en-IN" dirty="0"/>
              <a:t>Suppose by mistake you build Doc2’s vector using reversed order:</a:t>
            </a:r>
          </a:p>
          <a:p>
            <a:r>
              <a:rPr lang="en-IN" dirty="0"/>
              <a:t>["dog", "cat"]</a:t>
            </a:r>
          </a:p>
          <a:p>
            <a:r>
              <a:rPr lang="en-IN" dirty="0"/>
              <a:t>Then:</a:t>
            </a:r>
          </a:p>
          <a:p>
            <a:r>
              <a:rPr lang="en-IN" dirty="0"/>
              <a:t>Doc1 (still using ["</a:t>
            </a:r>
            <a:r>
              <a:rPr lang="en-IN" dirty="0" err="1"/>
              <a:t>cat","dog</a:t>
            </a:r>
            <a:r>
              <a:rPr lang="en-IN" dirty="0"/>
              <a:t>"]) → [1, 0]</a:t>
            </a:r>
          </a:p>
          <a:p>
            <a:r>
              <a:rPr lang="en-IN" dirty="0"/>
              <a:t>Doc2 (using ["</a:t>
            </a:r>
            <a:r>
              <a:rPr lang="en-IN" dirty="0" err="1"/>
              <a:t>dog","cat</a:t>
            </a:r>
            <a:r>
              <a:rPr lang="en-IN" dirty="0"/>
              <a:t>"]) → [1, 0] ← because “dog” count comes first</a:t>
            </a:r>
          </a:p>
          <a:p>
            <a:r>
              <a:rPr lang="en-IN" dirty="0"/>
              <a:t>Now cosine similarity:</a:t>
            </a:r>
          </a:p>
          <a:p>
            <a:r>
              <a:rPr lang="en-IN" dirty="0"/>
              <a:t>dot = 1·1 + 0·0 = 1</a:t>
            </a:r>
          </a:p>
          <a:p>
            <a:r>
              <a:rPr lang="en-IN" dirty="0"/>
              <a:t>magnitudes = 1 and 1</a:t>
            </a:r>
          </a:p>
          <a:p>
            <a:r>
              <a:rPr lang="en-IN" dirty="0"/>
              <a:t>similarity = 1 / (1·1) = </a:t>
            </a:r>
            <a:r>
              <a:rPr lang="en-IN" b="1" dirty="0"/>
              <a:t>1</a:t>
            </a:r>
            <a:r>
              <a:rPr lang="en-IN" dirty="0"/>
              <a:t> </a:t>
            </a:r>
          </a:p>
          <a:p>
            <a:r>
              <a:rPr lang="en-IN" dirty="0"/>
              <a:t>It falsely says </a:t>
            </a:r>
            <a:r>
              <a:rPr lang="en-IN" b="1" dirty="0"/>
              <a:t>Doc1 and Doc2 are identical</a:t>
            </a:r>
            <a:r>
              <a:rPr lang="en-IN" dirty="0"/>
              <a:t>, even though they share </a:t>
            </a:r>
            <a:r>
              <a:rPr lang="en-IN" b="1" dirty="0"/>
              <a:t>zero</a:t>
            </a:r>
            <a:r>
              <a:rPr lang="en-IN" dirty="0"/>
              <a:t> common words.</a:t>
            </a:r>
          </a:p>
        </p:txBody>
      </p:sp>
      <p:sp>
        <p:nvSpPr>
          <p:cNvPr id="5" name="TextBox 4">
            <a:extLst>
              <a:ext uri="{FF2B5EF4-FFF2-40B4-BE49-F238E27FC236}">
                <a16:creationId xmlns:a16="http://schemas.microsoft.com/office/drawing/2014/main" id="{2FAA271C-3ECF-B35D-ACDF-10438DFA934A}"/>
              </a:ext>
            </a:extLst>
          </p:cNvPr>
          <p:cNvSpPr txBox="1"/>
          <p:nvPr/>
        </p:nvSpPr>
        <p:spPr>
          <a:xfrm>
            <a:off x="867728" y="5300482"/>
            <a:ext cx="11049000" cy="1200329"/>
          </a:xfrm>
          <a:prstGeom prst="rect">
            <a:avLst/>
          </a:prstGeom>
          <a:noFill/>
        </p:spPr>
        <p:txBody>
          <a:bodyPr wrap="square" rtlCol="0">
            <a:spAutoFit/>
          </a:bodyPr>
          <a:lstStyle/>
          <a:p>
            <a:r>
              <a:rPr lang="en-IN" b="1" dirty="0"/>
              <a:t>Key takeaway</a:t>
            </a:r>
          </a:p>
          <a:p>
            <a:r>
              <a:rPr lang="en-IN" dirty="0"/>
              <a:t>Cosine similarity assumes:</a:t>
            </a:r>
          </a:p>
          <a:p>
            <a:r>
              <a:rPr lang="en-IN" b="1" dirty="0"/>
              <a:t>Index 0 in both vectors represents the same word, index 1 represents the same word, etc.</a:t>
            </a:r>
            <a:endParaRPr lang="en-IN" dirty="0"/>
          </a:p>
          <a:p>
            <a:r>
              <a:rPr lang="en-IN" dirty="0"/>
              <a:t>If the order differs, you’re multiplying counts of </a:t>
            </a:r>
            <a:r>
              <a:rPr lang="en-IN" i="1" dirty="0"/>
              <a:t>different terms</a:t>
            </a:r>
            <a:r>
              <a:rPr lang="en-IN" dirty="0"/>
              <a:t> together → wrong result.</a:t>
            </a:r>
          </a:p>
        </p:txBody>
      </p:sp>
      <p:sp>
        <p:nvSpPr>
          <p:cNvPr id="6" name="TextBox 5">
            <a:extLst>
              <a:ext uri="{FF2B5EF4-FFF2-40B4-BE49-F238E27FC236}">
                <a16:creationId xmlns:a16="http://schemas.microsoft.com/office/drawing/2014/main" id="{DDF2B116-E006-FE56-1C55-959F19769C2A}"/>
              </a:ext>
            </a:extLst>
          </p:cNvPr>
          <p:cNvSpPr txBox="1"/>
          <p:nvPr/>
        </p:nvSpPr>
        <p:spPr>
          <a:xfrm>
            <a:off x="571500" y="152401"/>
            <a:ext cx="10944225" cy="646331"/>
          </a:xfrm>
          <a:prstGeom prst="rect">
            <a:avLst/>
          </a:prstGeom>
          <a:noFill/>
        </p:spPr>
        <p:txBody>
          <a:bodyPr wrap="square" rtlCol="0">
            <a:spAutoFit/>
          </a:bodyPr>
          <a:lstStyle/>
          <a:p>
            <a:r>
              <a:rPr lang="en-IN" dirty="0"/>
              <a:t>cosine similarity becomes </a:t>
            </a:r>
            <a:r>
              <a:rPr lang="en-IN" b="1" dirty="0"/>
              <a:t>wrong</a:t>
            </a:r>
            <a:r>
              <a:rPr lang="en-IN" dirty="0"/>
              <a:t> if the two document vectors don’t use the </a:t>
            </a:r>
            <a:r>
              <a:rPr lang="en-IN" b="1" dirty="0"/>
              <a:t>same word order</a:t>
            </a:r>
            <a:r>
              <a:rPr lang="en-IN" dirty="0"/>
              <a:t> (same feature alignment).</a:t>
            </a:r>
          </a:p>
        </p:txBody>
      </p:sp>
    </p:spTree>
    <p:extLst>
      <p:ext uri="{BB962C8B-B14F-4D97-AF65-F5344CB8AC3E}">
        <p14:creationId xmlns:p14="http://schemas.microsoft.com/office/powerpoint/2010/main" val="20245225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1D10-6005-D9BC-3BFC-941BEF317B4D}"/>
              </a:ext>
            </a:extLst>
          </p:cNvPr>
          <p:cNvSpPr>
            <a:spLocks noGrp="1"/>
          </p:cNvSpPr>
          <p:nvPr>
            <p:ph type="title"/>
          </p:nvPr>
        </p:nvSpPr>
        <p:spPr/>
        <p:txBody>
          <a:bodyPr/>
          <a:lstStyle/>
          <a:p>
            <a:r>
              <a:rPr lang="en-US" dirty="0"/>
              <a:t>Jaccard Similarity</a:t>
            </a:r>
          </a:p>
        </p:txBody>
      </p:sp>
      <p:sp>
        <p:nvSpPr>
          <p:cNvPr id="3" name="Content Placeholder 2">
            <a:extLst>
              <a:ext uri="{FF2B5EF4-FFF2-40B4-BE49-F238E27FC236}">
                <a16:creationId xmlns:a16="http://schemas.microsoft.com/office/drawing/2014/main" id="{89CB9E06-7DE5-A82F-C94C-D74419463F73}"/>
              </a:ext>
            </a:extLst>
          </p:cNvPr>
          <p:cNvSpPr>
            <a:spLocks noGrp="1"/>
          </p:cNvSpPr>
          <p:nvPr>
            <p:ph idx="1"/>
          </p:nvPr>
        </p:nvSpPr>
        <p:spPr/>
        <p:txBody>
          <a:bodyPr>
            <a:normAutofit fontScale="92500"/>
          </a:bodyPr>
          <a:lstStyle/>
          <a:p>
            <a:pPr algn="just"/>
            <a:r>
              <a:rPr lang="en-IN" dirty="0"/>
              <a:t>In information retrieval, </a:t>
            </a:r>
            <a:r>
              <a:rPr lang="en-IN" b="1" dirty="0"/>
              <a:t>Jaccard similarity</a:t>
            </a:r>
            <a:r>
              <a:rPr lang="en-IN" dirty="0"/>
              <a:t> (or Jaccard index) is a metric used to measure the overlap between a user's query and a document. It treats both the query and the document as sets of unique terms and is calculated as the size of their intersection divided by the size of their union. </a:t>
            </a:r>
          </a:p>
          <a:p>
            <a:pPr algn="just"/>
            <a:r>
              <a:rPr lang="en-IN" dirty="0"/>
              <a:t>Jaccard similarity is a measure of similarity between two sets defined as the size of the intersection divided by the size of the union of the sets. In the context of text documents, Jaccard similarity is often used to compare the overlap of terms between two documents.</a:t>
            </a:r>
          </a:p>
          <a:p>
            <a:pPr algn="just"/>
            <a:r>
              <a:rPr lang="en-IN" dirty="0"/>
              <a:t>Jaccard similarity ranges from 0 to 1, with 1 indicating perfect similarity and 0 indicating no similarity.</a:t>
            </a:r>
          </a:p>
          <a:p>
            <a:endParaRPr lang="en-US" dirty="0"/>
          </a:p>
        </p:txBody>
      </p:sp>
    </p:spTree>
    <p:extLst>
      <p:ext uri="{BB962C8B-B14F-4D97-AF65-F5344CB8AC3E}">
        <p14:creationId xmlns:p14="http://schemas.microsoft.com/office/powerpoint/2010/main" val="3018065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67A0C-4C4B-BE54-E0B7-1DFE4F1B55E9}"/>
              </a:ext>
            </a:extLst>
          </p:cNvPr>
          <p:cNvSpPr>
            <a:spLocks noGrp="1"/>
          </p:cNvSpPr>
          <p:nvPr>
            <p:ph type="title"/>
          </p:nvPr>
        </p:nvSpPr>
        <p:spPr/>
        <p:txBody>
          <a:bodyPr/>
          <a:lstStyle/>
          <a:p>
            <a:r>
              <a:rPr lang="en-US" dirty="0"/>
              <a:t>Jaccard Similarity</a:t>
            </a:r>
          </a:p>
        </p:txBody>
      </p:sp>
      <p:pic>
        <p:nvPicPr>
          <p:cNvPr id="4" name="Content Placeholder 3">
            <a:extLst>
              <a:ext uri="{FF2B5EF4-FFF2-40B4-BE49-F238E27FC236}">
                <a16:creationId xmlns:a16="http://schemas.microsoft.com/office/drawing/2014/main" id="{2384242D-DA7F-7521-FB5B-4BE624185A96}"/>
              </a:ext>
            </a:extLst>
          </p:cNvPr>
          <p:cNvPicPr>
            <a:picLocks noGrp="1" noChangeAspect="1"/>
          </p:cNvPicPr>
          <p:nvPr>
            <p:ph idx="1"/>
          </p:nvPr>
        </p:nvPicPr>
        <p:blipFill>
          <a:blip r:embed="rId2"/>
          <a:stretch>
            <a:fillRect/>
          </a:stretch>
        </p:blipFill>
        <p:spPr>
          <a:xfrm>
            <a:off x="1092200" y="1825625"/>
            <a:ext cx="10261600" cy="4351338"/>
          </a:xfrm>
          <a:prstGeom prst="rect">
            <a:avLst/>
          </a:prstGeom>
        </p:spPr>
      </p:pic>
    </p:spTree>
    <p:extLst>
      <p:ext uri="{BB962C8B-B14F-4D97-AF65-F5344CB8AC3E}">
        <p14:creationId xmlns:p14="http://schemas.microsoft.com/office/powerpoint/2010/main" val="1783890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258F6FE-92DE-122B-C734-B71331654C06}"/>
              </a:ext>
            </a:extLst>
          </p:cNvPr>
          <p:cNvSpPr>
            <a:spLocks noChangeArrowheads="1"/>
          </p:cNvSpPr>
          <p:nvPr/>
        </p:nvSpPr>
        <p:spPr bwMode="auto">
          <a:xfrm>
            <a:off x="0" y="355283"/>
            <a:ext cx="124841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Consider a query and two documents after basic text processing (tokenization and removal of stop words like "the", "in", "of"):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Arial" panose="020B0604020202020204" pitchFamily="34" charset="0"/>
              </a:rPr>
              <a:t>Query (Q):</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ides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Document 1 (D1):</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err="1">
                <a:ln>
                  <a:noFill/>
                </a:ln>
                <a:solidFill>
                  <a:schemeClr val="tx1"/>
                </a:solidFill>
                <a:effectLst/>
                <a:latin typeface="Arial" panose="020B0604020202020204" pitchFamily="34" charset="0"/>
              </a:rPr>
              <a:t>caesar</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died</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Document 2 (D2):</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long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Calculation for Document 1:</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𝑄∩𝐷1 :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(1 common term)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𝑄∪𝐷1 : {</a:t>
            </a:r>
            <a:r>
              <a:rPr kumimoji="0" lang="en-US" altLang="en-US" sz="2800" b="0" i="1" u="none" strike="noStrike" cap="none" normalizeH="0" baseline="0" dirty="0">
                <a:ln>
                  <a:noFill/>
                </a:ln>
                <a:solidFill>
                  <a:schemeClr val="tx1"/>
                </a:solidFill>
                <a:effectLst/>
                <a:latin typeface="Arial" panose="020B0604020202020204" pitchFamily="34" charset="0"/>
              </a:rPr>
              <a:t>ides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err="1">
                <a:ln>
                  <a:noFill/>
                </a:ln>
                <a:solidFill>
                  <a:schemeClr val="tx1"/>
                </a:solidFill>
                <a:effectLst/>
                <a:latin typeface="Arial" panose="020B0604020202020204" pitchFamily="34" charset="0"/>
              </a:rPr>
              <a:t>caesar</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died</a:t>
            </a:r>
            <a:r>
              <a:rPr kumimoji="0" lang="en-US" altLang="en-US" sz="2800" b="0" i="0" u="none" strike="noStrike" cap="none" normalizeH="0" baseline="0" dirty="0">
                <a:ln>
                  <a:noFill/>
                </a:ln>
                <a:solidFill>
                  <a:schemeClr val="tx1"/>
                </a:solidFill>
                <a:effectLst/>
                <a:latin typeface="Arial" panose="020B0604020202020204" pitchFamily="34" charset="0"/>
              </a:rPr>
              <a:t>} (4 unique terms)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J(Q,D1)=1/4=0.25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Calculation for Document 2:</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𝑄∩𝐷2 :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(1 common term)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𝑄∪𝐷2 : {</a:t>
            </a:r>
            <a:r>
              <a:rPr kumimoji="0" lang="en-US" altLang="en-US" sz="2800" b="0" i="1" u="none" strike="noStrike" cap="none" normalizeH="0" baseline="0" dirty="0">
                <a:ln>
                  <a:noFill/>
                </a:ln>
                <a:solidFill>
                  <a:schemeClr val="tx1"/>
                </a:solidFill>
                <a:effectLst/>
                <a:latin typeface="Arial" panose="020B0604020202020204" pitchFamily="34" charset="0"/>
              </a:rPr>
              <a:t>ides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long</a:t>
            </a:r>
            <a:r>
              <a:rPr kumimoji="0" lang="en-US" altLang="en-US" sz="2800" b="0" i="0" u="none" strike="noStrike" cap="none" normalizeH="0" baseline="0" dirty="0">
                <a:ln>
                  <a:noFill/>
                </a:ln>
                <a:solidFill>
                  <a:schemeClr val="tx1"/>
                </a:solidFill>
                <a:effectLst/>
                <a:latin typeface="Arial" panose="020B0604020202020204" pitchFamily="34" charset="0"/>
              </a:rPr>
              <a:t>} (3 unique terms)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J(Q,D2)=1/3≈0.33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Based on Jaccard similarity, Document 2 is considered slightly more relevant to the query than Document 1, as it has a higher Jaccard score. </a:t>
            </a:r>
          </a:p>
        </p:txBody>
      </p:sp>
      <p:pic>
        <p:nvPicPr>
          <p:cNvPr id="2050" name="Picture 2">
            <a:extLst>
              <a:ext uri="{FF2B5EF4-FFF2-40B4-BE49-F238E27FC236}">
                <a16:creationId xmlns:a16="http://schemas.microsoft.com/office/drawing/2014/main" id="{8DFC38E3-7ACC-3C1A-3342-B1BE155456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287972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a:extLst>
              <a:ext uri="{FF2B5EF4-FFF2-40B4-BE49-F238E27FC236}">
                <a16:creationId xmlns:a16="http://schemas.microsoft.com/office/drawing/2014/main" id="{68C30932-5B7A-4E40-97A3-2D0CFBBFE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782763"/>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75D999F-6140-AA73-90AA-EAD67E56B5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685800"/>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a:extLst>
              <a:ext uri="{FF2B5EF4-FFF2-40B4-BE49-F238E27FC236}">
                <a16:creationId xmlns:a16="http://schemas.microsoft.com/office/drawing/2014/main" id="{B99CA20B-B51C-9259-2153-FDAEBD363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685800"/>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1D76075F-E85A-6AAD-E465-6FDDC38D2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782763"/>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a:extLst>
              <a:ext uri="{FF2B5EF4-FFF2-40B4-BE49-F238E27FC236}">
                <a16:creationId xmlns:a16="http://schemas.microsoft.com/office/drawing/2014/main" id="{A7B5B006-2F4B-6B33-D241-3CBC287FB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2879725"/>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6425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029703E-7237-1EFC-3FD8-17140CC6A50B}"/>
              </a:ext>
            </a:extLst>
          </p:cNvPr>
          <p:cNvSpPr>
            <a:spLocks noGrp="1" noChangeArrowheads="1"/>
          </p:cNvSpPr>
          <p:nvPr>
            <p:ph type="title"/>
          </p:nvPr>
        </p:nvSpPr>
        <p:spPr bwMode="auto">
          <a:xfrm>
            <a:off x="838200" y="366187"/>
            <a:ext cx="6372963" cy="13234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Advantages</a:t>
            </a:r>
            <a:r>
              <a:rPr kumimoji="0" lang="en-US" altLang="en-US" sz="1500" b="1" i="0" u="none" strike="noStrike" cap="none" normalizeH="0" baseline="0" dirty="0">
                <a:ln>
                  <a:noFill/>
                </a:ln>
                <a:solidFill>
                  <a:srgbClr val="001D35"/>
                </a:solidFill>
                <a:effectLst/>
                <a:latin typeface="Google Sans"/>
              </a:rPr>
              <a:t> </a:t>
            </a:r>
            <a:r>
              <a:rPr lang="en-US" altLang="en-US" dirty="0"/>
              <a:t>and Limitations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87A76472-DF82-9E0F-EF6C-AADFB8F6B651}"/>
              </a:ext>
            </a:extLst>
          </p:cNvPr>
          <p:cNvSpPr>
            <a:spLocks noGrp="1" noChangeArrowheads="1"/>
          </p:cNvSpPr>
          <p:nvPr>
            <p:ph idx="1"/>
          </p:nvPr>
        </p:nvSpPr>
        <p:spPr bwMode="auto">
          <a:xfrm>
            <a:off x="1002081" y="1256467"/>
            <a:ext cx="11150600" cy="560153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FontTx/>
              <a:buChar char="•"/>
            </a:pPr>
            <a:r>
              <a:rPr lang="en-US" altLang="en-US" dirty="0"/>
              <a:t>Simple and intuitive: It is easy to understand and implement.</a:t>
            </a:r>
          </a:p>
          <a:p>
            <a:pPr marL="0" indent="0">
              <a:lnSpc>
                <a:spcPct val="100000"/>
              </a:lnSpc>
              <a:buFontTx/>
              <a:buChar char="•"/>
            </a:pPr>
            <a:r>
              <a:rPr lang="en-US" altLang="en-US" dirty="0"/>
              <a:t>Effective for set-based similarity: Works well when only the presence or absence of terms matters.</a:t>
            </a:r>
          </a:p>
          <a:p>
            <a:pPr marL="0" indent="0">
              <a:lnSpc>
                <a:spcPct val="100000"/>
              </a:lnSpc>
              <a:buFontTx/>
              <a:buChar char="•"/>
            </a:pPr>
            <a:r>
              <a:rPr lang="en-US" altLang="en-US" dirty="0"/>
              <a:t>Handles different sizes: The query and document do not need to be the same size for the calculation. </a:t>
            </a:r>
          </a:p>
          <a:p>
            <a:pPr marL="0" indent="0">
              <a:lnSpc>
                <a:spcPct val="100000"/>
              </a:lnSpc>
              <a:buFontTx/>
              <a:buNone/>
            </a:pPr>
            <a:r>
              <a:rPr lang="en-US" altLang="en-US" b="1" dirty="0"/>
              <a:t>Limitations:</a:t>
            </a:r>
          </a:p>
          <a:p>
            <a:pPr marL="0" indent="0">
              <a:lnSpc>
                <a:spcPct val="100000"/>
              </a:lnSpc>
              <a:buFontTx/>
              <a:buChar char="•"/>
            </a:pPr>
            <a:r>
              <a:rPr lang="en-US" altLang="en-US" dirty="0"/>
              <a:t>Ignores term frequency: It does not consider how many times a term appears, only whether it is present.</a:t>
            </a:r>
          </a:p>
          <a:p>
            <a:pPr marL="0" indent="0">
              <a:lnSpc>
                <a:spcPct val="100000"/>
              </a:lnSpc>
              <a:buFontTx/>
              <a:buChar char="•"/>
            </a:pPr>
            <a:r>
              <a:rPr lang="en-US" altLang="en-US" dirty="0"/>
              <a:t>Ignores term importance/weighting: Rare, more informative terms are treated the same as common, less informative terms.</a:t>
            </a:r>
          </a:p>
          <a:p>
            <a:pPr marL="0" indent="0">
              <a:lnSpc>
                <a:spcPct val="100000"/>
              </a:lnSpc>
              <a:buFontTx/>
              <a:buChar char="•"/>
            </a:pPr>
            <a:r>
              <a:rPr lang="en-US" altLang="en-US" dirty="0"/>
              <a:t>Sensitive to document length: It can yield low scores for very long documents that have a small overlap with a short query, even if the overlap is highly relevant. </a:t>
            </a:r>
          </a:p>
        </p:txBody>
      </p:sp>
    </p:spTree>
    <p:extLst>
      <p:ext uri="{BB962C8B-B14F-4D97-AF65-F5344CB8AC3E}">
        <p14:creationId xmlns:p14="http://schemas.microsoft.com/office/powerpoint/2010/main" val="1997667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B63A-CE2C-0E43-605E-307FDCA5E6BE}"/>
              </a:ext>
            </a:extLst>
          </p:cNvPr>
          <p:cNvSpPr>
            <a:spLocks noGrp="1"/>
          </p:cNvSpPr>
          <p:nvPr>
            <p:ph type="title"/>
          </p:nvPr>
        </p:nvSpPr>
        <p:spPr/>
        <p:txBody>
          <a:bodyPr/>
          <a:lstStyle/>
          <a:p>
            <a:r>
              <a:rPr lang="en-US" dirty="0"/>
              <a:t>Euclidean Distance</a:t>
            </a:r>
            <a:br>
              <a:rPr lang="en-US" dirty="0"/>
            </a:br>
            <a:endParaRPr lang="en-US" dirty="0"/>
          </a:p>
        </p:txBody>
      </p:sp>
      <p:sp>
        <p:nvSpPr>
          <p:cNvPr id="3" name="Content Placeholder 2">
            <a:extLst>
              <a:ext uri="{FF2B5EF4-FFF2-40B4-BE49-F238E27FC236}">
                <a16:creationId xmlns:a16="http://schemas.microsoft.com/office/drawing/2014/main" id="{66D4CC3A-E319-BA5D-4208-859D063B581C}"/>
              </a:ext>
            </a:extLst>
          </p:cNvPr>
          <p:cNvSpPr>
            <a:spLocks noGrp="1"/>
          </p:cNvSpPr>
          <p:nvPr>
            <p:ph idx="1"/>
          </p:nvPr>
        </p:nvSpPr>
        <p:spPr/>
        <p:txBody>
          <a:bodyPr/>
          <a:lstStyle/>
          <a:p>
            <a:r>
              <a:rPr lang="en-US" dirty="0"/>
              <a:t>Euclidean distance measures the straight-line distance between two points in a multi-dimensional space. In the context of text documents represented as vectors, Euclidean distance calculates the length of the straight line connecting the two vectors.</a:t>
            </a:r>
          </a:p>
          <a:p>
            <a:r>
              <a:rPr lang="en-US" dirty="0"/>
              <a:t>Lower values of Euclidean distance indicate higher similarity between </a:t>
            </a:r>
            <a:r>
              <a:rPr lang="en-IN" i="1" dirty="0"/>
              <a:t>documents.</a:t>
            </a:r>
            <a:endParaRPr lang="en-IN" dirty="0"/>
          </a:p>
          <a:p>
            <a:endParaRPr lang="en-US" dirty="0"/>
          </a:p>
          <a:p>
            <a:pPr marL="0" indent="0">
              <a:buNone/>
            </a:pPr>
            <a:endParaRPr lang="en-US" dirty="0"/>
          </a:p>
        </p:txBody>
      </p:sp>
      <p:pic>
        <p:nvPicPr>
          <p:cNvPr id="4" name="Picture 3">
            <a:extLst>
              <a:ext uri="{FF2B5EF4-FFF2-40B4-BE49-F238E27FC236}">
                <a16:creationId xmlns:a16="http://schemas.microsoft.com/office/drawing/2014/main" id="{7171C260-2EF4-02D5-3423-D62F67EDC64A}"/>
              </a:ext>
            </a:extLst>
          </p:cNvPr>
          <p:cNvPicPr>
            <a:picLocks noChangeAspect="1"/>
          </p:cNvPicPr>
          <p:nvPr/>
        </p:nvPicPr>
        <p:blipFill>
          <a:blip r:embed="rId2"/>
          <a:stretch>
            <a:fillRect/>
          </a:stretch>
        </p:blipFill>
        <p:spPr>
          <a:xfrm>
            <a:off x="3282950" y="4927600"/>
            <a:ext cx="5168900" cy="889000"/>
          </a:xfrm>
          <a:prstGeom prst="rect">
            <a:avLst/>
          </a:prstGeom>
        </p:spPr>
      </p:pic>
    </p:spTree>
    <p:extLst>
      <p:ext uri="{BB962C8B-B14F-4D97-AF65-F5344CB8AC3E}">
        <p14:creationId xmlns:p14="http://schemas.microsoft.com/office/powerpoint/2010/main" val="2476436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D107-E61A-304C-5E1E-33473F4484A5}"/>
              </a:ext>
            </a:extLst>
          </p:cNvPr>
          <p:cNvSpPr>
            <a:spLocks noGrp="1"/>
          </p:cNvSpPr>
          <p:nvPr>
            <p:ph type="title"/>
          </p:nvPr>
        </p:nvSpPr>
        <p:spPr/>
        <p:txBody>
          <a:bodyPr/>
          <a:lstStyle/>
          <a:p>
            <a:r>
              <a:rPr lang="en-US" dirty="0"/>
              <a:t>Manhattan Distance</a:t>
            </a:r>
            <a:br>
              <a:rPr lang="en-US" dirty="0"/>
            </a:br>
            <a:endParaRPr lang="en-US" dirty="0"/>
          </a:p>
        </p:txBody>
      </p:sp>
      <p:sp>
        <p:nvSpPr>
          <p:cNvPr id="3" name="Content Placeholder 2">
            <a:extLst>
              <a:ext uri="{FF2B5EF4-FFF2-40B4-BE49-F238E27FC236}">
                <a16:creationId xmlns:a16="http://schemas.microsoft.com/office/drawing/2014/main" id="{0076001E-23EE-C761-3B52-8D2B02FA64AA}"/>
              </a:ext>
            </a:extLst>
          </p:cNvPr>
          <p:cNvSpPr>
            <a:spLocks noGrp="1"/>
          </p:cNvSpPr>
          <p:nvPr>
            <p:ph idx="1"/>
          </p:nvPr>
        </p:nvSpPr>
        <p:spPr/>
        <p:txBody>
          <a:bodyPr>
            <a:normAutofit/>
          </a:bodyPr>
          <a:lstStyle/>
          <a:p>
            <a:r>
              <a:rPr lang="en-US" dirty="0"/>
              <a:t>Manhattan distance, also known as city block distance or taxicab distance, measures the distance between two points by summing the absolute differences of their coordinates. </a:t>
            </a:r>
          </a:p>
          <a:p>
            <a:r>
              <a:rPr lang="en-US" dirty="0"/>
              <a:t>In the context of text documents, Manhattan distance calculates the sum of the absolute differences between the corresponding elements of the vectors representing the documents.</a:t>
            </a:r>
          </a:p>
          <a:p>
            <a:r>
              <a:rPr lang="en-US" dirty="0"/>
              <a:t>Like Euclidean distance, lower values of Manhattan distance indicate higher similarity between documents</a:t>
            </a:r>
          </a:p>
          <a:p>
            <a:endParaRPr lang="en-US" dirty="0"/>
          </a:p>
        </p:txBody>
      </p:sp>
    </p:spTree>
    <p:extLst>
      <p:ext uri="{BB962C8B-B14F-4D97-AF65-F5344CB8AC3E}">
        <p14:creationId xmlns:p14="http://schemas.microsoft.com/office/powerpoint/2010/main" val="512622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07A4F-8949-5303-486F-D475CC2173A9}"/>
              </a:ext>
            </a:extLst>
          </p:cNvPr>
          <p:cNvSpPr>
            <a:spLocks noGrp="1"/>
          </p:cNvSpPr>
          <p:nvPr>
            <p:ph type="title"/>
          </p:nvPr>
        </p:nvSpPr>
        <p:spPr/>
        <p:txBody>
          <a:bodyPr/>
          <a:lstStyle/>
          <a:p>
            <a:r>
              <a:rPr lang="en-US" dirty="0"/>
              <a:t>Dice Coefficient</a:t>
            </a:r>
            <a:br>
              <a:rPr lang="en-US" dirty="0"/>
            </a:br>
            <a:endParaRPr lang="en-US" dirty="0"/>
          </a:p>
        </p:txBody>
      </p:sp>
      <p:sp>
        <p:nvSpPr>
          <p:cNvPr id="3" name="Content Placeholder 2">
            <a:extLst>
              <a:ext uri="{FF2B5EF4-FFF2-40B4-BE49-F238E27FC236}">
                <a16:creationId xmlns:a16="http://schemas.microsoft.com/office/drawing/2014/main" id="{B0E04FC5-EF8F-609F-E9E4-86EE299DFD8F}"/>
              </a:ext>
            </a:extLst>
          </p:cNvPr>
          <p:cNvSpPr>
            <a:spLocks noGrp="1"/>
          </p:cNvSpPr>
          <p:nvPr>
            <p:ph idx="1"/>
          </p:nvPr>
        </p:nvSpPr>
        <p:spPr/>
        <p:txBody>
          <a:bodyPr/>
          <a:lstStyle/>
          <a:p>
            <a:pPr algn="just"/>
            <a:r>
              <a:rPr lang="en-US" dirty="0"/>
              <a:t>The Dice coefficient is another similarity measure commonly used for comparing the similarity between two sets. In the context of text documents, it calculates the ratio of the size of the intersection of terms to the total number of terms in both documents.</a:t>
            </a:r>
          </a:p>
          <a:p>
            <a:pPr algn="just"/>
            <a:r>
              <a:rPr lang="en-US" dirty="0"/>
              <a:t>The Dice coefficient ranges from 0 to 1, with 1 indicating perfect similarity and 0 indicating no similarity.</a:t>
            </a:r>
          </a:p>
          <a:p>
            <a:pPr algn="just"/>
            <a:endParaRPr lang="en-US" dirty="0"/>
          </a:p>
          <a:p>
            <a:endParaRPr lang="en-US" dirty="0"/>
          </a:p>
        </p:txBody>
      </p:sp>
      <p:pic>
        <p:nvPicPr>
          <p:cNvPr id="4" name="Picture 3">
            <a:extLst>
              <a:ext uri="{FF2B5EF4-FFF2-40B4-BE49-F238E27FC236}">
                <a16:creationId xmlns:a16="http://schemas.microsoft.com/office/drawing/2014/main" id="{9865B8D1-E93E-28F5-678F-C131927619A1}"/>
              </a:ext>
            </a:extLst>
          </p:cNvPr>
          <p:cNvPicPr>
            <a:picLocks noChangeAspect="1"/>
          </p:cNvPicPr>
          <p:nvPr/>
        </p:nvPicPr>
        <p:blipFill>
          <a:blip r:embed="rId2"/>
          <a:stretch>
            <a:fillRect/>
          </a:stretch>
        </p:blipFill>
        <p:spPr>
          <a:xfrm>
            <a:off x="3924300" y="4965700"/>
            <a:ext cx="4343400" cy="1346200"/>
          </a:xfrm>
          <a:prstGeom prst="rect">
            <a:avLst/>
          </a:prstGeom>
        </p:spPr>
      </p:pic>
    </p:spTree>
    <p:extLst>
      <p:ext uri="{BB962C8B-B14F-4D97-AF65-F5344CB8AC3E}">
        <p14:creationId xmlns:p14="http://schemas.microsoft.com/office/powerpoint/2010/main" val="18174090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A95C9-03ED-4EB6-9BB7-7CFDBCEC0045}"/>
              </a:ext>
            </a:extLst>
          </p:cNvPr>
          <p:cNvSpPr>
            <a:spLocks noGrp="1"/>
          </p:cNvSpPr>
          <p:nvPr>
            <p:ph type="title"/>
          </p:nvPr>
        </p:nvSpPr>
        <p:spPr/>
        <p:txBody>
          <a:bodyPr/>
          <a:lstStyle/>
          <a:p>
            <a:r>
              <a:rPr lang="en-US" dirty="0" err="1"/>
              <a:t>Levenshtein</a:t>
            </a:r>
            <a:r>
              <a:rPr lang="en-US" dirty="0"/>
              <a:t> Distance</a:t>
            </a:r>
            <a:br>
              <a:rPr lang="en-US" dirty="0"/>
            </a:br>
            <a:endParaRPr lang="en-US" dirty="0"/>
          </a:p>
        </p:txBody>
      </p:sp>
      <p:sp>
        <p:nvSpPr>
          <p:cNvPr id="3" name="Content Placeholder 2">
            <a:extLst>
              <a:ext uri="{FF2B5EF4-FFF2-40B4-BE49-F238E27FC236}">
                <a16:creationId xmlns:a16="http://schemas.microsoft.com/office/drawing/2014/main" id="{BD87BB13-BE10-1702-85AF-1D37056113A8}"/>
              </a:ext>
            </a:extLst>
          </p:cNvPr>
          <p:cNvSpPr>
            <a:spLocks noGrp="1"/>
          </p:cNvSpPr>
          <p:nvPr>
            <p:ph idx="1"/>
          </p:nvPr>
        </p:nvSpPr>
        <p:spPr/>
        <p:txBody>
          <a:bodyPr/>
          <a:lstStyle/>
          <a:p>
            <a:r>
              <a:rPr lang="en-US" dirty="0" err="1"/>
              <a:t>Levenshtein</a:t>
            </a:r>
            <a:r>
              <a:rPr lang="en-US" dirty="0"/>
              <a:t> distance, also known as edit distance, measures the minimum number of single character edits (insertions, deletions, or substitutions) required to change one string into another.</a:t>
            </a:r>
          </a:p>
          <a:p>
            <a:r>
              <a:rPr lang="en-US" dirty="0"/>
              <a:t>In the context of text documents, </a:t>
            </a:r>
            <a:r>
              <a:rPr lang="en-US" dirty="0" err="1"/>
              <a:t>Levenshtein</a:t>
            </a:r>
            <a:r>
              <a:rPr lang="en-US" dirty="0"/>
              <a:t> distance can be used to compare the similarity between two text strings.</a:t>
            </a:r>
          </a:p>
          <a:p>
            <a:r>
              <a:rPr lang="en-US" dirty="0"/>
              <a:t>Lower values of </a:t>
            </a:r>
            <a:r>
              <a:rPr lang="en-US" dirty="0" err="1"/>
              <a:t>Levenshtein</a:t>
            </a:r>
            <a:r>
              <a:rPr lang="en-US" dirty="0"/>
              <a:t> distance indicate higher similarity between text strings.</a:t>
            </a:r>
          </a:p>
          <a:p>
            <a:endParaRPr lang="en-US" dirty="0"/>
          </a:p>
        </p:txBody>
      </p:sp>
    </p:spTree>
    <p:extLst>
      <p:ext uri="{BB962C8B-B14F-4D97-AF65-F5344CB8AC3E}">
        <p14:creationId xmlns:p14="http://schemas.microsoft.com/office/powerpoint/2010/main" val="4027447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AB6D81-4690-A216-F081-9CCBD2DBF9FE}"/>
              </a:ext>
            </a:extLst>
          </p:cNvPr>
          <p:cNvSpPr>
            <a:spLocks noGrp="1"/>
          </p:cNvSpPr>
          <p:nvPr>
            <p:ph idx="1"/>
          </p:nvPr>
        </p:nvSpPr>
        <p:spPr>
          <a:xfrm>
            <a:off x="838200" y="0"/>
            <a:ext cx="10515600" cy="6858000"/>
          </a:xfrm>
        </p:spPr>
        <p:txBody>
          <a:bodyPr>
            <a:normAutofit fontScale="55000" lnSpcReduction="20000"/>
          </a:bodyPr>
          <a:lstStyle/>
          <a:p>
            <a:r>
              <a:rPr lang="en-IN" dirty="0" err="1"/>
              <a:t>Levenshtein</a:t>
            </a:r>
            <a:r>
              <a:rPr lang="en-IN" dirty="0"/>
              <a:t> Distance measures </a:t>
            </a:r>
            <a:r>
              <a:rPr lang="en-IN" b="1" dirty="0"/>
              <a:t>how many edits are needed to change one word into another</a:t>
            </a:r>
            <a:r>
              <a:rPr lang="en-IN" dirty="0"/>
              <a:t>.</a:t>
            </a:r>
            <a:br>
              <a:rPr lang="en-IN" dirty="0"/>
            </a:br>
            <a:endParaRPr lang="en-IN" dirty="0"/>
          </a:p>
          <a:p>
            <a:r>
              <a:rPr lang="en-IN" b="1" dirty="0"/>
              <a:t>Allowed Operations</a:t>
            </a:r>
          </a:p>
          <a:p>
            <a:r>
              <a:rPr lang="en-IN" dirty="0"/>
              <a:t>Only 3 operations are allowed:</a:t>
            </a:r>
          </a:p>
          <a:p>
            <a:r>
              <a:rPr lang="en-IN" b="1" dirty="0"/>
              <a:t>Insertion</a:t>
            </a:r>
            <a:r>
              <a:rPr lang="en-IN" dirty="0"/>
              <a:t> → Add a character</a:t>
            </a:r>
            <a:br>
              <a:rPr lang="en-IN" dirty="0"/>
            </a:br>
            <a:r>
              <a:rPr lang="en-IN" b="1" dirty="0"/>
              <a:t>Deletion</a:t>
            </a:r>
            <a:r>
              <a:rPr lang="en-IN" dirty="0"/>
              <a:t> → Remove a character</a:t>
            </a:r>
            <a:br>
              <a:rPr lang="en-IN" dirty="0"/>
            </a:br>
            <a:r>
              <a:rPr lang="en-IN" b="1" dirty="0"/>
              <a:t>Substitution</a:t>
            </a:r>
            <a:r>
              <a:rPr lang="en-IN" dirty="0"/>
              <a:t> → Replace a character</a:t>
            </a:r>
            <a:br>
              <a:rPr lang="en-IN" dirty="0"/>
            </a:br>
            <a:endParaRPr lang="en-IN" dirty="0"/>
          </a:p>
          <a:p>
            <a:r>
              <a:rPr lang="en-IN" b="1" dirty="0"/>
              <a:t>Simple Example</a:t>
            </a:r>
          </a:p>
          <a:p>
            <a:pPr marL="0" indent="0">
              <a:buNone/>
            </a:pPr>
            <a:r>
              <a:rPr lang="en-IN" dirty="0"/>
              <a:t>Convert: cat → cut</a:t>
            </a:r>
          </a:p>
          <a:p>
            <a:pPr marL="0" indent="0">
              <a:buNone/>
            </a:pPr>
            <a:r>
              <a:rPr lang="en-IN" dirty="0"/>
              <a:t>Operation:</a:t>
            </a:r>
          </a:p>
          <a:p>
            <a:pPr marL="0" indent="0">
              <a:buNone/>
            </a:pPr>
            <a:r>
              <a:rPr lang="en-IN" dirty="0"/>
              <a:t>a → u (substitution)</a:t>
            </a:r>
          </a:p>
          <a:p>
            <a:pPr marL="0" indent="0">
              <a:buNone/>
            </a:pPr>
            <a:r>
              <a:rPr lang="en-IN" dirty="0"/>
              <a:t>Distance = 1</a:t>
            </a:r>
          </a:p>
          <a:p>
            <a:r>
              <a:rPr lang="en-IN" b="1" dirty="0"/>
              <a:t>Another Example</a:t>
            </a:r>
          </a:p>
          <a:p>
            <a:pPr marL="0" indent="0">
              <a:buNone/>
            </a:pPr>
            <a:r>
              <a:rPr lang="en-IN" dirty="0"/>
              <a:t>kitten → sitting</a:t>
            </a:r>
          </a:p>
          <a:p>
            <a:pPr marL="0" indent="0">
              <a:buNone/>
            </a:pPr>
            <a:r>
              <a:rPr lang="en-IN" dirty="0"/>
              <a:t>Operations:</a:t>
            </a:r>
          </a:p>
          <a:p>
            <a:pPr marL="0" indent="0">
              <a:buNone/>
            </a:pPr>
            <a:r>
              <a:rPr lang="en-IN" dirty="0"/>
              <a:t>kitten → </a:t>
            </a:r>
            <a:r>
              <a:rPr lang="en-IN" dirty="0" err="1"/>
              <a:t>sitten</a:t>
            </a:r>
            <a:r>
              <a:rPr lang="en-IN" dirty="0"/>
              <a:t>  (substitute k → s)</a:t>
            </a:r>
          </a:p>
          <a:p>
            <a:pPr marL="0" indent="0">
              <a:buNone/>
            </a:pPr>
            <a:r>
              <a:rPr lang="en-IN" dirty="0" err="1"/>
              <a:t>sitten</a:t>
            </a:r>
            <a:r>
              <a:rPr lang="en-IN" dirty="0"/>
              <a:t> → </a:t>
            </a:r>
            <a:r>
              <a:rPr lang="en-IN" dirty="0" err="1"/>
              <a:t>sittin</a:t>
            </a:r>
            <a:r>
              <a:rPr lang="en-IN" dirty="0"/>
              <a:t>  (substitute e → </a:t>
            </a:r>
            <a:r>
              <a:rPr lang="en-IN" dirty="0" err="1"/>
              <a:t>i</a:t>
            </a:r>
            <a:r>
              <a:rPr lang="en-IN" dirty="0"/>
              <a:t>)</a:t>
            </a:r>
          </a:p>
          <a:p>
            <a:pPr marL="0" indent="0">
              <a:buNone/>
            </a:pPr>
            <a:r>
              <a:rPr lang="en-IN" dirty="0" err="1"/>
              <a:t>sittin</a:t>
            </a:r>
            <a:r>
              <a:rPr lang="en-IN" dirty="0"/>
              <a:t> → sitting (insert g)</a:t>
            </a:r>
          </a:p>
          <a:p>
            <a:pPr marL="0" indent="0">
              <a:buNone/>
            </a:pPr>
            <a:r>
              <a:rPr lang="en-IN" dirty="0"/>
              <a:t>Distance = 3</a:t>
            </a:r>
          </a:p>
          <a:p>
            <a:r>
              <a:rPr lang="en-IN" b="1" dirty="0"/>
              <a:t>Why It Is Useful?</a:t>
            </a:r>
          </a:p>
          <a:p>
            <a:pPr marL="0" indent="0">
              <a:buNone/>
            </a:pPr>
            <a:r>
              <a:rPr lang="en-IN" dirty="0"/>
              <a:t> Spell checking</a:t>
            </a:r>
            <a:br>
              <a:rPr lang="en-IN" dirty="0"/>
            </a:br>
            <a:r>
              <a:rPr lang="en-IN" dirty="0"/>
              <a:t> Autocomplete</a:t>
            </a:r>
            <a:br>
              <a:rPr lang="en-IN" dirty="0"/>
            </a:br>
            <a:r>
              <a:rPr lang="en-IN" dirty="0"/>
              <a:t> DNA sequence matching</a:t>
            </a:r>
            <a:br>
              <a:rPr lang="en-IN" dirty="0"/>
            </a:br>
            <a:r>
              <a:rPr lang="en-IN" dirty="0"/>
              <a:t>Search engines</a:t>
            </a:r>
            <a:br>
              <a:rPr lang="en-IN" dirty="0"/>
            </a:br>
            <a:r>
              <a:rPr lang="en-IN" dirty="0"/>
              <a:t>Plagiarism detection</a:t>
            </a:r>
          </a:p>
          <a:p>
            <a:endParaRPr lang="en-US" dirty="0"/>
          </a:p>
        </p:txBody>
      </p:sp>
    </p:spTree>
    <p:extLst>
      <p:ext uri="{BB962C8B-B14F-4D97-AF65-F5344CB8AC3E}">
        <p14:creationId xmlns:p14="http://schemas.microsoft.com/office/powerpoint/2010/main" val="11837376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AF05-5A64-8728-48C6-E94282DCFB61}"/>
              </a:ext>
            </a:extLst>
          </p:cNvPr>
          <p:cNvSpPr>
            <a:spLocks noGrp="1"/>
          </p:cNvSpPr>
          <p:nvPr>
            <p:ph type="title"/>
          </p:nvPr>
        </p:nvSpPr>
        <p:spPr/>
        <p:txBody>
          <a:bodyPr/>
          <a:lstStyle/>
          <a:p>
            <a:r>
              <a:rPr lang="en-US" dirty="0"/>
              <a:t>Pearson Correlation Coefficient</a:t>
            </a:r>
            <a:br>
              <a:rPr lang="en-US" dirty="0"/>
            </a:br>
            <a:endParaRPr lang="en-US" dirty="0"/>
          </a:p>
        </p:txBody>
      </p:sp>
      <p:sp>
        <p:nvSpPr>
          <p:cNvPr id="3" name="Content Placeholder 2">
            <a:extLst>
              <a:ext uri="{FF2B5EF4-FFF2-40B4-BE49-F238E27FC236}">
                <a16:creationId xmlns:a16="http://schemas.microsoft.com/office/drawing/2014/main" id="{CCB0388F-963A-C816-347C-BD6849322900}"/>
              </a:ext>
            </a:extLst>
          </p:cNvPr>
          <p:cNvSpPr>
            <a:spLocks noGrp="1"/>
          </p:cNvSpPr>
          <p:nvPr>
            <p:ph idx="1"/>
          </p:nvPr>
        </p:nvSpPr>
        <p:spPr/>
        <p:txBody>
          <a:bodyPr>
            <a:normAutofit/>
          </a:bodyPr>
          <a:lstStyle/>
          <a:p>
            <a:r>
              <a:rPr lang="en-US" dirty="0"/>
              <a:t>Pearson correlation coefficient measures the linear correlation between two variables. </a:t>
            </a:r>
          </a:p>
          <a:p>
            <a:r>
              <a:rPr lang="en-US" dirty="0"/>
              <a:t>In the context of text documents represented as vectors, Pearson correlation coefficient calculates the correlation between the elements of the vectors.</a:t>
            </a:r>
          </a:p>
          <a:p>
            <a:r>
              <a:rPr lang="en-US" dirty="0"/>
              <a:t>Pearson correlation coefficient ranges from -1 to 1, with 1 indicating perfect positive correlation, -1 indicating perfect negative correlation, and 0 indicating no correlation.</a:t>
            </a:r>
          </a:p>
          <a:p>
            <a:r>
              <a:rPr lang="en-IN" dirty="0"/>
              <a:t>Pearson coefficient measures how strongly two document word-frequency patterns are related.</a:t>
            </a:r>
            <a:endParaRPr lang="en-US" dirty="0"/>
          </a:p>
          <a:p>
            <a:endParaRPr lang="en-US" dirty="0"/>
          </a:p>
        </p:txBody>
      </p:sp>
    </p:spTree>
    <p:extLst>
      <p:ext uri="{BB962C8B-B14F-4D97-AF65-F5344CB8AC3E}">
        <p14:creationId xmlns:p14="http://schemas.microsoft.com/office/powerpoint/2010/main" val="2946650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443D9-8E01-C359-6B27-02ABD15856AE}"/>
              </a:ext>
            </a:extLst>
          </p:cNvPr>
          <p:cNvSpPr>
            <a:spLocks noGrp="1"/>
          </p:cNvSpPr>
          <p:nvPr>
            <p:ph type="title"/>
          </p:nvPr>
        </p:nvSpPr>
        <p:spPr/>
        <p:txBody>
          <a:bodyPr/>
          <a:lstStyle/>
          <a:p>
            <a:r>
              <a:rPr lang="en-US" dirty="0"/>
              <a:t>Pearson Correlation Coefficient</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847822-D1F0-53A1-F202-B0928CBE3F44}"/>
                  </a:ext>
                </a:extLst>
              </p:cNvPr>
              <p:cNvSpPr>
                <a:spLocks noGrp="1"/>
              </p:cNvSpPr>
              <p:nvPr>
                <p:ph idx="1"/>
              </p:nvPr>
            </p:nvSpPr>
            <p:spPr/>
            <p:txBody>
              <a:bodyPr>
                <a:normAutofit fontScale="77500" lnSpcReduction="20000"/>
              </a:bodyPr>
              <a:lstStyle/>
              <a:p>
                <a:r>
                  <a:rPr lang="en-IN" b="1" dirty="0"/>
                  <a:t>Pearson Formula</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𝑟</m:t>
                      </m:r>
                      <m:r>
                        <a:rPr lang="en-IN">
                          <a:latin typeface="Cambria Math" panose="02040503050406030204" pitchFamily="18" charset="0"/>
                        </a:rPr>
                        <m:t>=</m:t>
                      </m:r>
                      <m:f>
                        <m:fPr>
                          <m:ctrlPr>
                            <a:rPr lang="ar-AE" i="1">
                              <a:latin typeface="Cambria Math" panose="02040503050406030204" pitchFamily="18" charset="0"/>
                            </a:rPr>
                          </m:ctrlPr>
                        </m:fPr>
                        <m:num>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d>
                            <m:dPr>
                              <m:beg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d>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r>
                                <a:rPr lang="ar-AE">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𝑦</m:t>
                                  </m:r>
                                </m:e>
                                <m:lim>
                                  <m:r>
                                    <a:rPr lang="ar-AE">
                                      <a:latin typeface="Cambria Math" panose="02040503050406030204" pitchFamily="18" charset="0"/>
                                    </a:rPr>
                                    <m:t>ˉ</m:t>
                                  </m:r>
                                </m:lim>
                              </m:limUpp>
                            </m:e>
                          </m:d>
                        </m:num>
                        <m:den>
                          <m:rad>
                            <m:radPr>
                              <m:degHide m:val="on"/>
                              <m:ctrlPr>
                                <a:rPr lang="ar-AE" i="1">
                                  <a:latin typeface="Cambria Math" panose="02040503050406030204" pitchFamily="18" charset="0"/>
                                </a:rPr>
                              </m:ctrlPr>
                            </m:radPr>
                            <m:deg/>
                            <m:e>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rad>
                          <m:rad>
                            <m:radPr>
                              <m:degHide m:val="on"/>
                              <m:ctrlPr>
                                <a:rPr lang="ar-AE" i="1">
                                  <a:latin typeface="Cambria Math" panose="02040503050406030204" pitchFamily="18" charset="0"/>
                                </a:rPr>
                              </m:ctrlPr>
                            </m:radPr>
                            <m:deg/>
                            <m:e>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r>
                                    <a:rPr lang="ar-AE">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𝑦</m:t>
                                      </m:r>
                                    </m:e>
                                    <m:lim>
                                      <m:r>
                                        <a:rPr lang="ar-AE">
                                          <a:latin typeface="Cambria Math" panose="02040503050406030204" pitchFamily="18" charset="0"/>
                                        </a:rPr>
                                        <m:t>ˉ</m:t>
                                      </m:r>
                                    </m:lim>
                                  </m:limUpp>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rad>
                        </m:den>
                      </m:f>
                    </m:oMath>
                  </m:oMathPara>
                </a14:m>
                <a:endParaRPr lang="ar-AE" dirty="0"/>
              </a:p>
              <a:p>
                <a:pPr marL="0" indent="0">
                  <a:buNone/>
                </a:pPr>
                <a:br>
                  <a:rPr lang="ar-AE" dirty="0"/>
                </a:br>
                <a:endParaRPr lang="ar-AE" dirty="0"/>
              </a:p>
              <a:p>
                <a:r>
                  <a:rPr lang="en-IN" dirty="0"/>
                  <a:t> Measures how similarly two documents vary around their average word frequency.</a:t>
                </a:r>
              </a:p>
              <a:p>
                <a:pPr marL="0" indent="0">
                  <a:buNone/>
                </a:pPr>
                <a:br>
                  <a:rPr lang="en-IN" dirty="0"/>
                </a:br>
                <a:r>
                  <a:rPr lang="en-IN" dirty="0"/>
                  <a:t>Think of two students’ marks:</a:t>
                </a:r>
              </a:p>
              <a:p>
                <a:r>
                  <a:rPr lang="en-IN" dirty="0"/>
                  <a:t>✔ If both increase and decrease together → High Pearson</a:t>
                </a:r>
                <a:br>
                  <a:rPr lang="en-IN" dirty="0"/>
                </a:br>
                <a:r>
                  <a:rPr lang="en-IN" dirty="0"/>
                  <a:t>✔ If unrelated → Near 0</a:t>
                </a:r>
                <a:br>
                  <a:rPr lang="en-IN" dirty="0"/>
                </a:br>
                <a:r>
                  <a:rPr lang="en-IN" dirty="0"/>
                  <a:t>✔ If opposite trends → Negative Pearson</a:t>
                </a:r>
              </a:p>
              <a:p>
                <a:endParaRPr lang="en-US" dirty="0"/>
              </a:p>
            </p:txBody>
          </p:sp>
        </mc:Choice>
        <mc:Fallback xmlns="">
          <p:sp>
            <p:nvSpPr>
              <p:cNvPr id="3" name="Content Placeholder 2">
                <a:extLst>
                  <a:ext uri="{FF2B5EF4-FFF2-40B4-BE49-F238E27FC236}">
                    <a16:creationId xmlns:a16="http://schemas.microsoft.com/office/drawing/2014/main" id="{71847822-D1F0-53A1-F202-B0928CBE3F44}"/>
                  </a:ext>
                </a:extLst>
              </p:cNvPr>
              <p:cNvSpPr>
                <a:spLocks noGrp="1" noRot="1" noChangeAspect="1" noMove="1" noResize="1" noEditPoints="1" noAdjustHandles="1" noChangeArrowheads="1" noChangeShapeType="1" noTextEdit="1"/>
              </p:cNvSpPr>
              <p:nvPr>
                <p:ph idx="1"/>
              </p:nvPr>
            </p:nvSpPr>
            <p:spPr>
              <a:blipFill>
                <a:blip r:embed="rId2"/>
                <a:stretch>
                  <a:fillRect l="-724" t="-20349"/>
                </a:stretch>
              </a:blipFill>
            </p:spPr>
            <p:txBody>
              <a:bodyPr/>
              <a:lstStyle/>
              <a:p>
                <a:r>
                  <a:rPr lang="en-US">
                    <a:noFill/>
                  </a:rPr>
                  <a:t> </a:t>
                </a:r>
              </a:p>
            </p:txBody>
          </p:sp>
        </mc:Fallback>
      </mc:AlternateContent>
    </p:spTree>
    <p:extLst>
      <p:ext uri="{BB962C8B-B14F-4D97-AF65-F5344CB8AC3E}">
        <p14:creationId xmlns:p14="http://schemas.microsoft.com/office/powerpoint/2010/main" val="3478980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B17099-3C79-5EA0-1D46-D30E243CCD4B}"/>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Comparison of All Measures</a:t>
            </a:r>
          </a:p>
        </p:txBody>
      </p:sp>
      <p:graphicFrame>
        <p:nvGraphicFramePr>
          <p:cNvPr id="4" name="Content Placeholder 3">
            <a:extLst>
              <a:ext uri="{FF2B5EF4-FFF2-40B4-BE49-F238E27FC236}">
                <a16:creationId xmlns:a16="http://schemas.microsoft.com/office/drawing/2014/main" id="{C6EB2B3C-0CA1-6583-F8C5-2357E004EE37}"/>
              </a:ext>
            </a:extLst>
          </p:cNvPr>
          <p:cNvGraphicFramePr>
            <a:graphicFrameLocks noGrp="1"/>
          </p:cNvGraphicFramePr>
          <p:nvPr>
            <p:ph idx="1"/>
            <p:extLst>
              <p:ext uri="{D42A27DB-BD31-4B8C-83A1-F6EECF244321}">
                <p14:modId xmlns:p14="http://schemas.microsoft.com/office/powerpoint/2010/main" val="4190914332"/>
              </p:ext>
            </p:extLst>
          </p:nvPr>
        </p:nvGraphicFramePr>
        <p:xfrm>
          <a:off x="0" y="1575953"/>
          <a:ext cx="12192002" cy="4933182"/>
        </p:xfrm>
        <a:graphic>
          <a:graphicData uri="http://schemas.openxmlformats.org/drawingml/2006/table">
            <a:tbl>
              <a:tblPr/>
              <a:tblGrid>
                <a:gridCol w="1004080">
                  <a:extLst>
                    <a:ext uri="{9D8B030D-6E8A-4147-A177-3AD203B41FA5}">
                      <a16:colId xmlns:a16="http://schemas.microsoft.com/office/drawing/2014/main" val="3125997870"/>
                    </a:ext>
                  </a:extLst>
                </a:gridCol>
                <a:gridCol w="751448">
                  <a:extLst>
                    <a:ext uri="{9D8B030D-6E8A-4147-A177-3AD203B41FA5}">
                      <a16:colId xmlns:a16="http://schemas.microsoft.com/office/drawing/2014/main" val="2852269875"/>
                    </a:ext>
                  </a:extLst>
                </a:gridCol>
                <a:gridCol w="1337911">
                  <a:extLst>
                    <a:ext uri="{9D8B030D-6E8A-4147-A177-3AD203B41FA5}">
                      <a16:colId xmlns:a16="http://schemas.microsoft.com/office/drawing/2014/main" val="2484712146"/>
                    </a:ext>
                  </a:extLst>
                </a:gridCol>
                <a:gridCol w="587239">
                  <a:extLst>
                    <a:ext uri="{9D8B030D-6E8A-4147-A177-3AD203B41FA5}">
                      <a16:colId xmlns:a16="http://schemas.microsoft.com/office/drawing/2014/main" val="3130488025"/>
                    </a:ext>
                  </a:extLst>
                </a:gridCol>
                <a:gridCol w="2485574">
                  <a:extLst>
                    <a:ext uri="{9D8B030D-6E8A-4147-A177-3AD203B41FA5}">
                      <a16:colId xmlns:a16="http://schemas.microsoft.com/office/drawing/2014/main" val="25635977"/>
                    </a:ext>
                  </a:extLst>
                </a:gridCol>
                <a:gridCol w="2332191">
                  <a:extLst>
                    <a:ext uri="{9D8B030D-6E8A-4147-A177-3AD203B41FA5}">
                      <a16:colId xmlns:a16="http://schemas.microsoft.com/office/drawing/2014/main" val="4158143022"/>
                    </a:ext>
                  </a:extLst>
                </a:gridCol>
                <a:gridCol w="2034447">
                  <a:extLst>
                    <a:ext uri="{9D8B030D-6E8A-4147-A177-3AD203B41FA5}">
                      <a16:colId xmlns:a16="http://schemas.microsoft.com/office/drawing/2014/main" val="528207563"/>
                    </a:ext>
                  </a:extLst>
                </a:gridCol>
                <a:gridCol w="1659112">
                  <a:extLst>
                    <a:ext uri="{9D8B030D-6E8A-4147-A177-3AD203B41FA5}">
                      <a16:colId xmlns:a16="http://schemas.microsoft.com/office/drawing/2014/main" val="3548530808"/>
                    </a:ext>
                  </a:extLst>
                </a:gridCol>
              </a:tblGrid>
              <a:tr h="488249">
                <a:tc>
                  <a:txBody>
                    <a:bodyPr/>
                    <a:lstStyle/>
                    <a:p>
                      <a:pPr>
                        <a:buNone/>
                      </a:pPr>
                      <a:r>
                        <a:rPr lang="en-IN" sz="1000"/>
                        <a:t>Measure</a:t>
                      </a:r>
                    </a:p>
                  </a:txBody>
                  <a:tcPr marL="21212" marR="21212" marT="10606" marB="10606" anchor="ctr">
                    <a:lnL>
                      <a:noFill/>
                    </a:lnL>
                    <a:lnR>
                      <a:noFill/>
                    </a:lnR>
                    <a:lnT>
                      <a:noFill/>
                    </a:lnT>
                    <a:lnB>
                      <a:noFill/>
                    </a:lnB>
                    <a:noFill/>
                  </a:tcPr>
                </a:tc>
                <a:tc>
                  <a:txBody>
                    <a:bodyPr/>
                    <a:lstStyle/>
                    <a:p>
                      <a:pPr>
                        <a:buNone/>
                      </a:pPr>
                      <a:r>
                        <a:rPr lang="en-IN" sz="1000"/>
                        <a:t>Type</a:t>
                      </a:r>
                    </a:p>
                  </a:txBody>
                  <a:tcPr marL="21212" marR="21212" marT="10606" marB="10606" anchor="ctr">
                    <a:lnL>
                      <a:noFill/>
                    </a:lnL>
                    <a:lnR>
                      <a:noFill/>
                    </a:lnR>
                    <a:lnT>
                      <a:noFill/>
                    </a:lnT>
                    <a:lnB>
                      <a:noFill/>
                    </a:lnB>
                    <a:noFill/>
                  </a:tcPr>
                </a:tc>
                <a:tc>
                  <a:txBody>
                    <a:bodyPr/>
                    <a:lstStyle/>
                    <a:p>
                      <a:pPr>
                        <a:buNone/>
                      </a:pPr>
                      <a:r>
                        <a:rPr lang="en-IN" sz="1000"/>
                        <a:t>What It Measures</a:t>
                      </a:r>
                    </a:p>
                  </a:txBody>
                  <a:tcPr marL="21212" marR="21212" marT="10606" marB="10606" anchor="ctr">
                    <a:lnL>
                      <a:noFill/>
                    </a:lnL>
                    <a:lnR>
                      <a:noFill/>
                    </a:lnR>
                    <a:lnT>
                      <a:noFill/>
                    </a:lnT>
                    <a:lnB>
                      <a:noFill/>
                    </a:lnB>
                    <a:noFill/>
                  </a:tcPr>
                </a:tc>
                <a:tc>
                  <a:txBody>
                    <a:bodyPr/>
                    <a:lstStyle/>
                    <a:p>
                      <a:pPr>
                        <a:buNone/>
                      </a:pPr>
                      <a:r>
                        <a:rPr lang="en-IN" sz="1000"/>
                        <a:t>Value Range</a:t>
                      </a:r>
                    </a:p>
                  </a:txBody>
                  <a:tcPr marL="21212" marR="21212" marT="10606" marB="10606" anchor="ctr">
                    <a:lnL>
                      <a:noFill/>
                    </a:lnL>
                    <a:lnR>
                      <a:noFill/>
                    </a:lnR>
                    <a:lnT>
                      <a:noFill/>
                    </a:lnT>
                    <a:lnB>
                      <a:noFill/>
                    </a:lnB>
                    <a:noFill/>
                  </a:tcPr>
                </a:tc>
                <a:tc>
                  <a:txBody>
                    <a:bodyPr/>
                    <a:lstStyle/>
                    <a:p>
                      <a:pPr>
                        <a:buNone/>
                      </a:pPr>
                      <a:r>
                        <a:rPr lang="en-IN" sz="1000"/>
                        <a:t>Pros</a:t>
                      </a:r>
                    </a:p>
                  </a:txBody>
                  <a:tcPr marL="21212" marR="21212" marT="10606" marB="10606" anchor="ctr">
                    <a:lnL>
                      <a:noFill/>
                    </a:lnL>
                    <a:lnR>
                      <a:noFill/>
                    </a:lnR>
                    <a:lnT>
                      <a:noFill/>
                    </a:lnT>
                    <a:lnB>
                      <a:noFill/>
                    </a:lnB>
                    <a:noFill/>
                  </a:tcPr>
                </a:tc>
                <a:tc>
                  <a:txBody>
                    <a:bodyPr/>
                    <a:lstStyle/>
                    <a:p>
                      <a:pPr>
                        <a:buNone/>
                      </a:pPr>
                      <a:r>
                        <a:rPr lang="en-IN" sz="1000" dirty="0"/>
                        <a:t>Cons</a:t>
                      </a:r>
                    </a:p>
                  </a:txBody>
                  <a:tcPr marL="21212" marR="21212" marT="10606" marB="10606" anchor="ctr">
                    <a:lnL>
                      <a:noFill/>
                    </a:lnL>
                    <a:lnR>
                      <a:noFill/>
                    </a:lnR>
                    <a:lnT>
                      <a:noFill/>
                    </a:lnT>
                    <a:lnB>
                      <a:noFill/>
                    </a:lnB>
                    <a:noFill/>
                  </a:tcPr>
                </a:tc>
                <a:tc>
                  <a:txBody>
                    <a:bodyPr/>
                    <a:lstStyle/>
                    <a:p>
                      <a:pPr>
                        <a:buNone/>
                      </a:pPr>
                      <a:r>
                        <a:rPr lang="en-IN" sz="1000"/>
                        <a:t>Best Applications</a:t>
                      </a:r>
                    </a:p>
                  </a:txBody>
                  <a:tcPr marL="21212" marR="21212" marT="10606" marB="10606" anchor="ctr">
                    <a:lnL>
                      <a:noFill/>
                    </a:lnL>
                    <a:lnR>
                      <a:noFill/>
                    </a:lnR>
                    <a:lnT>
                      <a:noFill/>
                    </a:lnT>
                    <a:lnB>
                      <a:noFill/>
                    </a:lnB>
                    <a:noFill/>
                  </a:tcPr>
                </a:tc>
                <a:tc>
                  <a:txBody>
                    <a:bodyPr/>
                    <a:lstStyle/>
                    <a:p>
                      <a:pPr>
                        <a:buNone/>
                      </a:pPr>
                      <a:r>
                        <a:rPr lang="en-IN" sz="1000"/>
                        <a:t>Example</a:t>
                      </a:r>
                    </a:p>
                  </a:txBody>
                  <a:tcPr marL="21212" marR="21212" marT="10606" marB="10606" anchor="ctr">
                    <a:lnL>
                      <a:noFill/>
                    </a:lnL>
                    <a:lnR>
                      <a:noFill/>
                    </a:lnR>
                    <a:lnT>
                      <a:noFill/>
                    </a:lnT>
                    <a:lnB>
                      <a:noFill/>
                    </a:lnB>
                    <a:noFill/>
                  </a:tcPr>
                </a:tc>
                <a:extLst>
                  <a:ext uri="{0D108BD9-81ED-4DB2-BD59-A6C34878D82A}">
                    <a16:rowId xmlns:a16="http://schemas.microsoft.com/office/drawing/2014/main" val="3177681515"/>
                  </a:ext>
                </a:extLst>
              </a:tr>
              <a:tr h="693687">
                <a:tc>
                  <a:txBody>
                    <a:bodyPr/>
                    <a:lstStyle/>
                    <a:p>
                      <a:pPr>
                        <a:buNone/>
                      </a:pPr>
                      <a:r>
                        <a:rPr lang="en-IN" sz="1000" b="1"/>
                        <a:t>Cosine Similarity</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Angle between document vectors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dirty="0"/>
                        <a:t> Works well with high-dimensional text data Ignores document length </a:t>
                      </a:r>
                    </a:p>
                    <a:p>
                      <a:pPr>
                        <a:buNone/>
                      </a:pPr>
                      <a:r>
                        <a:rPr lang="en-IN" sz="1000" dirty="0"/>
                        <a:t> Very popular in NLP</a:t>
                      </a:r>
                    </a:p>
                  </a:txBody>
                  <a:tcPr marL="21212" marR="21212" marT="10606" marB="10606" anchor="ctr">
                    <a:lnL>
                      <a:noFill/>
                    </a:lnL>
                    <a:lnR>
                      <a:noFill/>
                    </a:lnR>
                    <a:lnT>
                      <a:noFill/>
                    </a:lnT>
                    <a:lnB>
                      <a:noFill/>
                    </a:lnB>
                    <a:noFill/>
                  </a:tcPr>
                </a:tc>
                <a:tc>
                  <a:txBody>
                    <a:bodyPr/>
                    <a:lstStyle/>
                    <a:p>
                      <a:pPr>
                        <a:buNone/>
                      </a:pPr>
                      <a:r>
                        <a:rPr lang="en-IN" sz="1000" dirty="0"/>
                        <a:t> Ignores word order</a:t>
                      </a:r>
                    </a:p>
                    <a:p>
                      <a:pPr>
                        <a:buNone/>
                      </a:pPr>
                      <a:r>
                        <a:rPr lang="en-IN" sz="1000" dirty="0"/>
                        <a:t>  Needs vector representation</a:t>
                      </a:r>
                    </a:p>
                  </a:txBody>
                  <a:tcPr marL="21212" marR="21212" marT="10606" marB="10606" anchor="ctr">
                    <a:lnL>
                      <a:noFill/>
                    </a:lnL>
                    <a:lnR>
                      <a:noFill/>
                    </a:lnR>
                    <a:lnT>
                      <a:noFill/>
                    </a:lnT>
                    <a:lnB>
                      <a:noFill/>
                    </a:lnB>
                    <a:noFill/>
                  </a:tcPr>
                </a:tc>
                <a:tc>
                  <a:txBody>
                    <a:bodyPr/>
                    <a:lstStyle/>
                    <a:p>
                      <a:pPr>
                        <a:buNone/>
                      </a:pPr>
                      <a:r>
                        <a:rPr lang="en-IN" sz="1000"/>
                        <a:t>Search engines, document clustering, recommendation systems</a:t>
                      </a:r>
                    </a:p>
                  </a:txBody>
                  <a:tcPr marL="21212" marR="21212" marT="10606" marB="10606" anchor="ctr">
                    <a:lnL>
                      <a:noFill/>
                    </a:lnL>
                    <a:lnR>
                      <a:noFill/>
                    </a:lnR>
                    <a:lnT>
                      <a:noFill/>
                    </a:lnT>
                    <a:lnB>
                      <a:noFill/>
                    </a:lnB>
                    <a:noFill/>
                  </a:tcPr>
                </a:tc>
                <a:tc>
                  <a:txBody>
                    <a:bodyPr/>
                    <a:lstStyle/>
                    <a:p>
                      <a:pPr>
                        <a:buNone/>
                      </a:pPr>
                      <a:r>
                        <a:rPr lang="en-IN" sz="1000"/>
                        <a:t>Google search ranking, document similarity detection</a:t>
                      </a:r>
                    </a:p>
                  </a:txBody>
                  <a:tcPr marL="21212" marR="21212" marT="10606" marB="10606" anchor="ctr">
                    <a:lnL>
                      <a:noFill/>
                    </a:lnL>
                    <a:lnR>
                      <a:noFill/>
                    </a:lnR>
                    <a:lnT>
                      <a:noFill/>
                    </a:lnT>
                    <a:lnB>
                      <a:noFill/>
                    </a:lnB>
                    <a:noFill/>
                  </a:tcPr>
                </a:tc>
                <a:extLst>
                  <a:ext uri="{0D108BD9-81ED-4DB2-BD59-A6C34878D82A}">
                    <a16:rowId xmlns:a16="http://schemas.microsoft.com/office/drawing/2014/main" val="3974422562"/>
                  </a:ext>
                </a:extLst>
              </a:tr>
              <a:tr h="488249">
                <a:tc>
                  <a:txBody>
                    <a:bodyPr/>
                    <a:lstStyle/>
                    <a:p>
                      <a:pPr>
                        <a:buNone/>
                      </a:pPr>
                      <a:r>
                        <a:rPr lang="en-IN" sz="1000" b="1"/>
                        <a:t>Jaccard Similarity</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Overlap of unique words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dirty="0"/>
                        <a:t>Simple Works well for set comparison  Good for short text</a:t>
                      </a:r>
                    </a:p>
                  </a:txBody>
                  <a:tcPr marL="21212" marR="21212" marT="10606" marB="10606" anchor="ctr">
                    <a:lnL>
                      <a:noFill/>
                    </a:lnL>
                    <a:lnR>
                      <a:noFill/>
                    </a:lnR>
                    <a:lnT>
                      <a:noFill/>
                    </a:lnT>
                    <a:lnB>
                      <a:noFill/>
                    </a:lnB>
                    <a:noFill/>
                  </a:tcPr>
                </a:tc>
                <a:tc>
                  <a:txBody>
                    <a:bodyPr/>
                    <a:lstStyle/>
                    <a:p>
                      <a:pPr>
                        <a:buNone/>
                      </a:pPr>
                      <a:r>
                        <a:rPr lang="en-IN" sz="1000" dirty="0"/>
                        <a:t> Ignores word frequency </a:t>
                      </a:r>
                    </a:p>
                    <a:p>
                      <a:pPr>
                        <a:buNone/>
                      </a:pPr>
                      <a:r>
                        <a:rPr lang="en-IN" sz="1000" dirty="0"/>
                        <a:t>Less sensitive to repeated terms</a:t>
                      </a:r>
                    </a:p>
                  </a:txBody>
                  <a:tcPr marL="21212" marR="21212" marT="10606" marB="10606" anchor="ctr">
                    <a:lnL>
                      <a:noFill/>
                    </a:lnL>
                    <a:lnR>
                      <a:noFill/>
                    </a:lnR>
                    <a:lnT>
                      <a:noFill/>
                    </a:lnT>
                    <a:lnB>
                      <a:noFill/>
                    </a:lnB>
                    <a:noFill/>
                  </a:tcPr>
                </a:tc>
                <a:tc>
                  <a:txBody>
                    <a:bodyPr/>
                    <a:lstStyle/>
                    <a:p>
                      <a:pPr>
                        <a:buNone/>
                      </a:pPr>
                      <a:r>
                        <a:rPr lang="en-IN" sz="1000"/>
                        <a:t>Plagiarism detection, duplicate detection, web crawling</a:t>
                      </a:r>
                    </a:p>
                  </a:txBody>
                  <a:tcPr marL="21212" marR="21212" marT="10606" marB="10606" anchor="ctr">
                    <a:lnL>
                      <a:noFill/>
                    </a:lnL>
                    <a:lnR>
                      <a:noFill/>
                    </a:lnR>
                    <a:lnT>
                      <a:noFill/>
                    </a:lnT>
                    <a:lnB>
                      <a:noFill/>
                    </a:lnB>
                    <a:noFill/>
                  </a:tcPr>
                </a:tc>
                <a:tc>
                  <a:txBody>
                    <a:bodyPr/>
                    <a:lstStyle/>
                    <a:p>
                      <a:pPr>
                        <a:buNone/>
                      </a:pPr>
                      <a:r>
                        <a:rPr lang="en-IN" sz="1000"/>
                        <a:t>Comparing hashtags in social media posts</a:t>
                      </a:r>
                    </a:p>
                  </a:txBody>
                  <a:tcPr marL="21212" marR="21212" marT="10606" marB="10606" anchor="ctr">
                    <a:lnL>
                      <a:noFill/>
                    </a:lnL>
                    <a:lnR>
                      <a:noFill/>
                    </a:lnR>
                    <a:lnT>
                      <a:noFill/>
                    </a:lnT>
                    <a:lnB>
                      <a:noFill/>
                    </a:lnB>
                    <a:noFill/>
                  </a:tcPr>
                </a:tc>
                <a:extLst>
                  <a:ext uri="{0D108BD9-81ED-4DB2-BD59-A6C34878D82A}">
                    <a16:rowId xmlns:a16="http://schemas.microsoft.com/office/drawing/2014/main" val="2765930480"/>
                  </a:ext>
                </a:extLst>
              </a:tr>
              <a:tr h="693687">
                <a:tc>
                  <a:txBody>
                    <a:bodyPr/>
                    <a:lstStyle/>
                    <a:p>
                      <a:pPr>
                        <a:buNone/>
                      </a:pPr>
                      <a:r>
                        <a:rPr lang="en-IN" sz="1000" b="1"/>
                        <a:t>Dice Coefficient</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Overlap with extra weight to common elements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dirty="0"/>
                        <a:t> Sensitive to common elements  Useful in pattern matching</a:t>
                      </a:r>
                    </a:p>
                  </a:txBody>
                  <a:tcPr marL="21212" marR="21212" marT="10606" marB="10606" anchor="ctr">
                    <a:lnL>
                      <a:noFill/>
                    </a:lnL>
                    <a:lnR>
                      <a:noFill/>
                    </a:lnR>
                    <a:lnT>
                      <a:noFill/>
                    </a:lnT>
                    <a:lnB>
                      <a:noFill/>
                    </a:lnB>
                    <a:noFill/>
                  </a:tcPr>
                </a:tc>
                <a:tc>
                  <a:txBody>
                    <a:bodyPr/>
                    <a:lstStyle/>
                    <a:p>
                      <a:pPr>
                        <a:buNone/>
                      </a:pPr>
                      <a:r>
                        <a:rPr lang="en-IN" sz="1000" dirty="0"/>
                        <a:t> Similar limitations as Jaccard  </a:t>
                      </a:r>
                    </a:p>
                    <a:p>
                      <a:pPr>
                        <a:buNone/>
                      </a:pPr>
                      <a:r>
                        <a:rPr lang="en-IN" sz="1000" dirty="0"/>
                        <a:t>Slightly biased toward overlap</a:t>
                      </a:r>
                    </a:p>
                  </a:txBody>
                  <a:tcPr marL="21212" marR="21212" marT="10606" marB="10606" anchor="ctr">
                    <a:lnL>
                      <a:noFill/>
                    </a:lnL>
                    <a:lnR>
                      <a:noFill/>
                    </a:lnR>
                    <a:lnT>
                      <a:noFill/>
                    </a:lnT>
                    <a:lnB>
                      <a:noFill/>
                    </a:lnB>
                    <a:noFill/>
                  </a:tcPr>
                </a:tc>
                <a:tc>
                  <a:txBody>
                    <a:bodyPr/>
                    <a:lstStyle/>
                    <a:p>
                      <a:pPr>
                        <a:buNone/>
                      </a:pPr>
                      <a:r>
                        <a:rPr lang="en-IN" sz="1000"/>
                        <a:t>Medical image segmentation, text similarity</a:t>
                      </a:r>
                    </a:p>
                  </a:txBody>
                  <a:tcPr marL="21212" marR="21212" marT="10606" marB="10606" anchor="ctr">
                    <a:lnL>
                      <a:noFill/>
                    </a:lnL>
                    <a:lnR>
                      <a:noFill/>
                    </a:lnR>
                    <a:lnT>
                      <a:noFill/>
                    </a:lnT>
                    <a:lnB>
                      <a:noFill/>
                    </a:lnB>
                    <a:noFill/>
                  </a:tcPr>
                </a:tc>
                <a:tc>
                  <a:txBody>
                    <a:bodyPr/>
                    <a:lstStyle/>
                    <a:p>
                      <a:pPr>
                        <a:buNone/>
                      </a:pPr>
                      <a:r>
                        <a:rPr lang="en-IN" sz="1000"/>
                        <a:t>Comparing DNA or medical scan regions</a:t>
                      </a:r>
                    </a:p>
                  </a:txBody>
                  <a:tcPr marL="21212" marR="21212" marT="10606" marB="10606" anchor="ctr">
                    <a:lnL>
                      <a:noFill/>
                    </a:lnL>
                    <a:lnR>
                      <a:noFill/>
                    </a:lnR>
                    <a:lnT>
                      <a:noFill/>
                    </a:lnT>
                    <a:lnB>
                      <a:noFill/>
                    </a:lnB>
                    <a:noFill/>
                  </a:tcPr>
                </a:tc>
                <a:extLst>
                  <a:ext uri="{0D108BD9-81ED-4DB2-BD59-A6C34878D82A}">
                    <a16:rowId xmlns:a16="http://schemas.microsoft.com/office/drawing/2014/main" val="689481962"/>
                  </a:ext>
                </a:extLst>
              </a:tr>
              <a:tr h="693687">
                <a:tc>
                  <a:txBody>
                    <a:bodyPr/>
                    <a:lstStyle/>
                    <a:p>
                      <a:pPr>
                        <a:buNone/>
                      </a:pPr>
                      <a:r>
                        <a:rPr lang="en-IN" sz="1000" b="1"/>
                        <a:t>Euclidean Distance</a:t>
                      </a:r>
                      <a:endParaRPr lang="en-IN" sz="1000"/>
                    </a:p>
                  </a:txBody>
                  <a:tcPr marL="21212" marR="21212" marT="10606" marB="10606" anchor="ctr">
                    <a:lnL>
                      <a:noFill/>
                    </a:lnL>
                    <a:lnR>
                      <a:noFill/>
                    </a:lnR>
                    <a:lnT>
                      <a:noFill/>
                    </a:lnT>
                    <a:lnB>
                      <a:noFill/>
                    </a:lnB>
                    <a:noFill/>
                  </a:tcPr>
                </a:tc>
                <a:tc>
                  <a:txBody>
                    <a:bodyPr/>
                    <a:lstStyle/>
                    <a:p>
                      <a:pPr>
                        <a:buNone/>
                      </a:pPr>
                      <a:r>
                        <a:rPr lang="en-IN" sz="1000"/>
                        <a:t>Distance</a:t>
                      </a:r>
                    </a:p>
                  </a:txBody>
                  <a:tcPr marL="21212" marR="21212" marT="10606" marB="10606" anchor="ctr">
                    <a:lnL>
                      <a:noFill/>
                    </a:lnL>
                    <a:lnR>
                      <a:noFill/>
                    </a:lnR>
                    <a:lnT>
                      <a:noFill/>
                    </a:lnT>
                    <a:lnB>
                      <a:noFill/>
                    </a:lnB>
                    <a:noFill/>
                  </a:tcPr>
                </a:tc>
                <a:tc>
                  <a:txBody>
                    <a:bodyPr/>
                    <a:lstStyle/>
                    <a:p>
                      <a:pPr>
                        <a:buNone/>
                      </a:pPr>
                      <a:r>
                        <a:rPr lang="en-IN" sz="1000"/>
                        <a:t>Straight-line distance between vectors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dirty="0"/>
                        <a:t>Easy to understand </a:t>
                      </a:r>
                    </a:p>
                    <a:p>
                      <a:pPr>
                        <a:buNone/>
                      </a:pPr>
                      <a:r>
                        <a:rPr lang="en-IN" sz="1000" dirty="0"/>
                        <a:t> Works well with numerical features</a:t>
                      </a:r>
                    </a:p>
                  </a:txBody>
                  <a:tcPr marL="21212" marR="21212" marT="10606" marB="10606" anchor="ctr">
                    <a:lnL>
                      <a:noFill/>
                    </a:lnL>
                    <a:lnR>
                      <a:noFill/>
                    </a:lnR>
                    <a:lnT>
                      <a:noFill/>
                    </a:lnT>
                    <a:lnB>
                      <a:noFill/>
                    </a:lnB>
                    <a:noFill/>
                  </a:tcPr>
                </a:tc>
                <a:tc>
                  <a:txBody>
                    <a:bodyPr/>
                    <a:lstStyle/>
                    <a:p>
                      <a:pPr>
                        <a:buNone/>
                      </a:pPr>
                      <a:r>
                        <a:rPr lang="en-IN" sz="1000" dirty="0"/>
                        <a:t> Sensitive to document length  </a:t>
                      </a:r>
                    </a:p>
                    <a:p>
                      <a:pPr>
                        <a:buNone/>
                      </a:pPr>
                      <a:r>
                        <a:rPr lang="en-IN" sz="1000" dirty="0"/>
                        <a:t>Poor for high-dimensional sparse data</a:t>
                      </a:r>
                    </a:p>
                  </a:txBody>
                  <a:tcPr marL="21212" marR="21212" marT="10606" marB="10606" anchor="ctr">
                    <a:lnL>
                      <a:noFill/>
                    </a:lnL>
                    <a:lnR>
                      <a:noFill/>
                    </a:lnR>
                    <a:lnT>
                      <a:noFill/>
                    </a:lnT>
                    <a:lnB>
                      <a:noFill/>
                    </a:lnB>
                    <a:noFill/>
                  </a:tcPr>
                </a:tc>
                <a:tc>
                  <a:txBody>
                    <a:bodyPr/>
                    <a:lstStyle/>
                    <a:p>
                      <a:pPr>
                        <a:buNone/>
                      </a:pPr>
                      <a:r>
                        <a:rPr lang="en-IN" sz="1000"/>
                        <a:t>Image processing, clustering, recommendation systems</a:t>
                      </a:r>
                    </a:p>
                  </a:txBody>
                  <a:tcPr marL="21212" marR="21212" marT="10606" marB="10606" anchor="ctr">
                    <a:lnL>
                      <a:noFill/>
                    </a:lnL>
                    <a:lnR>
                      <a:noFill/>
                    </a:lnR>
                    <a:lnT>
                      <a:noFill/>
                    </a:lnT>
                    <a:lnB>
                      <a:noFill/>
                    </a:lnB>
                    <a:noFill/>
                  </a:tcPr>
                </a:tc>
                <a:tc>
                  <a:txBody>
                    <a:bodyPr/>
                    <a:lstStyle/>
                    <a:p>
                      <a:pPr>
                        <a:buNone/>
                      </a:pPr>
                      <a:r>
                        <a:rPr lang="en-IN" sz="1000"/>
                        <a:t>Face recognition, K-Means clustering</a:t>
                      </a:r>
                    </a:p>
                  </a:txBody>
                  <a:tcPr marL="21212" marR="21212" marT="10606" marB="10606" anchor="ctr">
                    <a:lnL>
                      <a:noFill/>
                    </a:lnL>
                    <a:lnR>
                      <a:noFill/>
                    </a:lnR>
                    <a:lnT>
                      <a:noFill/>
                    </a:lnT>
                    <a:lnB>
                      <a:noFill/>
                    </a:lnB>
                    <a:noFill/>
                  </a:tcPr>
                </a:tc>
                <a:extLst>
                  <a:ext uri="{0D108BD9-81ED-4DB2-BD59-A6C34878D82A}">
                    <a16:rowId xmlns:a16="http://schemas.microsoft.com/office/drawing/2014/main" val="3167686602"/>
                  </a:ext>
                </a:extLst>
              </a:tr>
              <a:tr h="693687">
                <a:tc>
                  <a:txBody>
                    <a:bodyPr/>
                    <a:lstStyle/>
                    <a:p>
                      <a:pPr>
                        <a:buNone/>
                      </a:pPr>
                      <a:r>
                        <a:rPr lang="en-IN" sz="1000" b="1"/>
                        <a:t>Manhattan Distance</a:t>
                      </a:r>
                      <a:endParaRPr lang="en-IN" sz="1000"/>
                    </a:p>
                  </a:txBody>
                  <a:tcPr marL="21212" marR="21212" marT="10606" marB="10606" anchor="ctr">
                    <a:lnL>
                      <a:noFill/>
                    </a:lnL>
                    <a:lnR>
                      <a:noFill/>
                    </a:lnR>
                    <a:lnT>
                      <a:noFill/>
                    </a:lnT>
                    <a:lnB>
                      <a:noFill/>
                    </a:lnB>
                    <a:noFill/>
                  </a:tcPr>
                </a:tc>
                <a:tc>
                  <a:txBody>
                    <a:bodyPr/>
                    <a:lstStyle/>
                    <a:p>
                      <a:pPr>
                        <a:buNone/>
                      </a:pPr>
                      <a:r>
                        <a:rPr lang="en-IN" sz="1000" dirty="0"/>
                        <a:t>Distance</a:t>
                      </a:r>
                    </a:p>
                  </a:txBody>
                  <a:tcPr marL="21212" marR="21212" marT="10606" marB="10606" anchor="ctr">
                    <a:lnL>
                      <a:noFill/>
                    </a:lnL>
                    <a:lnR>
                      <a:noFill/>
                    </a:lnR>
                    <a:lnT>
                      <a:noFill/>
                    </a:lnT>
                    <a:lnB>
                      <a:noFill/>
                    </a:lnB>
                    <a:noFill/>
                  </a:tcPr>
                </a:tc>
                <a:tc>
                  <a:txBody>
                    <a:bodyPr/>
                    <a:lstStyle/>
                    <a:p>
                      <a:pPr>
                        <a:buNone/>
                      </a:pPr>
                      <a:r>
                        <a:rPr lang="en-IN" sz="1000"/>
                        <a:t>Sum of absolute differences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dirty="0"/>
                        <a:t>Works better when features are independent Less sensitive to outliers than Euclidean</a:t>
                      </a:r>
                    </a:p>
                  </a:txBody>
                  <a:tcPr marL="21212" marR="21212" marT="10606" marB="10606" anchor="ctr">
                    <a:lnL>
                      <a:noFill/>
                    </a:lnL>
                    <a:lnR>
                      <a:noFill/>
                    </a:lnR>
                    <a:lnT>
                      <a:noFill/>
                    </a:lnT>
                    <a:lnB>
                      <a:noFill/>
                    </a:lnB>
                    <a:noFill/>
                  </a:tcPr>
                </a:tc>
                <a:tc>
                  <a:txBody>
                    <a:bodyPr/>
                    <a:lstStyle/>
                    <a:p>
                      <a:pPr>
                        <a:buNone/>
                      </a:pPr>
                      <a:r>
                        <a:rPr lang="en-IN" sz="1000" dirty="0"/>
                        <a:t> Still affected by scale  </a:t>
                      </a:r>
                    </a:p>
                    <a:p>
                      <a:pPr>
                        <a:buNone/>
                      </a:pPr>
                      <a:r>
                        <a:rPr lang="en-IN" sz="1000" dirty="0"/>
                        <a:t>Less intuitive geometrically</a:t>
                      </a:r>
                    </a:p>
                  </a:txBody>
                  <a:tcPr marL="21212" marR="21212" marT="10606" marB="10606" anchor="ctr">
                    <a:lnL>
                      <a:noFill/>
                    </a:lnL>
                    <a:lnR>
                      <a:noFill/>
                    </a:lnR>
                    <a:lnT>
                      <a:noFill/>
                    </a:lnT>
                    <a:lnB>
                      <a:noFill/>
                    </a:lnB>
                    <a:noFill/>
                  </a:tcPr>
                </a:tc>
                <a:tc>
                  <a:txBody>
                    <a:bodyPr/>
                    <a:lstStyle/>
                    <a:p>
                      <a:pPr>
                        <a:buNone/>
                      </a:pPr>
                      <a:r>
                        <a:rPr lang="en-IN" sz="1000"/>
                        <a:t>Grid-based navigation, clustering, city-block distance problems</a:t>
                      </a:r>
                    </a:p>
                  </a:txBody>
                  <a:tcPr marL="21212" marR="21212" marT="10606" marB="10606" anchor="ctr">
                    <a:lnL>
                      <a:noFill/>
                    </a:lnL>
                    <a:lnR>
                      <a:noFill/>
                    </a:lnR>
                    <a:lnT>
                      <a:noFill/>
                    </a:lnT>
                    <a:lnB>
                      <a:noFill/>
                    </a:lnB>
                    <a:noFill/>
                  </a:tcPr>
                </a:tc>
                <a:tc>
                  <a:txBody>
                    <a:bodyPr/>
                    <a:lstStyle/>
                    <a:p>
                      <a:pPr>
                        <a:buNone/>
                      </a:pPr>
                      <a:r>
                        <a:rPr lang="en-IN" sz="1000"/>
                        <a:t>Robot path planning, location-based services</a:t>
                      </a:r>
                    </a:p>
                  </a:txBody>
                  <a:tcPr marL="21212" marR="21212" marT="10606" marB="10606" anchor="ctr">
                    <a:lnL>
                      <a:noFill/>
                    </a:lnL>
                    <a:lnR>
                      <a:noFill/>
                    </a:lnR>
                    <a:lnT>
                      <a:noFill/>
                    </a:lnT>
                    <a:lnB>
                      <a:noFill/>
                    </a:lnB>
                    <a:noFill/>
                  </a:tcPr>
                </a:tc>
                <a:extLst>
                  <a:ext uri="{0D108BD9-81ED-4DB2-BD59-A6C34878D82A}">
                    <a16:rowId xmlns:a16="http://schemas.microsoft.com/office/drawing/2014/main" val="349617578"/>
                  </a:ext>
                </a:extLst>
              </a:tr>
              <a:tr h="693687">
                <a:tc>
                  <a:txBody>
                    <a:bodyPr/>
                    <a:lstStyle/>
                    <a:p>
                      <a:pPr>
                        <a:buNone/>
                      </a:pPr>
                      <a:r>
                        <a:rPr lang="en-IN" sz="1000" b="1"/>
                        <a:t>Levenshtein Distance</a:t>
                      </a:r>
                      <a:endParaRPr lang="en-IN" sz="1000"/>
                    </a:p>
                  </a:txBody>
                  <a:tcPr marL="21212" marR="21212" marT="10606" marB="10606" anchor="ctr">
                    <a:lnL>
                      <a:noFill/>
                    </a:lnL>
                    <a:lnR>
                      <a:noFill/>
                    </a:lnR>
                    <a:lnT>
                      <a:noFill/>
                    </a:lnT>
                    <a:lnB>
                      <a:noFill/>
                    </a:lnB>
                    <a:noFill/>
                  </a:tcPr>
                </a:tc>
                <a:tc>
                  <a:txBody>
                    <a:bodyPr/>
                    <a:lstStyle/>
                    <a:p>
                      <a:pPr>
                        <a:buNone/>
                      </a:pPr>
                      <a:r>
                        <a:rPr lang="en-IN" sz="1000"/>
                        <a:t>Distance</a:t>
                      </a:r>
                    </a:p>
                  </a:txBody>
                  <a:tcPr marL="21212" marR="21212" marT="10606" marB="10606" anchor="ctr">
                    <a:lnL>
                      <a:noFill/>
                    </a:lnL>
                    <a:lnR>
                      <a:noFill/>
                    </a:lnR>
                    <a:lnT>
                      <a:noFill/>
                    </a:lnT>
                    <a:lnB>
                      <a:noFill/>
                    </a:lnB>
                    <a:noFill/>
                  </a:tcPr>
                </a:tc>
                <a:tc>
                  <a:txBody>
                    <a:bodyPr/>
                    <a:lstStyle/>
                    <a:p>
                      <a:pPr>
                        <a:buNone/>
                      </a:pPr>
                      <a:r>
                        <a:rPr lang="en-IN" sz="1000"/>
                        <a:t>Minimum edits between strings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dirty="0"/>
                        <a:t>Captures spelling errors </a:t>
                      </a:r>
                    </a:p>
                    <a:p>
                      <a:pPr>
                        <a:buNone/>
                      </a:pPr>
                      <a:r>
                        <a:rPr lang="en-IN" sz="1000" dirty="0"/>
                        <a:t>Works at character level </a:t>
                      </a:r>
                    </a:p>
                    <a:p>
                      <a:pPr>
                        <a:buNone/>
                      </a:pPr>
                      <a:r>
                        <a:rPr lang="en-IN" sz="1000" dirty="0"/>
                        <a:t> Good for fuzzy matching</a:t>
                      </a:r>
                    </a:p>
                  </a:txBody>
                  <a:tcPr marL="21212" marR="21212" marT="10606" marB="10606" anchor="ctr">
                    <a:lnL>
                      <a:noFill/>
                    </a:lnL>
                    <a:lnR>
                      <a:noFill/>
                    </a:lnR>
                    <a:lnT>
                      <a:noFill/>
                    </a:lnT>
                    <a:lnB>
                      <a:noFill/>
                    </a:lnB>
                    <a:noFill/>
                  </a:tcPr>
                </a:tc>
                <a:tc>
                  <a:txBody>
                    <a:bodyPr/>
                    <a:lstStyle/>
                    <a:p>
                      <a:pPr>
                        <a:buNone/>
                      </a:pPr>
                      <a:r>
                        <a:rPr lang="en-IN" sz="1000" dirty="0"/>
                        <a:t> Slow for long text  </a:t>
                      </a:r>
                    </a:p>
                    <a:p>
                      <a:pPr>
                        <a:buNone/>
                      </a:pPr>
                      <a:r>
                        <a:rPr lang="en-IN" sz="1000" dirty="0"/>
                        <a:t>Not suited for document-level similarity</a:t>
                      </a:r>
                    </a:p>
                  </a:txBody>
                  <a:tcPr marL="21212" marR="21212" marT="10606" marB="10606" anchor="ctr">
                    <a:lnL>
                      <a:noFill/>
                    </a:lnL>
                    <a:lnR>
                      <a:noFill/>
                    </a:lnR>
                    <a:lnT>
                      <a:noFill/>
                    </a:lnT>
                    <a:lnB>
                      <a:noFill/>
                    </a:lnB>
                    <a:noFill/>
                  </a:tcPr>
                </a:tc>
                <a:tc>
                  <a:txBody>
                    <a:bodyPr/>
                    <a:lstStyle/>
                    <a:p>
                      <a:pPr>
                        <a:buNone/>
                      </a:pPr>
                      <a:r>
                        <a:rPr lang="en-IN" sz="1000"/>
                        <a:t>Spell checking, DNA matching, search autocomplete</a:t>
                      </a:r>
                    </a:p>
                  </a:txBody>
                  <a:tcPr marL="21212" marR="21212" marT="10606" marB="10606" anchor="ctr">
                    <a:lnL>
                      <a:noFill/>
                    </a:lnL>
                    <a:lnR>
                      <a:noFill/>
                    </a:lnR>
                    <a:lnT>
                      <a:noFill/>
                    </a:lnT>
                    <a:lnB>
                      <a:noFill/>
                    </a:lnB>
                    <a:noFill/>
                  </a:tcPr>
                </a:tc>
                <a:tc>
                  <a:txBody>
                    <a:bodyPr/>
                    <a:lstStyle/>
                    <a:p>
                      <a:pPr>
                        <a:buNone/>
                      </a:pPr>
                      <a:r>
                        <a:rPr lang="en-IN" sz="1000"/>
                        <a:t>"recieve" → "receive" correction</a:t>
                      </a:r>
                    </a:p>
                  </a:txBody>
                  <a:tcPr marL="21212" marR="21212" marT="10606" marB="10606" anchor="ctr">
                    <a:lnL>
                      <a:noFill/>
                    </a:lnL>
                    <a:lnR>
                      <a:noFill/>
                    </a:lnR>
                    <a:lnT>
                      <a:noFill/>
                    </a:lnT>
                    <a:lnB>
                      <a:noFill/>
                    </a:lnB>
                    <a:noFill/>
                  </a:tcPr>
                </a:tc>
                <a:extLst>
                  <a:ext uri="{0D108BD9-81ED-4DB2-BD59-A6C34878D82A}">
                    <a16:rowId xmlns:a16="http://schemas.microsoft.com/office/drawing/2014/main" val="1131249132"/>
                  </a:ext>
                </a:extLst>
              </a:tr>
              <a:tr h="488249">
                <a:tc>
                  <a:txBody>
                    <a:bodyPr/>
                    <a:lstStyle/>
                    <a:p>
                      <a:pPr>
                        <a:buNone/>
                      </a:pPr>
                      <a:r>
                        <a:rPr lang="en-IN" sz="1000" b="1"/>
                        <a:t>Pearson Coefficient</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Linear relationship between vectors</a:t>
                      </a:r>
                    </a:p>
                  </a:txBody>
                  <a:tcPr marL="21212" marR="21212" marT="10606" marB="10606" anchor="ctr">
                    <a:lnL>
                      <a:noFill/>
                    </a:lnL>
                    <a:lnR>
                      <a:noFill/>
                    </a:lnR>
                    <a:lnT>
                      <a:noFill/>
                    </a:lnT>
                    <a:lnB>
                      <a:noFill/>
                    </a:lnB>
                    <a:noFill/>
                  </a:tcPr>
                </a:tc>
                <a:tc>
                  <a:txBody>
                    <a:bodyPr/>
                    <a:lstStyle/>
                    <a:p>
                      <a:pPr>
                        <a:buNone/>
                      </a:pPr>
                      <a:r>
                        <a:rPr lang="en-IN" sz="1000"/>
                        <a:t>-1 to 1</a:t>
                      </a:r>
                    </a:p>
                  </a:txBody>
                  <a:tcPr marL="21212" marR="21212" marT="10606" marB="10606" anchor="ctr">
                    <a:lnL>
                      <a:noFill/>
                    </a:lnL>
                    <a:lnR>
                      <a:noFill/>
                    </a:lnR>
                    <a:lnT>
                      <a:noFill/>
                    </a:lnT>
                    <a:lnB>
                      <a:noFill/>
                    </a:lnB>
                    <a:noFill/>
                  </a:tcPr>
                </a:tc>
                <a:tc>
                  <a:txBody>
                    <a:bodyPr/>
                    <a:lstStyle/>
                    <a:p>
                      <a:pPr>
                        <a:buNone/>
                      </a:pPr>
                      <a:r>
                        <a:rPr lang="en-IN" sz="1000" dirty="0"/>
                        <a:t> Removes bias due to scale </a:t>
                      </a:r>
                    </a:p>
                    <a:p>
                      <a:pPr>
                        <a:buNone/>
                      </a:pPr>
                      <a:r>
                        <a:rPr lang="en-IN" sz="1000" dirty="0"/>
                        <a:t>Detects correlation trends</a:t>
                      </a:r>
                    </a:p>
                  </a:txBody>
                  <a:tcPr marL="21212" marR="21212" marT="10606" marB="10606" anchor="ctr">
                    <a:lnL>
                      <a:noFill/>
                    </a:lnL>
                    <a:lnR>
                      <a:noFill/>
                    </a:lnR>
                    <a:lnT>
                      <a:noFill/>
                    </a:lnT>
                    <a:lnB>
                      <a:noFill/>
                    </a:lnB>
                    <a:noFill/>
                  </a:tcPr>
                </a:tc>
                <a:tc>
                  <a:txBody>
                    <a:bodyPr/>
                    <a:lstStyle/>
                    <a:p>
                      <a:pPr>
                        <a:buNone/>
                      </a:pPr>
                      <a:r>
                        <a:rPr lang="en-IN" sz="1000" dirty="0"/>
                        <a:t> Sensitive to noise</a:t>
                      </a:r>
                    </a:p>
                    <a:p>
                      <a:pPr>
                        <a:buNone/>
                      </a:pPr>
                      <a:r>
                        <a:rPr lang="en-IN" sz="1000" dirty="0"/>
                        <a:t>  Requires numerical vectors</a:t>
                      </a:r>
                    </a:p>
                  </a:txBody>
                  <a:tcPr marL="21212" marR="21212" marT="10606" marB="10606" anchor="ctr">
                    <a:lnL>
                      <a:noFill/>
                    </a:lnL>
                    <a:lnR>
                      <a:noFill/>
                    </a:lnR>
                    <a:lnT>
                      <a:noFill/>
                    </a:lnT>
                    <a:lnB>
                      <a:noFill/>
                    </a:lnB>
                    <a:noFill/>
                  </a:tcPr>
                </a:tc>
                <a:tc>
                  <a:txBody>
                    <a:bodyPr/>
                    <a:lstStyle/>
                    <a:p>
                      <a:pPr>
                        <a:buNone/>
                      </a:pPr>
                      <a:r>
                        <a:rPr lang="en-IN" sz="1000"/>
                        <a:t>Recommendation systems, rating prediction</a:t>
                      </a:r>
                    </a:p>
                  </a:txBody>
                  <a:tcPr marL="21212" marR="21212" marT="10606" marB="10606" anchor="ctr">
                    <a:lnL>
                      <a:noFill/>
                    </a:lnL>
                    <a:lnR>
                      <a:noFill/>
                    </a:lnR>
                    <a:lnT>
                      <a:noFill/>
                    </a:lnT>
                    <a:lnB>
                      <a:noFill/>
                    </a:lnB>
                    <a:noFill/>
                  </a:tcPr>
                </a:tc>
                <a:tc>
                  <a:txBody>
                    <a:bodyPr/>
                    <a:lstStyle/>
                    <a:p>
                      <a:pPr>
                        <a:buNone/>
                      </a:pPr>
                      <a:r>
                        <a:rPr lang="en-IN" sz="1000" dirty="0"/>
                        <a:t>Movie recommendation based on user ratings</a:t>
                      </a:r>
                    </a:p>
                  </a:txBody>
                  <a:tcPr marL="21212" marR="21212" marT="10606" marB="10606" anchor="ctr">
                    <a:lnL>
                      <a:noFill/>
                    </a:lnL>
                    <a:lnR>
                      <a:noFill/>
                    </a:lnR>
                    <a:lnT>
                      <a:noFill/>
                    </a:lnT>
                    <a:lnB>
                      <a:noFill/>
                    </a:lnB>
                    <a:noFill/>
                  </a:tcPr>
                </a:tc>
                <a:extLst>
                  <a:ext uri="{0D108BD9-81ED-4DB2-BD59-A6C34878D82A}">
                    <a16:rowId xmlns:a16="http://schemas.microsoft.com/office/drawing/2014/main" val="4243223454"/>
                  </a:ext>
                </a:extLst>
              </a:tr>
            </a:tbl>
          </a:graphicData>
        </a:graphic>
      </p:graphicFrame>
    </p:spTree>
    <p:extLst>
      <p:ext uri="{BB962C8B-B14F-4D97-AF65-F5344CB8AC3E}">
        <p14:creationId xmlns:p14="http://schemas.microsoft.com/office/powerpoint/2010/main" val="17670502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A64D4-1C43-D0E5-5F3B-1F5DB90F43CB}"/>
              </a:ext>
            </a:extLst>
          </p:cNvPr>
          <p:cNvSpPr>
            <a:spLocks noGrp="1"/>
          </p:cNvSpPr>
          <p:nvPr>
            <p:ph type="title"/>
          </p:nvPr>
        </p:nvSpPr>
        <p:spPr/>
        <p:txBody>
          <a:bodyPr/>
          <a:lstStyle/>
          <a:p>
            <a:r>
              <a:rPr lang="en-US" dirty="0"/>
              <a:t>TDIM</a:t>
            </a:r>
          </a:p>
        </p:txBody>
      </p:sp>
      <p:sp>
        <p:nvSpPr>
          <p:cNvPr id="3" name="Content Placeholder 2">
            <a:extLst>
              <a:ext uri="{FF2B5EF4-FFF2-40B4-BE49-F238E27FC236}">
                <a16:creationId xmlns:a16="http://schemas.microsoft.com/office/drawing/2014/main" id="{531F395F-AD8D-ABA5-3B58-62D09F96E2BE}"/>
              </a:ext>
            </a:extLst>
          </p:cNvPr>
          <p:cNvSpPr>
            <a:spLocks noGrp="1"/>
          </p:cNvSpPr>
          <p:nvPr>
            <p:ph idx="1"/>
          </p:nvPr>
        </p:nvSpPr>
        <p:spPr>
          <a:xfrm>
            <a:off x="838200" y="1391359"/>
            <a:ext cx="10515600" cy="1751161"/>
          </a:xfrm>
        </p:spPr>
        <p:txBody>
          <a:bodyPr>
            <a:normAutofit fontScale="55000" lnSpcReduction="20000"/>
          </a:bodyPr>
          <a:lstStyle/>
          <a:p>
            <a:r>
              <a:rPr lang="en-IN" b="1" dirty="0"/>
              <a:t>Given Documents</a:t>
            </a:r>
          </a:p>
          <a:p>
            <a:r>
              <a:rPr lang="en-IN" b="1" dirty="0"/>
              <a:t>D1:</a:t>
            </a:r>
            <a:r>
              <a:rPr lang="en-IN" dirty="0"/>
              <a:t> “machine learning algorithms”</a:t>
            </a:r>
          </a:p>
          <a:p>
            <a:r>
              <a:rPr lang="en-IN" b="1" dirty="0"/>
              <a:t>D2:</a:t>
            </a:r>
            <a:r>
              <a:rPr lang="en-IN" dirty="0"/>
              <a:t> “learning data mining”</a:t>
            </a:r>
          </a:p>
          <a:p>
            <a:r>
              <a:rPr lang="en-IN" b="1" dirty="0"/>
              <a:t>D3:</a:t>
            </a:r>
            <a:r>
              <a:rPr lang="en-IN" dirty="0"/>
              <a:t> “machine data science”</a:t>
            </a:r>
          </a:p>
          <a:p>
            <a:r>
              <a:rPr lang="en-IN" dirty="0"/>
              <a:t>First list all </a:t>
            </a:r>
            <a:r>
              <a:rPr lang="en-IN" b="1" dirty="0"/>
              <a:t>unique terms</a:t>
            </a:r>
            <a:r>
              <a:rPr lang="en-IN" dirty="0"/>
              <a:t>:</a:t>
            </a:r>
          </a:p>
          <a:p>
            <a:r>
              <a:rPr lang="en-IN" dirty="0"/>
              <a:t>machine, learning, algorithms, data, mining, science</a:t>
            </a:r>
          </a:p>
          <a:p>
            <a:endParaRPr lang="en-US" dirty="0"/>
          </a:p>
        </p:txBody>
      </p:sp>
      <p:graphicFrame>
        <p:nvGraphicFramePr>
          <p:cNvPr id="11" name="Table 10">
            <a:extLst>
              <a:ext uri="{FF2B5EF4-FFF2-40B4-BE49-F238E27FC236}">
                <a16:creationId xmlns:a16="http://schemas.microsoft.com/office/drawing/2014/main" id="{9CB452F5-5E2B-9E00-FEAE-550FAE6E67BB}"/>
              </a:ext>
            </a:extLst>
          </p:cNvPr>
          <p:cNvGraphicFramePr>
            <a:graphicFrameLocks noGrp="1"/>
          </p:cNvGraphicFramePr>
          <p:nvPr>
            <p:extLst>
              <p:ext uri="{D42A27DB-BD31-4B8C-83A1-F6EECF244321}">
                <p14:modId xmlns:p14="http://schemas.microsoft.com/office/powerpoint/2010/main" val="330009072"/>
              </p:ext>
            </p:extLst>
          </p:nvPr>
        </p:nvGraphicFramePr>
        <p:xfrm>
          <a:off x="838200" y="4046875"/>
          <a:ext cx="7285384" cy="2560320"/>
        </p:xfrm>
        <a:graphic>
          <a:graphicData uri="http://schemas.openxmlformats.org/drawingml/2006/table">
            <a:tbl>
              <a:tblPr/>
              <a:tblGrid>
                <a:gridCol w="1821346">
                  <a:extLst>
                    <a:ext uri="{9D8B030D-6E8A-4147-A177-3AD203B41FA5}">
                      <a16:colId xmlns:a16="http://schemas.microsoft.com/office/drawing/2014/main" val="2412394786"/>
                    </a:ext>
                  </a:extLst>
                </a:gridCol>
                <a:gridCol w="1821346">
                  <a:extLst>
                    <a:ext uri="{9D8B030D-6E8A-4147-A177-3AD203B41FA5}">
                      <a16:colId xmlns:a16="http://schemas.microsoft.com/office/drawing/2014/main" val="3522805507"/>
                    </a:ext>
                  </a:extLst>
                </a:gridCol>
                <a:gridCol w="1821346">
                  <a:extLst>
                    <a:ext uri="{9D8B030D-6E8A-4147-A177-3AD203B41FA5}">
                      <a16:colId xmlns:a16="http://schemas.microsoft.com/office/drawing/2014/main" val="2027367914"/>
                    </a:ext>
                  </a:extLst>
                </a:gridCol>
                <a:gridCol w="1821346">
                  <a:extLst>
                    <a:ext uri="{9D8B030D-6E8A-4147-A177-3AD203B41FA5}">
                      <a16:colId xmlns:a16="http://schemas.microsoft.com/office/drawing/2014/main" val="1338690416"/>
                    </a:ext>
                  </a:extLst>
                </a:gridCol>
              </a:tblGrid>
              <a:tr h="290264">
                <a:tc>
                  <a:txBody>
                    <a:bodyPr/>
                    <a:lstStyle/>
                    <a:p>
                      <a:pPr>
                        <a:buNone/>
                      </a:pPr>
                      <a:r>
                        <a:rPr lang="en-IN"/>
                        <a:t>Term</a:t>
                      </a:r>
                    </a:p>
                  </a:txBody>
                  <a:tcPr anchor="ctr">
                    <a:lnL>
                      <a:noFill/>
                    </a:lnL>
                    <a:lnR>
                      <a:noFill/>
                    </a:lnR>
                    <a:lnT>
                      <a:noFill/>
                    </a:lnT>
                    <a:lnB>
                      <a:noFill/>
                    </a:lnB>
                    <a:noFill/>
                  </a:tcPr>
                </a:tc>
                <a:tc>
                  <a:txBody>
                    <a:bodyPr/>
                    <a:lstStyle/>
                    <a:p>
                      <a:pPr>
                        <a:buNone/>
                      </a:pPr>
                      <a:r>
                        <a:rPr lang="en-IN"/>
                        <a:t>D1</a:t>
                      </a:r>
                    </a:p>
                  </a:txBody>
                  <a:tcPr anchor="ctr">
                    <a:lnL>
                      <a:noFill/>
                    </a:lnL>
                    <a:lnR>
                      <a:noFill/>
                    </a:lnR>
                    <a:lnT>
                      <a:noFill/>
                    </a:lnT>
                    <a:lnB>
                      <a:noFill/>
                    </a:lnB>
                    <a:noFill/>
                  </a:tcPr>
                </a:tc>
                <a:tc>
                  <a:txBody>
                    <a:bodyPr/>
                    <a:lstStyle/>
                    <a:p>
                      <a:pPr>
                        <a:buNone/>
                      </a:pPr>
                      <a:r>
                        <a:rPr lang="en-IN"/>
                        <a:t>D2</a:t>
                      </a:r>
                    </a:p>
                  </a:txBody>
                  <a:tcPr anchor="ctr">
                    <a:lnL>
                      <a:noFill/>
                    </a:lnL>
                    <a:lnR>
                      <a:noFill/>
                    </a:lnR>
                    <a:lnT>
                      <a:noFill/>
                    </a:lnT>
                    <a:lnB>
                      <a:noFill/>
                    </a:lnB>
                    <a:noFill/>
                  </a:tcPr>
                </a:tc>
                <a:tc>
                  <a:txBody>
                    <a:bodyPr/>
                    <a:lstStyle/>
                    <a:p>
                      <a:pPr>
                        <a:buNone/>
                      </a:pPr>
                      <a:r>
                        <a:rPr lang="en-IN"/>
                        <a:t>D3</a:t>
                      </a:r>
                    </a:p>
                  </a:txBody>
                  <a:tcPr anchor="ctr">
                    <a:lnL>
                      <a:noFill/>
                    </a:lnL>
                    <a:lnR>
                      <a:noFill/>
                    </a:lnR>
                    <a:lnT>
                      <a:noFill/>
                    </a:lnT>
                    <a:lnB>
                      <a:noFill/>
                    </a:lnB>
                    <a:noFill/>
                  </a:tcPr>
                </a:tc>
                <a:extLst>
                  <a:ext uri="{0D108BD9-81ED-4DB2-BD59-A6C34878D82A}">
                    <a16:rowId xmlns:a16="http://schemas.microsoft.com/office/drawing/2014/main" val="2453800703"/>
                  </a:ext>
                </a:extLst>
              </a:tr>
              <a:tr h="290264">
                <a:tc>
                  <a:txBody>
                    <a:bodyPr/>
                    <a:lstStyle/>
                    <a:p>
                      <a:pPr>
                        <a:buNone/>
                      </a:pPr>
                      <a:r>
                        <a:rPr lang="en-IN"/>
                        <a:t>machine</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tc>
                  <a:txBody>
                    <a:bodyPr/>
                    <a:lstStyle/>
                    <a:p>
                      <a:pPr>
                        <a:buNone/>
                      </a:pPr>
                      <a:r>
                        <a:rPr lang="en-IN" dirty="0"/>
                        <a:t>0</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extLst>
                  <a:ext uri="{0D108BD9-81ED-4DB2-BD59-A6C34878D82A}">
                    <a16:rowId xmlns:a16="http://schemas.microsoft.com/office/drawing/2014/main" val="2935929918"/>
                  </a:ext>
                </a:extLst>
              </a:tr>
              <a:tr h="290264">
                <a:tc>
                  <a:txBody>
                    <a:bodyPr/>
                    <a:lstStyle/>
                    <a:p>
                      <a:pPr>
                        <a:buNone/>
                      </a:pPr>
                      <a:r>
                        <a:rPr lang="en-IN"/>
                        <a:t>learning</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extLst>
                  <a:ext uri="{0D108BD9-81ED-4DB2-BD59-A6C34878D82A}">
                    <a16:rowId xmlns:a16="http://schemas.microsoft.com/office/drawing/2014/main" val="1275954372"/>
                  </a:ext>
                </a:extLst>
              </a:tr>
              <a:tr h="290264">
                <a:tc>
                  <a:txBody>
                    <a:bodyPr/>
                    <a:lstStyle/>
                    <a:p>
                      <a:pPr>
                        <a:buNone/>
                      </a:pPr>
                      <a:r>
                        <a:rPr lang="en-IN"/>
                        <a:t>algorithms</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extLst>
                  <a:ext uri="{0D108BD9-81ED-4DB2-BD59-A6C34878D82A}">
                    <a16:rowId xmlns:a16="http://schemas.microsoft.com/office/drawing/2014/main" val="4208037025"/>
                  </a:ext>
                </a:extLst>
              </a:tr>
              <a:tr h="290264">
                <a:tc>
                  <a:txBody>
                    <a:bodyPr/>
                    <a:lstStyle/>
                    <a:p>
                      <a:pPr>
                        <a:buNone/>
                      </a:pPr>
                      <a:r>
                        <a:rPr lang="en-IN"/>
                        <a:t>data</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133824381"/>
                  </a:ext>
                </a:extLst>
              </a:tr>
              <a:tr h="290264">
                <a:tc>
                  <a:txBody>
                    <a:bodyPr/>
                    <a:lstStyle/>
                    <a:p>
                      <a:pPr>
                        <a:buNone/>
                      </a:pPr>
                      <a:r>
                        <a:rPr lang="en-IN"/>
                        <a:t>mining</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extLst>
                  <a:ext uri="{0D108BD9-81ED-4DB2-BD59-A6C34878D82A}">
                    <a16:rowId xmlns:a16="http://schemas.microsoft.com/office/drawing/2014/main" val="146328699"/>
                  </a:ext>
                </a:extLst>
              </a:tr>
              <a:tr h="290264">
                <a:tc>
                  <a:txBody>
                    <a:bodyPr/>
                    <a:lstStyle/>
                    <a:p>
                      <a:pPr>
                        <a:buNone/>
                      </a:pPr>
                      <a:r>
                        <a:rPr lang="en-IN"/>
                        <a:t>science</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extLst>
                  <a:ext uri="{0D108BD9-81ED-4DB2-BD59-A6C34878D82A}">
                    <a16:rowId xmlns:a16="http://schemas.microsoft.com/office/drawing/2014/main" val="2826641269"/>
                  </a:ext>
                </a:extLst>
              </a:tr>
            </a:tbl>
          </a:graphicData>
        </a:graphic>
      </p:graphicFrame>
      <p:sp>
        <p:nvSpPr>
          <p:cNvPr id="12" name="Rectangle 6">
            <a:extLst>
              <a:ext uri="{FF2B5EF4-FFF2-40B4-BE49-F238E27FC236}">
                <a16:creationId xmlns:a16="http://schemas.microsoft.com/office/drawing/2014/main" id="{3A8976C9-F268-E159-A8D9-D217526C7714}"/>
              </a:ext>
            </a:extLst>
          </p:cNvPr>
          <p:cNvSpPr>
            <a:spLocks noChangeArrowheads="1"/>
          </p:cNvSpPr>
          <p:nvPr/>
        </p:nvSpPr>
        <p:spPr bwMode="auto">
          <a:xfrm>
            <a:off x="838200" y="34290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Term-Document Incidence Matrix (TDIM)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Explanation: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Put </a:t>
            </a:r>
            <a:r>
              <a:rPr kumimoji="0" lang="en-US" altLang="en-US" sz="1800" b="1" i="0" u="none" strike="noStrike" cap="none" normalizeH="0" baseline="0" dirty="0">
                <a:ln>
                  <a:noFill/>
                </a:ln>
                <a:solidFill>
                  <a:schemeClr val="tx1"/>
                </a:solidFill>
                <a:effectLst/>
                <a:latin typeface="Arial" panose="020B0604020202020204" pitchFamily="34" charset="0"/>
              </a:rPr>
              <a:t>1</a:t>
            </a:r>
            <a:r>
              <a:rPr kumimoji="0" lang="en-US" altLang="en-US" sz="1800" b="0" i="0" u="none" strike="noStrike" cap="none" normalizeH="0" baseline="0" dirty="0">
                <a:ln>
                  <a:noFill/>
                </a:ln>
                <a:solidFill>
                  <a:schemeClr val="tx1"/>
                </a:solidFill>
                <a:effectLst/>
                <a:latin typeface="Arial" panose="020B0604020202020204" pitchFamily="34" charset="0"/>
              </a:rPr>
              <a:t> if the word appears in the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Put </a:t>
            </a:r>
            <a:r>
              <a:rPr kumimoji="0" lang="en-US" altLang="en-US" sz="1800" b="1" i="0" u="none" strike="noStrike" cap="none" normalizeH="0" baseline="0" dirty="0">
                <a:ln>
                  <a:noFill/>
                </a:ln>
                <a:solidFill>
                  <a:schemeClr val="tx1"/>
                </a:solidFill>
                <a:effectLst/>
                <a:latin typeface="Arial" panose="020B0604020202020204" pitchFamily="34" charset="0"/>
              </a:rPr>
              <a:t>0</a:t>
            </a:r>
            <a:r>
              <a:rPr kumimoji="0" lang="en-US" altLang="en-US" sz="1800" b="0" i="0" u="none" strike="noStrike" cap="none" normalizeH="0" baseline="0" dirty="0">
                <a:ln>
                  <a:noFill/>
                </a:ln>
                <a:solidFill>
                  <a:schemeClr val="tx1"/>
                </a:solidFill>
                <a:effectLst/>
                <a:latin typeface="Arial" panose="020B0604020202020204" pitchFamily="34" charset="0"/>
              </a:rPr>
              <a:t> if it does not appear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66830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5BD0C-F035-209C-A72E-C893C4EF24BE}"/>
              </a:ext>
            </a:extLst>
          </p:cNvPr>
          <p:cNvSpPr>
            <a:spLocks noGrp="1"/>
          </p:cNvSpPr>
          <p:nvPr>
            <p:ph type="title"/>
          </p:nvPr>
        </p:nvSpPr>
        <p:spPr/>
        <p:txBody>
          <a:bodyPr/>
          <a:lstStyle/>
          <a:p>
            <a:r>
              <a:rPr lang="en-US" dirty="0"/>
              <a:t>Basic Inverted Index</a:t>
            </a:r>
            <a:br>
              <a:rPr lang="en-US" dirty="0"/>
            </a:br>
            <a:endParaRPr lang="en-US" dirty="0"/>
          </a:p>
        </p:txBody>
      </p:sp>
      <p:sp>
        <p:nvSpPr>
          <p:cNvPr id="3" name="Content Placeholder 2">
            <a:extLst>
              <a:ext uri="{FF2B5EF4-FFF2-40B4-BE49-F238E27FC236}">
                <a16:creationId xmlns:a16="http://schemas.microsoft.com/office/drawing/2014/main" id="{DCF508C9-847D-98A2-CFF8-6CED61861994}"/>
              </a:ext>
            </a:extLst>
          </p:cNvPr>
          <p:cNvSpPr>
            <a:spLocks noGrp="1"/>
          </p:cNvSpPr>
          <p:nvPr>
            <p:ph idx="1"/>
          </p:nvPr>
        </p:nvSpPr>
        <p:spPr/>
        <p:txBody>
          <a:bodyPr>
            <a:normAutofit lnSpcReduction="10000"/>
          </a:bodyPr>
          <a:lstStyle/>
          <a:p>
            <a:pPr algn="just"/>
            <a:r>
              <a:rPr lang="en-US" dirty="0"/>
              <a:t>In a basic inverted index, for each term encountered in the document collection, the index maintains a posting list, which is a list of document identifiers (or pointers to documents) where the term occurs. For example:</a:t>
            </a:r>
          </a:p>
          <a:p>
            <a:pPr marL="1371600" lvl="3" indent="0">
              <a:buNone/>
            </a:pPr>
            <a:endParaRPr lang="en-US" sz="4000" dirty="0"/>
          </a:p>
          <a:p>
            <a:pPr marL="1371600" lvl="3" indent="0">
              <a:buNone/>
            </a:pPr>
            <a:r>
              <a:rPr lang="en-US" sz="4000" dirty="0"/>
              <a:t>Term: Document IDs</a:t>
            </a:r>
          </a:p>
          <a:p>
            <a:pPr marL="1371600" lvl="3" indent="0">
              <a:buNone/>
            </a:pPr>
            <a:r>
              <a:rPr lang="en-US" sz="4000" dirty="0"/>
              <a:t>---------------------</a:t>
            </a:r>
          </a:p>
          <a:p>
            <a:pPr marL="1371600" lvl="3" indent="0">
              <a:buNone/>
            </a:pPr>
            <a:r>
              <a:rPr lang="en-US" sz="4000" dirty="0"/>
              <a:t>cat: [1, 3, 5]</a:t>
            </a:r>
          </a:p>
          <a:p>
            <a:pPr marL="1371600" lvl="3" indent="0">
              <a:buNone/>
            </a:pPr>
            <a:r>
              <a:rPr lang="en-US" sz="4000" dirty="0"/>
              <a:t>dog: [2, 4, 5, 6]</a:t>
            </a:r>
          </a:p>
          <a:p>
            <a:endParaRPr lang="en-US" dirty="0"/>
          </a:p>
        </p:txBody>
      </p:sp>
    </p:spTree>
    <p:extLst>
      <p:ext uri="{BB962C8B-B14F-4D97-AF65-F5344CB8AC3E}">
        <p14:creationId xmlns:p14="http://schemas.microsoft.com/office/powerpoint/2010/main" val="2143302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611D-FF3A-B399-72BB-D17254D059E6}"/>
              </a:ext>
            </a:extLst>
          </p:cNvPr>
          <p:cNvSpPr>
            <a:spLocks noGrp="1"/>
          </p:cNvSpPr>
          <p:nvPr>
            <p:ph type="title"/>
          </p:nvPr>
        </p:nvSpPr>
        <p:spPr/>
        <p:txBody>
          <a:bodyPr/>
          <a:lstStyle/>
          <a:p>
            <a:r>
              <a:rPr lang="en-US" dirty="0"/>
              <a:t>Positional Index</a:t>
            </a:r>
            <a:br>
              <a:rPr lang="en-US" dirty="0"/>
            </a:br>
            <a:endParaRPr lang="en-US" dirty="0"/>
          </a:p>
        </p:txBody>
      </p:sp>
      <p:sp>
        <p:nvSpPr>
          <p:cNvPr id="5" name="TextBox 4">
            <a:extLst>
              <a:ext uri="{FF2B5EF4-FFF2-40B4-BE49-F238E27FC236}">
                <a16:creationId xmlns:a16="http://schemas.microsoft.com/office/drawing/2014/main" id="{852502F4-CC30-91FE-855F-091A285F7786}"/>
              </a:ext>
            </a:extLst>
          </p:cNvPr>
          <p:cNvSpPr txBox="1"/>
          <p:nvPr/>
        </p:nvSpPr>
        <p:spPr>
          <a:xfrm>
            <a:off x="838200" y="1485900"/>
            <a:ext cx="10791825" cy="2215991"/>
          </a:xfrm>
          <a:prstGeom prst="rect">
            <a:avLst/>
          </a:prstGeom>
          <a:noFill/>
        </p:spPr>
        <p:txBody>
          <a:bodyPr wrap="square" rtlCol="0">
            <a:spAutoFit/>
          </a:bodyPr>
          <a:lstStyle/>
          <a:p>
            <a:pPr algn="just"/>
            <a:r>
              <a:rPr lang="en-IN" sz="2400" dirty="0"/>
              <a:t>A positional index is a type of inverted index used in information retrieval systems that not only records which documents contain a given term but also stores the positions (or offsets) of occurrences of that term within each document. This additional positional information  allows for more advanced retrieval techniques, such as phrase search, proximity search, and phrase highlighting.</a:t>
            </a:r>
          </a:p>
          <a:p>
            <a:r>
              <a:rPr lang="en-IN" i="1" dirty="0"/>
              <a:t> </a:t>
            </a:r>
            <a:endParaRPr lang="en-IN" dirty="0"/>
          </a:p>
        </p:txBody>
      </p:sp>
    </p:spTree>
    <p:extLst>
      <p:ext uri="{BB962C8B-B14F-4D97-AF65-F5344CB8AC3E}">
        <p14:creationId xmlns:p14="http://schemas.microsoft.com/office/powerpoint/2010/main" val="20345968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401E-A8AD-9A54-D5B0-09A6C51C6059}"/>
              </a:ext>
            </a:extLst>
          </p:cNvPr>
          <p:cNvSpPr>
            <a:spLocks noGrp="1"/>
          </p:cNvSpPr>
          <p:nvPr>
            <p:ph type="title"/>
          </p:nvPr>
        </p:nvSpPr>
        <p:spPr/>
        <p:txBody>
          <a:bodyPr/>
          <a:lstStyle/>
          <a:p>
            <a:r>
              <a:rPr lang="en-US" dirty="0"/>
              <a:t>Positional Index Extension</a:t>
            </a:r>
            <a:br>
              <a:rPr lang="en-US" dirty="0"/>
            </a:br>
            <a:endParaRPr lang="en-US" dirty="0"/>
          </a:p>
        </p:txBody>
      </p:sp>
      <p:sp>
        <p:nvSpPr>
          <p:cNvPr id="3" name="Content Placeholder 2">
            <a:extLst>
              <a:ext uri="{FF2B5EF4-FFF2-40B4-BE49-F238E27FC236}">
                <a16:creationId xmlns:a16="http://schemas.microsoft.com/office/drawing/2014/main" id="{39C13953-AC03-35F1-9CE4-F20B2B8090F4}"/>
              </a:ext>
            </a:extLst>
          </p:cNvPr>
          <p:cNvSpPr>
            <a:spLocks noGrp="1"/>
          </p:cNvSpPr>
          <p:nvPr>
            <p:ph idx="1"/>
          </p:nvPr>
        </p:nvSpPr>
        <p:spPr/>
        <p:txBody>
          <a:bodyPr>
            <a:normAutofit/>
          </a:bodyPr>
          <a:lstStyle/>
          <a:p>
            <a:pPr algn="just"/>
            <a:r>
              <a:rPr lang="en-IN" dirty="0"/>
              <a:t>In a positional index, each entry in the posting list not only contains the document ID but also includes the positions of occurrences of the term within the document. For example:</a:t>
            </a:r>
          </a:p>
          <a:p>
            <a:pPr marL="1371600" lvl="3" indent="0" algn="just">
              <a:buNone/>
            </a:pPr>
            <a:r>
              <a:rPr lang="en-IN" sz="2400" dirty="0"/>
              <a:t>Term: (Document ID, Positions)</a:t>
            </a:r>
          </a:p>
          <a:p>
            <a:pPr marL="1371600" lvl="3" indent="0" algn="just">
              <a:buNone/>
            </a:pPr>
            <a:r>
              <a:rPr lang="en-IN" sz="2400" dirty="0"/>
              <a:t>------------------------------</a:t>
            </a:r>
          </a:p>
          <a:p>
            <a:pPr marL="1371600" lvl="3" indent="0" algn="just">
              <a:buNone/>
            </a:pPr>
            <a:r>
              <a:rPr lang="en-IN" sz="2400" dirty="0"/>
              <a:t>cat: [(1, [3]), (3, [2, 5]), (5, [7])]</a:t>
            </a:r>
          </a:p>
          <a:p>
            <a:pPr marL="1371600" lvl="3" indent="0" algn="just">
              <a:buNone/>
            </a:pPr>
            <a:r>
              <a:rPr lang="en-IN" sz="2400" dirty="0"/>
              <a:t>dog: [(2, [2]), (4, [1, 4]), (5, [3, 6]), (6, [2])]</a:t>
            </a:r>
          </a:p>
          <a:p>
            <a:pPr algn="just"/>
            <a:r>
              <a:rPr lang="en-IN" dirty="0"/>
              <a:t>Here, Here, the numbers within the square brackets represent the positions of occurrences of the term within the corresponding document.</a:t>
            </a:r>
          </a:p>
          <a:p>
            <a:endParaRPr lang="en-US" dirty="0"/>
          </a:p>
        </p:txBody>
      </p:sp>
    </p:spTree>
    <p:extLst>
      <p:ext uri="{BB962C8B-B14F-4D97-AF65-F5344CB8AC3E}">
        <p14:creationId xmlns:p14="http://schemas.microsoft.com/office/powerpoint/2010/main" val="36560887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FC20-0C29-391E-F1E7-A025A3AB4C2C}"/>
              </a:ext>
            </a:extLst>
          </p:cNvPr>
          <p:cNvSpPr>
            <a:spLocks noGrp="1"/>
          </p:cNvSpPr>
          <p:nvPr>
            <p:ph type="title"/>
          </p:nvPr>
        </p:nvSpPr>
        <p:spPr/>
        <p:txBody>
          <a:bodyPr/>
          <a:lstStyle/>
          <a:p>
            <a:r>
              <a:rPr lang="en-US" dirty="0"/>
              <a:t>Advantages of Positional Index</a:t>
            </a:r>
            <a:br>
              <a:rPr lang="en-US" dirty="0"/>
            </a:br>
            <a:endParaRPr lang="en-US" dirty="0"/>
          </a:p>
        </p:txBody>
      </p:sp>
      <p:sp>
        <p:nvSpPr>
          <p:cNvPr id="3" name="Content Placeholder 2">
            <a:extLst>
              <a:ext uri="{FF2B5EF4-FFF2-40B4-BE49-F238E27FC236}">
                <a16:creationId xmlns:a16="http://schemas.microsoft.com/office/drawing/2014/main" id="{01CF3B3A-8474-995D-9FAD-F8EB26F8A7CD}"/>
              </a:ext>
            </a:extLst>
          </p:cNvPr>
          <p:cNvSpPr>
            <a:spLocks noGrp="1"/>
          </p:cNvSpPr>
          <p:nvPr>
            <p:ph idx="1"/>
          </p:nvPr>
        </p:nvSpPr>
        <p:spPr/>
        <p:txBody>
          <a:bodyPr>
            <a:normAutofit/>
          </a:bodyPr>
          <a:lstStyle/>
          <a:p>
            <a:r>
              <a:rPr lang="en-US" dirty="0"/>
              <a:t>Phrase Search: With positional information, it becomes possible to perform phrase searches, where the query consists of multiple terms that must appear in a specific sequence within the document.</a:t>
            </a:r>
          </a:p>
          <a:p>
            <a:r>
              <a:rPr lang="en-US" dirty="0"/>
              <a:t>Proximity Search: Positional information enables proximity searches, where the query specifies a maximum allowable distance between the occurrences of multiple terms. </a:t>
            </a:r>
          </a:p>
          <a:p>
            <a:r>
              <a:rPr lang="en-US" dirty="0"/>
              <a:t> Phrase Highlighting: Positional information can be used to highlight matched phrases within retrieved documents, improving the user experience in search applications.</a:t>
            </a:r>
          </a:p>
          <a:p>
            <a:endParaRPr lang="en-US" dirty="0"/>
          </a:p>
        </p:txBody>
      </p:sp>
    </p:spTree>
    <p:extLst>
      <p:ext uri="{BB962C8B-B14F-4D97-AF65-F5344CB8AC3E}">
        <p14:creationId xmlns:p14="http://schemas.microsoft.com/office/powerpoint/2010/main" val="36783275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09C8-3DB2-6ED5-FBA3-906AE84F5B93}"/>
              </a:ext>
            </a:extLst>
          </p:cNvPr>
          <p:cNvSpPr>
            <a:spLocks noGrp="1"/>
          </p:cNvSpPr>
          <p:nvPr>
            <p:ph type="title"/>
          </p:nvPr>
        </p:nvSpPr>
        <p:spPr/>
        <p:txBody>
          <a:bodyPr/>
          <a:lstStyle/>
          <a:p>
            <a:r>
              <a:rPr lang="en-US" dirty="0"/>
              <a:t>Applications of Positional Index</a:t>
            </a:r>
            <a:br>
              <a:rPr lang="en-US" dirty="0"/>
            </a:br>
            <a:endParaRPr lang="en-US" dirty="0"/>
          </a:p>
        </p:txBody>
      </p:sp>
      <p:sp>
        <p:nvSpPr>
          <p:cNvPr id="3" name="Content Placeholder 2">
            <a:extLst>
              <a:ext uri="{FF2B5EF4-FFF2-40B4-BE49-F238E27FC236}">
                <a16:creationId xmlns:a16="http://schemas.microsoft.com/office/drawing/2014/main" id="{5FCEEB64-6BA0-A6C5-5C28-FA7562AE263F}"/>
              </a:ext>
            </a:extLst>
          </p:cNvPr>
          <p:cNvSpPr>
            <a:spLocks noGrp="1"/>
          </p:cNvSpPr>
          <p:nvPr>
            <p:ph idx="1"/>
          </p:nvPr>
        </p:nvSpPr>
        <p:spPr/>
        <p:txBody>
          <a:bodyPr/>
          <a:lstStyle/>
          <a:p>
            <a:pPr algn="just"/>
            <a:r>
              <a:rPr lang="en-IN" dirty="0"/>
              <a:t>Positional indexes are commonly used in search engines, where they enable more precise and context-aware searches.</a:t>
            </a:r>
          </a:p>
          <a:p>
            <a:pPr algn="just"/>
            <a:r>
              <a:rPr lang="en-IN" dirty="0"/>
              <a:t>They are also used in text mining and natural language processing tasks, such as named entity recognition, entity linking, and sentiment analysis, where the relative positions of terms within documents are important.</a:t>
            </a:r>
          </a:p>
          <a:p>
            <a:endParaRPr lang="en-US" dirty="0"/>
          </a:p>
        </p:txBody>
      </p:sp>
    </p:spTree>
    <p:extLst>
      <p:ext uri="{BB962C8B-B14F-4D97-AF65-F5344CB8AC3E}">
        <p14:creationId xmlns:p14="http://schemas.microsoft.com/office/powerpoint/2010/main" val="1184834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5018</TotalTime>
  <Words>5895</Words>
  <Application>Microsoft Macintosh PowerPoint</Application>
  <PresentationFormat>Widescreen</PresentationFormat>
  <Paragraphs>526</Paragraphs>
  <Slides>54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Aptos</vt:lpstr>
      <vt:lpstr>Aptos Display</vt:lpstr>
      <vt:lpstr>Arial</vt:lpstr>
      <vt:lpstr>Cambria Math</vt:lpstr>
      <vt:lpstr>Google Sans</vt:lpstr>
      <vt:lpstr>Office Theme</vt:lpstr>
      <vt:lpstr>Information Retrieval</vt:lpstr>
      <vt:lpstr>What exactly is Information Retrieval?</vt:lpstr>
      <vt:lpstr>Information Retrieval Models</vt:lpstr>
      <vt:lpstr>Types of IR Model</vt:lpstr>
      <vt:lpstr>Vector Space Model</vt:lpstr>
      <vt:lpstr>Word Statistics</vt:lpstr>
      <vt:lpstr>Key Word Statistics &amp; Concepts in VSM:</vt:lpstr>
      <vt:lpstr>Some Common Word Statistics</vt:lpstr>
      <vt:lpstr>Some Common Word Statistics</vt:lpstr>
      <vt:lpstr>Some Common Word Statistics</vt:lpstr>
      <vt:lpstr>Some Common Word Statistics</vt:lpstr>
      <vt:lpstr>Text Preprocessing</vt:lpstr>
      <vt:lpstr>Text Preprocessing</vt:lpstr>
      <vt:lpstr>N-grams</vt:lpstr>
      <vt:lpstr>Standardization and Cleaning</vt:lpstr>
      <vt:lpstr>Stop Word Removal</vt:lpstr>
      <vt:lpstr>Custom Stop Word Dictionaries</vt:lpstr>
      <vt:lpstr>Stemming and Lemmatization</vt:lpstr>
      <vt:lpstr>Lemmatization</vt:lpstr>
      <vt:lpstr>Term Frequency as Term Weight</vt:lpstr>
      <vt:lpstr>Rare Terms, Document Frequency &amp; IDF (Preview)</vt:lpstr>
      <vt:lpstr>Recap: Why Term Weighting?</vt:lpstr>
      <vt:lpstr>From Binary Presence → Term Incidence Vector</vt:lpstr>
      <vt:lpstr>Term Frequency (TF) + Log Damping</vt:lpstr>
      <vt:lpstr>TF-IDF</vt:lpstr>
      <vt:lpstr>TF-IDF</vt:lpstr>
      <vt:lpstr>TF-IDF</vt:lpstr>
      <vt:lpstr>TF-IDF</vt:lpstr>
      <vt:lpstr>Why Rare Terms Matter (Intuition)</vt:lpstr>
      <vt:lpstr>Binary Weighting </vt:lpstr>
      <vt:lpstr>Logarithmic Weighting </vt:lpstr>
      <vt:lpstr>BM25 (Best Matching 25) </vt:lpstr>
      <vt:lpstr>Similarity Function</vt:lpstr>
      <vt:lpstr>Types of Measures:</vt:lpstr>
      <vt:lpstr>Cosine Similarity</vt:lpstr>
      <vt:lpstr>PowerPoint Presentation</vt:lpstr>
      <vt:lpstr>Jaccard Similarity</vt:lpstr>
      <vt:lpstr>Jaccard Similarity</vt:lpstr>
      <vt:lpstr>PowerPoint Presentation</vt:lpstr>
      <vt:lpstr>Advantages and Limitations  </vt:lpstr>
      <vt:lpstr>Euclidean Distance </vt:lpstr>
      <vt:lpstr>Manhattan Distance </vt:lpstr>
      <vt:lpstr>Dice Coefficient </vt:lpstr>
      <vt:lpstr>Levenshtein Distance </vt:lpstr>
      <vt:lpstr>PowerPoint Presentation</vt:lpstr>
      <vt:lpstr>Pearson Correlation Coefficient </vt:lpstr>
      <vt:lpstr>Pearson Correlation Coefficient </vt:lpstr>
      <vt:lpstr>Comparison of All Measures</vt:lpstr>
      <vt:lpstr>TDIM</vt:lpstr>
      <vt:lpstr>Basic Inverted Index </vt:lpstr>
      <vt:lpstr>Positional Index </vt:lpstr>
      <vt:lpstr>Positional Index Extension </vt:lpstr>
      <vt:lpstr>Advantages of Positional Index </vt:lpstr>
      <vt:lpstr>Applications of Positional Index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Nonita Sharma</dc:creator>
  <cp:lastModifiedBy>Dr Nonita Sharma</cp:lastModifiedBy>
  <cp:revision>40</cp:revision>
  <dcterms:created xsi:type="dcterms:W3CDTF">2026-01-11T12:40:52Z</dcterms:created>
  <dcterms:modified xsi:type="dcterms:W3CDTF">2026-03-09T06:47:25Z</dcterms:modified>
</cp:coreProperties>
</file>