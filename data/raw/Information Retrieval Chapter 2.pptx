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37"/>
  </p:normalViewPr>
  <p:slideViewPr>
    <p:cSldViewPr snapToGrid="0">
      <p:cViewPr varScale="1">
        <p:scale>
          <a:sx n="99" d="100"/>
          <a:sy n="99" d="100"/>
        </p:scale>
        <p:origin x="7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A6381-7129-79DB-5A81-2E3ED74D6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9609C9-CC0F-54F9-469D-D374F466FB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6C1AE-C6FB-5454-248D-AD8BA6521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51784-325C-B34A-8B10-60745A0FC445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25057-4AB8-BE70-C96F-BA9EAE5C1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7BE10-76FD-6D3B-1285-2BACAE318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17029-FE7D-9B4F-9D30-CF0916079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194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00C68-1219-28F1-81B3-C76E64BA8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AFB3E-309F-BD61-14C1-338106699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51F03-ED50-FDC0-E085-B091BBA20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51784-325C-B34A-8B10-60745A0FC445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CDD19E-57FE-0918-9529-5583187DC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01764-7B72-82E4-31FF-AE2E1927A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17029-FE7D-9B4F-9D30-CF0916079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465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CF360-BA0A-98C7-A23C-802C47AC2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101E25-2DA1-B633-27FA-B66D6A3B2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F13DAA-BC1C-8563-60A7-E5A3CA9FE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51784-325C-B34A-8B10-60745A0FC445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827FDA-0817-89D5-5089-B4203992E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BA575-30B4-6A70-B757-8A5B36E4B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17029-FE7D-9B4F-9D30-CF0916079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148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CA904-0FD5-63F0-0DDF-E603F85C8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E39BE-8A14-0A2C-3D8B-7E1631A950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73C41-13DC-5E25-B324-6F5ABBBF11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F0569C-9528-9BF4-6864-EC8213A0D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51784-325C-B34A-8B10-60745A0FC445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21B197-3282-DC5D-98DD-A3A05F68D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329F5C-530B-1F88-6B6B-BE78ED22E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17029-FE7D-9B4F-9D30-CF0916079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377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51738-8FAC-3712-BF7A-3E2110496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4CF75A-9FC4-8BC6-4E6A-B75CA80FD5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55BC9D-7A96-D781-E28B-DD34585B27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B89564-2407-8F5B-836F-7FB83741AD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6FD792-B5EF-3936-3EA6-6F5C4CCE7A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E25A25-02D4-B2DF-9281-45058E740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51784-325C-B34A-8B10-60745A0FC445}" type="datetimeFigureOut">
              <a:rPr lang="en-US" smtClean="0"/>
              <a:t>2/19/26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CBEF80-222D-2695-A2DD-08D619E05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EFB347-688E-5FB0-8CC1-208540346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17029-FE7D-9B4F-9D30-CF0916079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554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C24C3-F61D-0188-E11C-ACF746369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9B09AD-500C-1937-3D0F-A3AB020EF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51784-325C-B34A-8B10-60745A0FC445}" type="datetimeFigureOut">
              <a:rPr lang="en-US" smtClean="0"/>
              <a:t>2/19/26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876504-87C1-7424-5E15-AFFFC3AA1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CA7324-9D94-B427-ACF5-F630F4076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17029-FE7D-9B4F-9D30-CF0916079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441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42D3B8-904B-4075-CE89-1E60DC4E8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51784-325C-B34A-8B10-60745A0FC445}" type="datetimeFigureOut">
              <a:rPr lang="en-US" smtClean="0"/>
              <a:t>2/19/26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865270-C1DD-F407-53A8-D6C1BF7BA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D5A2DF-16D2-A3A9-2717-C62117BE7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17029-FE7D-9B4F-9D30-CF0916079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375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0845D-A186-2B7A-FD9B-C42285447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65A96-B78D-AA92-ADB4-DDFCAC9CC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4862D7-5735-1866-F151-52F52FB595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D838A-10B3-2710-F9B7-92178C9AE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51784-325C-B34A-8B10-60745A0FC445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3663C3-996F-C68D-4BC2-1CEADB022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7A8609-9BE0-C496-9125-743CE0BC9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17029-FE7D-9B4F-9D30-CF0916079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636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405C3-618A-A6EA-5198-3E4392476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E07D81-564C-1986-FEC9-EDF1CFA423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E074FD-CA0D-4E18-1A3A-68916B2C18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519FB2-A164-4A76-A6CF-F22CB8D33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51784-325C-B34A-8B10-60745A0FC445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9ADA1B-9789-6C8B-C174-15B91294B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F40A8C-8853-8AF2-CC5B-057995343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17029-FE7D-9B4F-9D30-CF0916079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880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07A80-BC0C-3054-D1E1-2A11AA57E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40337E-4E61-1529-4130-16B82525CA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F55E7-A2E0-9DB6-67AE-2CE072F74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51784-325C-B34A-8B10-60745A0FC445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143E8-A496-A68A-CB5F-58E48A311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31D1A-F925-4464-B78A-72539C981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17029-FE7D-9B4F-9D30-CF0916079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6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E37306-9176-F201-A34B-9DAB5BD1C3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BFEFCA-0914-B863-D0CF-1C3392985C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3EEFD-D1CD-8777-0148-83632794A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51784-325C-B34A-8B10-60745A0FC445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C79737-C582-1D91-6815-3541F0737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014DD-CB81-E5B3-4B72-922C7CE43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17029-FE7D-9B4F-9D30-CF0916079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082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E1C1F8-9DC4-5990-B5B0-EBAAB4A64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C36C38-B90C-ADBC-3E71-7308C824D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06CA8-94C7-C6BE-3C3B-E5FD6AD213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851784-325C-B34A-8B10-60745A0FC445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CF5215-6BA6-259F-199F-0017098B7A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0006E-382E-C924-49DF-8D0C64F121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C17029-FE7D-9B4F-9D30-CF0916079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187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4A6AF-6C98-DE85-4673-10570A9B9D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9A916D-65A7-064B-A162-9464128501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17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C0D4F-F46A-D82A-9137-E71BBD04E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Singular Value Decomposition (SVD)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D2F358-EAD3-EC45-2654-4263A492D5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 fontScale="25000" lnSpcReduction="20000"/>
              </a:bodyPr>
              <a:lstStyle/>
              <a:p>
                <a:pPr marL="0" indent="0">
                  <a:buNone/>
                </a:pPr>
                <a:r>
                  <a:rPr lang="en-IN" dirty="0"/>
                  <a:t> </a:t>
                </a:r>
                <a:r>
                  <a:rPr lang="en-IN" sz="4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Any table of numbers can be broken into three simpler pieces that are easier to understand.</a:t>
                </a:r>
                <a:endParaRPr lang="en-IN" sz="4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4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Imagine you have a complicated machine. Instead of trying to understand it all at once, you take it apart into:</a:t>
                </a:r>
              </a:p>
              <a:p>
                <a:pPr lvl="1"/>
                <a:r>
                  <a:rPr lang="en-IN" sz="4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part that </a:t>
                </a:r>
                <a:r>
                  <a:rPr lang="en-IN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rotates or rearranges things</a:t>
                </a:r>
              </a:p>
              <a:p>
                <a:pPr lvl="1"/>
                <a:r>
                  <a:rPr lang="en-IN" sz="4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part that </a:t>
                </a:r>
                <a:r>
                  <a:rPr lang="en-IN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stretches or shrinks things</a:t>
                </a:r>
              </a:p>
              <a:p>
                <a:pPr lvl="1"/>
                <a:r>
                  <a:rPr lang="en-IN" sz="4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Another part that </a:t>
                </a:r>
                <a:r>
                  <a:rPr lang="en-IN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rotates again</a:t>
                </a:r>
                <a:endParaRPr lang="en-IN" sz="4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4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That’s exactly what SVD does to a matrix (a grid of numbers).</a:t>
                </a:r>
              </a:p>
              <a:p>
                <a:pPr marL="0" indent="0">
                  <a:buNone/>
                </a:pPr>
                <a:r>
                  <a:rPr lang="en-IN" sz="4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simple formula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48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4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4800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m:rPr>
                          <m:sty m:val="p"/>
                        </m:rPr>
                        <a:rPr lang="el-GR" sz="4800">
                          <a:latin typeface="Cambria Math" panose="02040503050406030204" pitchFamily="18" charset="0"/>
                        </a:rPr>
                        <m:t>Σ</m:t>
                      </m:r>
                      <m:sSup>
                        <m:sSupPr>
                          <m:ctrlPr>
                            <a:rPr lang="ar-AE" sz="4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48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ar-AE" sz="4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ar-AE" sz="4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4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IN" sz="4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your original data</a:t>
                </a:r>
              </a:p>
              <a:p>
                <a:pPr marL="0" indent="0">
                  <a:buNone/>
                </a:pPr>
                <a:r>
                  <a:rPr lang="en-IN" sz="4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IN" sz="4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directions of important patterns</a:t>
                </a:r>
              </a:p>
              <a:p>
                <a:pPr marL="0" indent="0">
                  <a:buNone/>
                </a:pPr>
                <a:r>
                  <a:rPr lang="el-GR" sz="4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Σ (</a:t>
                </a:r>
                <a:r>
                  <a:rPr lang="en-IN" sz="4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Sigma)</a:t>
                </a:r>
                <a:r>
                  <a:rPr lang="en-IN" sz="4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how strong each pattern is (stretching amount)</a:t>
                </a:r>
              </a:p>
              <a:p>
                <a:pPr marL="0" indent="0">
                  <a:buNone/>
                </a:pPr>
                <a:r>
                  <a:rPr lang="en-IN" sz="4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Vᵀ</a:t>
                </a:r>
                <a:r>
                  <a:rPr lang="en-IN" sz="4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how the data is combined</a:t>
                </a:r>
              </a:p>
              <a:p>
                <a:pPr marL="0" indent="0">
                  <a:buNone/>
                </a:pPr>
                <a:r>
                  <a:rPr lang="en-IN" sz="4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Real-life analogy: Mixing </a:t>
                </a:r>
                <a:r>
                  <a:rPr lang="en-IN" sz="48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colors</a:t>
                </a:r>
                <a:endParaRPr lang="en-IN" sz="4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4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Imagine a painting made of many </a:t>
                </a:r>
                <a:r>
                  <a:rPr lang="en-IN" sz="4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colors</a:t>
                </a:r>
                <a:r>
                  <a:rPr lang="en-IN" sz="4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., SVD finds:  </a:t>
                </a:r>
              </a:p>
              <a:p>
                <a:r>
                  <a:rPr lang="en-IN" sz="4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main base </a:t>
                </a:r>
                <a:r>
                  <a:rPr lang="en-IN" sz="4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colors</a:t>
                </a:r>
                <a:endParaRPr lang="en-IN" sz="4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4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How much of each color is used</a:t>
                </a:r>
              </a:p>
              <a:p>
                <a:r>
                  <a:rPr lang="en-IN" sz="4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How they mix to recreate the painting</a:t>
                </a:r>
              </a:p>
              <a:p>
                <a:r>
                  <a:rPr lang="en-IN" sz="4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 instead of thousands of pixels, you understand the painting using a few key </a:t>
                </a:r>
                <a:r>
                  <a:rPr lang="en-IN" sz="4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colors</a:t>
                </a:r>
                <a:r>
                  <a:rPr lang="en-IN" sz="4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IN" sz="4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4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SVD finds the most important patterns in data and shows how strongly each pattern appears.</a:t>
                </a:r>
                <a:endParaRPr lang="en-IN" sz="4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D2F358-EAD3-EC45-2654-4263A492D5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121" t="-10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775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0BA20-51E5-4BA9-1793-CF165AE39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Example: SVD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FC8062-6E17-B8CD-486A-159E15AD25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IN" dirty="0"/>
                  <a:t>					A=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Goal: Find </a:t>
                </a:r>
                <a:r>
                  <a:rPr lang="en-IN" b="1" dirty="0"/>
                  <a:t>U, </a:t>
                </a:r>
                <a:r>
                  <a:rPr lang="el-GR" b="1" dirty="0"/>
                  <a:t>Σ, </a:t>
                </a:r>
                <a:r>
                  <a:rPr lang="en-IN" b="1" dirty="0"/>
                  <a:t>Vᵀ</a:t>
                </a:r>
                <a:endParaRPr lang="en-IN" dirty="0"/>
              </a:p>
              <a:p>
                <a:pPr marL="0" indent="0">
                  <a:buNone/>
                </a:pPr>
                <a:r>
                  <a:rPr lang="en-IN" b="1" dirty="0"/>
                  <a:t>Step 1: 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ar-AE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ar-AE" b="1" dirty="0"/>
              </a:p>
              <a:p>
                <a:r>
                  <a:rPr lang="en-IN" dirty="0"/>
                  <a:t>First transpose A (swap rows and columns).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(</a:t>
                </a:r>
                <a:r>
                  <a:rPr lang="en-IN" dirty="0"/>
                  <a:t>Same here because matrix is symmetric)</a:t>
                </a:r>
              </a:p>
              <a:p>
                <a:r>
                  <a:rPr lang="en-IN" dirty="0"/>
                  <a:t>Now multiply: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ar-AE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FC8062-6E17-B8CD-486A-159E15AD25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14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286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5C6D7-8197-E507-AE8A-0A9A3ED28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Example: SVD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6FAC44-7D27-F897-8CB7-0B0868BBFB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IN" b="1" dirty="0"/>
                  <a:t>Step 2: Find eigenvalues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ar-AE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ar-AE" b="1" dirty="0"/>
              </a:p>
              <a:p>
                <a:pPr marL="0" indent="0">
                  <a:buNone/>
                </a:pPr>
                <a:r>
                  <a:rPr lang="en-IN" dirty="0"/>
                  <a:t>Solve: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>
                          <a:latin typeface="Cambria Math" panose="02040503050406030204" pitchFamily="18" charset="0"/>
                        </a:rPr>
                        <m:t>det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⁡=0</m:t>
                      </m:r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∣"/>
                          <m:endChr m:val="∣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10−</m:t>
                                </m:r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10−</m:t>
                                </m:r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endChr m:val="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10−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𝜆</m:t>
                          </m:r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−36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−20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+64=0</m:t>
                      </m:r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r>
                  <a:rPr lang="en-IN" dirty="0"/>
                  <a:t>Solve quadratic: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=16,</m:t>
                      </m:r>
                      <m:r>
                        <m:rPr>
                          <m:nor/>
                        </m:rPr>
                        <a:rPr lang="en-IN" i="1"/>
                        <m:t>  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IN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6FAC44-7D27-F897-8CB7-0B0868BBFB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6917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DB2B9-EA06-788E-FB19-43FA6877E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Example: SVD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FAFE1C-A12C-70E7-D282-82CCAC501D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IN" b="1" dirty="0"/>
                  <a:t>Step 3: Singular values</a:t>
                </a:r>
              </a:p>
              <a:p>
                <a:pPr marL="0" indent="0">
                  <a:buNone/>
                </a:pPr>
                <a:r>
                  <a:rPr lang="en-IN" dirty="0"/>
                  <a:t>Take square roots: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=4, 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r>
                  <a:rPr lang="en-IN" dirty="0"/>
                  <a:t>So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l-GR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FAFE1C-A12C-70E7-D282-82CCAC501D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0077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7FDDA-320F-639C-A327-A915BF2AE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8377"/>
            <a:ext cx="10674626" cy="1325563"/>
          </a:xfrm>
        </p:spPr>
        <p:txBody>
          <a:bodyPr/>
          <a:lstStyle/>
          <a:p>
            <a:r>
              <a:rPr lang="en-US" dirty="0"/>
              <a:t>Mathematical </a:t>
            </a:r>
            <a:r>
              <a:rPr lang="en-US" dirty="0" err="1"/>
              <a:t>Example:SVD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1CC6A1-2348-0C87-2B1C-7133696D28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9904" y="1838877"/>
                <a:ext cx="10515600" cy="4351338"/>
              </a:xfrm>
            </p:spPr>
            <p:txBody>
              <a:bodyPr>
                <a:normAutofit fontScale="32500" lnSpcReduction="20000"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IN" sz="7000" b="1" dirty="0"/>
                  <a:t>Step 4: Find V (eigenvectors)</a:t>
                </a:r>
              </a:p>
              <a:p>
                <a:pPr marL="0" indent="0">
                  <a:buNone/>
                </a:pPr>
                <a:r>
                  <a:rPr lang="en-IN" b="1" dirty="0"/>
                  <a:t>Eigenvector for </a:t>
                </a:r>
                <a:r>
                  <a:rPr lang="el-GR" b="1" dirty="0"/>
                  <a:t>λ = 16</a:t>
                </a:r>
                <a:r>
                  <a:rPr lang="en-US" b="1" dirty="0"/>
                  <a:t>, </a:t>
                </a:r>
                <a:r>
                  <a:rPr lang="en-IN" dirty="0"/>
                  <a:t>v=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eqArr>
                      </m:e>
                    </m:d>
                  </m:oMath>
                </a14:m>
                <a:endParaRPr lang="el-GR" b="1" dirty="0"/>
              </a:p>
              <a:p>
                <a:pPr marL="0" indent="0">
                  <a:buNone/>
                </a:pPr>
                <a:r>
                  <a:rPr lang="en-IN" b="1" dirty="0"/>
                  <a:t>Step 1: Subtract 16 from diagonal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−16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10−16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10−16</m:t>
                                </m:r>
                              </m:e>
                            </m:mr>
                          </m:m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−6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r>
                  <a:rPr lang="en-IN" b="1" dirty="0"/>
                  <a:t>Step 2: Solve system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+6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					Divide by 6: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b="1" dirty="0"/>
                  <a:t>Step 3: Choose simple value</a:t>
                </a:r>
              </a:p>
              <a:p>
                <a:pPr marL="0" indent="0">
                  <a:buNone/>
                </a:pPr>
                <a:r>
                  <a:rPr lang="en-IN" dirty="0"/>
                  <a:t>			Let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endParaRPr lang="ar-AE" dirty="0"/>
              </a:p>
              <a:p>
                <a:pPr marL="0" indent="0">
                  <a:buNone/>
                </a:pPr>
                <a:r>
                  <a:rPr lang="en-IN" b="1" dirty="0"/>
                  <a:t>Step 4: Normalize (make length = 1)</a:t>
                </a:r>
              </a:p>
              <a:p>
                <a:pPr marL="0" indent="0">
                  <a:buNone/>
                </a:pPr>
                <a:r>
                  <a:rPr lang="en-IN" dirty="0"/>
                  <a:t>			Length: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r>
                  <a:rPr lang="en-IN" dirty="0"/>
                  <a:t>		Normalized eigenvector: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1CC6A1-2348-0C87-2B1C-7133696D28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9904" y="1838877"/>
                <a:ext cx="10515600" cy="4351338"/>
              </a:xfrm>
              <a:blipFill>
                <a:blip r:embed="rId2"/>
                <a:stretch>
                  <a:fillRect l="-965" t="-14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2683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D6E92-D7B5-13CE-CC1F-4640EF0D2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Example: SVD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A55524-82AD-500F-F185-4DCC4BA925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n-IN" b="1" dirty="0"/>
                  <a:t>Eigenvector for </a:t>
                </a:r>
                <a:r>
                  <a:rPr lang="el-GR" b="1" dirty="0"/>
                  <a:t>λ = 4</a:t>
                </a:r>
              </a:p>
              <a:p>
                <a:pPr marL="0" indent="0">
                  <a:buNone/>
                </a:pPr>
                <a:r>
                  <a:rPr lang="en-IN" b="1" dirty="0"/>
                  <a:t>Step 1: Subtract 4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r>
                  <a:rPr lang="en-IN" b="1" dirty="0"/>
                  <a:t>Step 2: Solve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+6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		Divide by 6: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b="1" dirty="0"/>
                  <a:t>Step 3: Choose value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r>
                  <a:rPr lang="en-IN" b="1" dirty="0"/>
                  <a:t>Step 4: Normalize</a:t>
                </a:r>
              </a:p>
              <a:p>
                <a:pPr marL="0" indent="0">
                  <a:buNone/>
                </a:pPr>
                <a:r>
                  <a:rPr lang="en-IN" dirty="0"/>
                  <a:t>				Length = √2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A55524-82AD-500F-F185-4DCC4BA925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3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6289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ADC43-F99C-AB49-3CC5-9082C497D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Example: SVD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961EC-F7BE-5241-25C5-D8FF26F45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Eigen Vector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8ABDEC-B050-0661-9DF8-6715B20E0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0" y="2679700"/>
            <a:ext cx="4267200" cy="149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965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A9EF8-F0C0-7A8B-27C6-B552B04AD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Example: SVD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FF8762-4F2D-91FC-7C71-02C0E6DE03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IN" b="1" dirty="0"/>
                  <a:t>Step 5: Find U</a:t>
                </a:r>
              </a:p>
              <a:p>
                <a:pPr marL="0" indent="0">
                  <a:buNone/>
                </a:pPr>
                <a:r>
                  <a:rPr lang="en-IN" dirty="0"/>
                  <a:t>		            Formula: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𝐴𝑉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ar-AE" dirty="0"/>
              </a:p>
              <a:p>
                <a:pPr marL="0" indent="0">
                  <a:buNone/>
                </a:pPr>
                <a:r>
                  <a:rPr lang="en-IN" dirty="0"/>
                  <a:t>We want to compute columns of </a:t>
                </a:r>
                <a:r>
                  <a:rPr lang="en-IN" b="1" dirty="0"/>
                  <a:t>U</a:t>
                </a:r>
                <a:r>
                  <a:rPr lang="en-IN" dirty="0"/>
                  <a:t> using the formula: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ar-AE" i="1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r>
                  <a:rPr lang="en-IN" b="1" dirty="0"/>
                  <a:t>we divide by the singular value</a:t>
                </a:r>
                <a:r>
                  <a:rPr lang="en-IN" dirty="0"/>
                  <a:t>.</a:t>
                </a:r>
              </a:p>
              <a:p>
                <a:r>
                  <a:rPr lang="en-IN" dirty="0"/>
                  <a:t>When you multiply 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ar-AE" dirty="0"/>
              </a:p>
              <a:p>
                <a:pPr marL="0" indent="0">
                  <a:buNone/>
                </a:pPr>
                <a:r>
                  <a:rPr lang="en-IN" dirty="0"/>
                  <a:t>you get a vector that is </a:t>
                </a:r>
                <a:r>
                  <a:rPr lang="en-IN" b="1" dirty="0"/>
                  <a:t>stretched by amount </a:t>
                </a:r>
                <a:r>
                  <a:rPr lang="el-GR" b="1" dirty="0"/>
                  <a:t>σ</a:t>
                </a:r>
                <a:r>
                  <a:rPr lang="en-IN" b="1" dirty="0"/>
                  <a:t>ᵢ</a:t>
                </a:r>
                <a:r>
                  <a:rPr lang="en-IN" dirty="0"/>
                  <a:t>.</a:t>
                </a:r>
              </a:p>
              <a:p>
                <a:pPr marL="0" indent="0">
                  <a:buNone/>
                </a:pPr>
                <a:r>
                  <a:rPr lang="en-IN" dirty="0"/>
                  <a:t>So to make it a unit vector (length = 1), we divide by </a:t>
                </a:r>
                <a:r>
                  <a:rPr lang="el-GR" dirty="0"/>
                  <a:t>σ</a:t>
                </a:r>
                <a:r>
                  <a:rPr lang="en-IN" dirty="0"/>
                  <a:t>ᵢ.</a:t>
                </a:r>
              </a:p>
              <a:p>
                <a:pPr marL="0" indent="0">
                  <a:buNone/>
                </a:pPr>
                <a:r>
                  <a:rPr lang="en-IN" dirty="0"/>
                  <a:t> We are basically removing the stretch.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FF8762-4F2D-91FC-7C71-02C0E6DE03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616" b="-14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8935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816C2-7C62-49A6-AE0C-1FC4A7520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Example: SVD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8C012C-B9BA-BF7D-C799-1BFEF5ED08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IN" dirty="0"/>
                  <a:t>Matrix: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r>
                  <a:rPr lang="en-IN" dirty="0"/>
                  <a:t>Singular values: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=4, 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r>
                  <a:rPr lang="en-IN" dirty="0"/>
                  <a:t>Vectors: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8C012C-B9BA-BF7D-C799-1BFEF5ED08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8898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3A4D6-2020-CCEB-F8F3-B1D4C35E9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Example: SVD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B0C486-D04F-5162-7CD0-6CFC287F91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b="1" dirty="0"/>
                  <a:t>First column of U</a:t>
                </a:r>
              </a:p>
              <a:p>
                <a:pPr marL="0" indent="0">
                  <a:buNone/>
                </a:pPr>
                <a:r>
                  <a:rPr lang="en-IN" b="1" dirty="0"/>
                  <a:t>Step 1: Compute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ar-AE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r>
                  <a:rPr lang="en-IN" b="1" dirty="0"/>
                  <a:t>Step 2: Divide by </a:t>
                </a:r>
                <a:r>
                  <a:rPr lang="el-GR" b="1" dirty="0"/>
                  <a:t>σ₁ = 4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ar-AE" i="1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B0C486-D04F-5162-7CD0-6CFC287F91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2775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83DB2-2103-BEE8-666F-85BAE6EA9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Example: SVD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86C443-4743-3417-6080-06234E9B2A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b="1" dirty="0"/>
                  <a:t>Second column of U</a:t>
                </a:r>
              </a:p>
              <a:p>
                <a:pPr marL="0" indent="0">
                  <a:buNone/>
                </a:pPr>
                <a:r>
                  <a:rPr lang="en-IN" b="1" dirty="0"/>
                  <a:t>Step 1: Compute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ar-AE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br>
                  <a:rPr lang="ar-AE" dirty="0"/>
                </a:br>
                <a:r>
                  <a:rPr lang="en-IN" b="1" dirty="0"/>
                  <a:t>Step 2: Divide by </a:t>
                </a:r>
                <a:r>
                  <a:rPr lang="el-GR" b="1" dirty="0"/>
                  <a:t>σ₂ = 2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ar-AE" i="1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</m:m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86C443-4743-3417-6080-06234E9B2A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1681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AAEF5-7C17-EBC3-5838-F156154D7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Example: SVD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5FAA3BB-2E0F-789E-4FE4-B7E9DCAD70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90016" y="1690688"/>
            <a:ext cx="4178300" cy="14605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F7DDD7-27DD-93B8-0358-DE3AAD195A7A}"/>
                  </a:ext>
                </a:extLst>
              </p:cNvPr>
              <p:cNvSpPr txBox="1"/>
              <p:nvPr/>
            </p:nvSpPr>
            <p:spPr>
              <a:xfrm>
                <a:off x="2531166" y="3331944"/>
                <a:ext cx="6096000" cy="26921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Final SVD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m:rPr>
                          <m:sty m:val="p"/>
                        </m:rPr>
                        <a:rPr lang="el-GR" i="0">
                          <a:latin typeface="Cambria Math" panose="02040503050406030204" pitchFamily="18" charset="0"/>
                        </a:rPr>
                        <m:t>Σ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IN" dirty="0"/>
                  <a:t>where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1/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e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1/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e>
                            </m:mr>
                            <m:m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1/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e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−1/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l-GR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1/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e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1/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e>
                            </m:mr>
                            <m:m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1/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e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−1/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F7DDD7-27DD-93B8-0358-DE3AAD195A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1166" y="3331944"/>
                <a:ext cx="6096000" cy="2692147"/>
              </a:xfrm>
              <a:prstGeom prst="rect">
                <a:avLst/>
              </a:prstGeom>
              <a:blipFill>
                <a:blip r:embed="rId3"/>
                <a:stretch>
                  <a:fillRect l="-832" t="-939" b="-1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84274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65AFB-C64F-A7EF-7FD4-7A43606B7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9D993-9D50-C03B-A95A-5E9819D0F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843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713</Words>
  <Application>Microsoft Macintosh PowerPoint</Application>
  <PresentationFormat>Widescreen</PresentationFormat>
  <Paragraphs>119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Cambria Math</vt:lpstr>
      <vt:lpstr>Times New Roman</vt:lpstr>
      <vt:lpstr>Office Theme</vt:lpstr>
      <vt:lpstr>Unit 2</vt:lpstr>
      <vt:lpstr>Singular Value Decomposition (SVD)</vt:lpstr>
      <vt:lpstr>Mathematical Example: SVD</vt:lpstr>
      <vt:lpstr>Mathematical Example: SVD</vt:lpstr>
      <vt:lpstr>Mathematical Example: SVD</vt:lpstr>
      <vt:lpstr>Mathematical Example:SVD</vt:lpstr>
      <vt:lpstr>Mathematical Example: SVD</vt:lpstr>
      <vt:lpstr>Mathematical Example: SVD</vt:lpstr>
      <vt:lpstr>Mathematical Example: SVD</vt:lpstr>
      <vt:lpstr>Mathematical Example: SVD</vt:lpstr>
      <vt:lpstr>Mathematical Example: SVD</vt:lpstr>
      <vt:lpstr>Mathematical Example: SVD</vt:lpstr>
      <vt:lpstr>Mathematical Example: SVD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 Nonita Sharma</dc:creator>
  <cp:lastModifiedBy>Dr Nonita Sharma</cp:lastModifiedBy>
  <cp:revision>2</cp:revision>
  <dcterms:created xsi:type="dcterms:W3CDTF">2026-02-18T07:27:51Z</dcterms:created>
  <dcterms:modified xsi:type="dcterms:W3CDTF">2026-02-19T06:18:51Z</dcterms:modified>
</cp:coreProperties>
</file>