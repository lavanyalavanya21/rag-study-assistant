
<file path=[Content_Types].xml><?xml version="1.0" encoding="utf-8"?>
<Types xmlns="http://schemas.openxmlformats.org/package/2006/content-types">
  <Default Extension="gif" ContentType="image/gi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24"/>
  </p:notesMasterIdLst>
  <p:sldIdLst>
    <p:sldId id="256" r:id="rId2"/>
    <p:sldId id="257" r:id="rId3"/>
    <p:sldId id="258" r:id="rId4"/>
    <p:sldId id="259" r:id="rId5"/>
    <p:sldId id="365" r:id="rId6"/>
    <p:sldId id="367" r:id="rId7"/>
    <p:sldId id="368" r:id="rId8"/>
    <p:sldId id="369" r:id="rId9"/>
    <p:sldId id="262" r:id="rId10"/>
    <p:sldId id="263" r:id="rId11"/>
    <p:sldId id="264" r:id="rId12"/>
    <p:sldId id="269" r:id="rId13"/>
    <p:sldId id="270" r:id="rId14"/>
    <p:sldId id="271" r:id="rId15"/>
    <p:sldId id="266" r:id="rId16"/>
    <p:sldId id="265" r:id="rId17"/>
    <p:sldId id="267" r:id="rId18"/>
    <p:sldId id="370" r:id="rId19"/>
    <p:sldId id="371" r:id="rId20"/>
    <p:sldId id="372" r:id="rId21"/>
    <p:sldId id="373" r:id="rId22"/>
    <p:sldId id="268" r:id="rId23"/>
    <p:sldId id="274" r:id="rId24"/>
    <p:sldId id="273" r:id="rId25"/>
    <p:sldId id="272" r:id="rId26"/>
    <p:sldId id="276" r:id="rId27"/>
    <p:sldId id="277" r:id="rId28"/>
    <p:sldId id="279" r:id="rId29"/>
    <p:sldId id="280" r:id="rId30"/>
    <p:sldId id="281" r:id="rId31"/>
    <p:sldId id="282" r:id="rId32"/>
    <p:sldId id="275" r:id="rId33"/>
    <p:sldId id="284" r:id="rId34"/>
    <p:sldId id="283" r:id="rId35"/>
    <p:sldId id="286" r:id="rId36"/>
    <p:sldId id="285" r:id="rId37"/>
    <p:sldId id="287" r:id="rId38"/>
    <p:sldId id="288" r:id="rId39"/>
    <p:sldId id="289" r:id="rId40"/>
    <p:sldId id="290" r:id="rId41"/>
    <p:sldId id="291" r:id="rId42"/>
    <p:sldId id="292" r:id="rId43"/>
    <p:sldId id="293" r:id="rId44"/>
    <p:sldId id="294" r:id="rId45"/>
    <p:sldId id="295" r:id="rId46"/>
    <p:sldId id="296" r:id="rId47"/>
    <p:sldId id="301" r:id="rId48"/>
    <p:sldId id="302" r:id="rId49"/>
    <p:sldId id="297" r:id="rId50"/>
    <p:sldId id="298" r:id="rId51"/>
    <p:sldId id="299" r:id="rId52"/>
    <p:sldId id="300" r:id="rId53"/>
    <p:sldId id="303" r:id="rId54"/>
    <p:sldId id="304" r:id="rId55"/>
    <p:sldId id="305" r:id="rId56"/>
    <p:sldId id="306" r:id="rId57"/>
    <p:sldId id="307" r:id="rId58"/>
    <p:sldId id="309" r:id="rId59"/>
    <p:sldId id="310" r:id="rId60"/>
    <p:sldId id="312" r:id="rId61"/>
    <p:sldId id="313" r:id="rId62"/>
    <p:sldId id="311" r:id="rId63"/>
    <p:sldId id="314" r:id="rId64"/>
    <p:sldId id="315" r:id="rId65"/>
    <p:sldId id="316" r:id="rId66"/>
    <p:sldId id="317" r:id="rId67"/>
    <p:sldId id="318" r:id="rId68"/>
    <p:sldId id="319" r:id="rId69"/>
    <p:sldId id="320" r:id="rId70"/>
    <p:sldId id="321" r:id="rId71"/>
    <p:sldId id="322" r:id="rId72"/>
    <p:sldId id="323" r:id="rId73"/>
    <p:sldId id="324" r:id="rId74"/>
    <p:sldId id="325" r:id="rId75"/>
    <p:sldId id="326" r:id="rId76"/>
    <p:sldId id="327" r:id="rId77"/>
    <p:sldId id="329" r:id="rId78"/>
    <p:sldId id="328" r:id="rId79"/>
    <p:sldId id="330" r:id="rId80"/>
    <p:sldId id="331" r:id="rId81"/>
    <p:sldId id="332" r:id="rId82"/>
    <p:sldId id="333" r:id="rId83"/>
    <p:sldId id="334" r:id="rId84"/>
    <p:sldId id="335" r:id="rId85"/>
    <p:sldId id="337" r:id="rId86"/>
    <p:sldId id="339" r:id="rId87"/>
    <p:sldId id="338" r:id="rId88"/>
    <p:sldId id="340" r:id="rId89"/>
    <p:sldId id="341" r:id="rId90"/>
    <p:sldId id="342" r:id="rId91"/>
    <p:sldId id="343" r:id="rId92"/>
    <p:sldId id="336" r:id="rId93"/>
    <p:sldId id="344" r:id="rId94"/>
    <p:sldId id="345" r:id="rId95"/>
    <p:sldId id="346" r:id="rId96"/>
    <p:sldId id="347" r:id="rId97"/>
    <p:sldId id="348" r:id="rId98"/>
    <p:sldId id="349" r:id="rId99"/>
    <p:sldId id="350" r:id="rId100"/>
    <p:sldId id="353" r:id="rId101"/>
    <p:sldId id="354" r:id="rId102"/>
    <p:sldId id="355" r:id="rId103"/>
    <p:sldId id="356" r:id="rId104"/>
    <p:sldId id="357" r:id="rId105"/>
    <p:sldId id="358" r:id="rId106"/>
    <p:sldId id="359" r:id="rId107"/>
    <p:sldId id="360" r:id="rId108"/>
    <p:sldId id="352" r:id="rId109"/>
    <p:sldId id="361" r:id="rId110"/>
    <p:sldId id="362" r:id="rId111"/>
    <p:sldId id="363" r:id="rId112"/>
    <p:sldId id="364" r:id="rId113"/>
    <p:sldId id="351" r:id="rId114"/>
    <p:sldId id="374" r:id="rId115"/>
    <p:sldId id="375" r:id="rId116"/>
    <p:sldId id="376" r:id="rId117"/>
    <p:sldId id="378" r:id="rId118"/>
    <p:sldId id="379" r:id="rId119"/>
    <p:sldId id="377" r:id="rId120"/>
    <p:sldId id="380" r:id="rId121"/>
    <p:sldId id="381" r:id="rId122"/>
    <p:sldId id="384" r:id="rId12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3347"/>
    <p:restoredTop sz="94613"/>
  </p:normalViewPr>
  <p:slideViewPr>
    <p:cSldViewPr snapToGrid="0">
      <p:cViewPr varScale="1">
        <p:scale>
          <a:sx n="56" d="100"/>
          <a:sy n="56" d="100"/>
        </p:scale>
        <p:origin x="208" y="1440"/>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117" Type="http://schemas.openxmlformats.org/officeDocument/2006/relationships/slide" Target="slides/slide116.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slide" Target="slides/slide83.xml"/><Relationship Id="rId89" Type="http://schemas.openxmlformats.org/officeDocument/2006/relationships/slide" Target="slides/slide88.xml"/><Relationship Id="rId112" Type="http://schemas.openxmlformats.org/officeDocument/2006/relationships/slide" Target="slides/slide111.xml"/><Relationship Id="rId16" Type="http://schemas.openxmlformats.org/officeDocument/2006/relationships/slide" Target="slides/slide15.xml"/><Relationship Id="rId107" Type="http://schemas.openxmlformats.org/officeDocument/2006/relationships/slide" Target="slides/slide106.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102" Type="http://schemas.openxmlformats.org/officeDocument/2006/relationships/slide" Target="slides/slide101.xml"/><Relationship Id="rId123" Type="http://schemas.openxmlformats.org/officeDocument/2006/relationships/slide" Target="slides/slide122.xml"/><Relationship Id="rId128" Type="http://schemas.openxmlformats.org/officeDocument/2006/relationships/tableStyles" Target="tableStyles.xml"/><Relationship Id="rId5" Type="http://schemas.openxmlformats.org/officeDocument/2006/relationships/slide" Target="slides/slide4.xml"/><Relationship Id="rId90" Type="http://schemas.openxmlformats.org/officeDocument/2006/relationships/slide" Target="slides/slide89.xml"/><Relationship Id="rId95" Type="http://schemas.openxmlformats.org/officeDocument/2006/relationships/slide" Target="slides/slide94.xml"/><Relationship Id="rId22" Type="http://schemas.openxmlformats.org/officeDocument/2006/relationships/slide" Target="slides/slide21.xml"/><Relationship Id="rId27" Type="http://schemas.openxmlformats.org/officeDocument/2006/relationships/slide" Target="slides/slide26.xml"/><Relationship Id="rId43" Type="http://schemas.openxmlformats.org/officeDocument/2006/relationships/slide" Target="slides/slide42.xml"/><Relationship Id="rId48" Type="http://schemas.openxmlformats.org/officeDocument/2006/relationships/slide" Target="slides/slide47.xml"/><Relationship Id="rId64" Type="http://schemas.openxmlformats.org/officeDocument/2006/relationships/slide" Target="slides/slide63.xml"/><Relationship Id="rId69" Type="http://schemas.openxmlformats.org/officeDocument/2006/relationships/slide" Target="slides/slide68.xml"/><Relationship Id="rId113" Type="http://schemas.openxmlformats.org/officeDocument/2006/relationships/slide" Target="slides/slide112.xml"/><Relationship Id="rId118" Type="http://schemas.openxmlformats.org/officeDocument/2006/relationships/slide" Target="slides/slide117.xml"/><Relationship Id="rId80" Type="http://schemas.openxmlformats.org/officeDocument/2006/relationships/slide" Target="slides/slide79.xml"/><Relationship Id="rId85" Type="http://schemas.openxmlformats.org/officeDocument/2006/relationships/slide" Target="slides/slide84.xml"/><Relationship Id="rId12" Type="http://schemas.openxmlformats.org/officeDocument/2006/relationships/slide" Target="slides/slide11.xml"/><Relationship Id="rId17" Type="http://schemas.openxmlformats.org/officeDocument/2006/relationships/slide" Target="slides/slide16.xml"/><Relationship Id="rId33" Type="http://schemas.openxmlformats.org/officeDocument/2006/relationships/slide" Target="slides/slide32.xml"/><Relationship Id="rId38" Type="http://schemas.openxmlformats.org/officeDocument/2006/relationships/slide" Target="slides/slide37.xml"/><Relationship Id="rId59" Type="http://schemas.openxmlformats.org/officeDocument/2006/relationships/slide" Target="slides/slide58.xml"/><Relationship Id="rId103" Type="http://schemas.openxmlformats.org/officeDocument/2006/relationships/slide" Target="slides/slide102.xml"/><Relationship Id="rId108" Type="http://schemas.openxmlformats.org/officeDocument/2006/relationships/slide" Target="slides/slide107.xml"/><Relationship Id="rId124" Type="http://schemas.openxmlformats.org/officeDocument/2006/relationships/notesMaster" Target="notesMasters/notesMaster1.xml"/><Relationship Id="rId54" Type="http://schemas.openxmlformats.org/officeDocument/2006/relationships/slide" Target="slides/slide53.xml"/><Relationship Id="rId70" Type="http://schemas.openxmlformats.org/officeDocument/2006/relationships/slide" Target="slides/slide69.xml"/><Relationship Id="rId75" Type="http://schemas.openxmlformats.org/officeDocument/2006/relationships/slide" Target="slides/slide74.xml"/><Relationship Id="rId91" Type="http://schemas.openxmlformats.org/officeDocument/2006/relationships/slide" Target="slides/slide90.xml"/><Relationship Id="rId96" Type="http://schemas.openxmlformats.org/officeDocument/2006/relationships/slide" Target="slides/slide95.xml"/><Relationship Id="rId1" Type="http://schemas.openxmlformats.org/officeDocument/2006/relationships/slideMaster" Target="slideMasters/slideMaster1.xml"/><Relationship Id="rId6" Type="http://schemas.openxmlformats.org/officeDocument/2006/relationships/slide" Target="slides/slide5.xml"/><Relationship Id="rId23" Type="http://schemas.openxmlformats.org/officeDocument/2006/relationships/slide" Target="slides/slide22.xml"/><Relationship Id="rId28" Type="http://schemas.openxmlformats.org/officeDocument/2006/relationships/slide" Target="slides/slide27.xml"/><Relationship Id="rId49" Type="http://schemas.openxmlformats.org/officeDocument/2006/relationships/slide" Target="slides/slide48.xml"/><Relationship Id="rId114" Type="http://schemas.openxmlformats.org/officeDocument/2006/relationships/slide" Target="slides/slide113.xml"/><Relationship Id="rId119" Type="http://schemas.openxmlformats.org/officeDocument/2006/relationships/slide" Target="slides/slide118.xml"/><Relationship Id="rId44" Type="http://schemas.openxmlformats.org/officeDocument/2006/relationships/slide" Target="slides/slide43.xml"/><Relationship Id="rId60" Type="http://schemas.openxmlformats.org/officeDocument/2006/relationships/slide" Target="slides/slide59.xml"/><Relationship Id="rId65" Type="http://schemas.openxmlformats.org/officeDocument/2006/relationships/slide" Target="slides/slide64.xml"/><Relationship Id="rId81" Type="http://schemas.openxmlformats.org/officeDocument/2006/relationships/slide" Target="slides/slide80.xml"/><Relationship Id="rId86" Type="http://schemas.openxmlformats.org/officeDocument/2006/relationships/slide" Target="slides/slide85.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109" Type="http://schemas.openxmlformats.org/officeDocument/2006/relationships/slide" Target="slides/slide10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slide" Target="slides/slide96.xml"/><Relationship Id="rId104" Type="http://schemas.openxmlformats.org/officeDocument/2006/relationships/slide" Target="slides/slide103.xml"/><Relationship Id="rId120" Type="http://schemas.openxmlformats.org/officeDocument/2006/relationships/slide" Target="slides/slide119.xml"/><Relationship Id="rId125" Type="http://schemas.openxmlformats.org/officeDocument/2006/relationships/presProps" Target="presProps.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slide" Target="slides/slide91.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110" Type="http://schemas.openxmlformats.org/officeDocument/2006/relationships/slide" Target="slides/slide109.xml"/><Relationship Id="rId115" Type="http://schemas.openxmlformats.org/officeDocument/2006/relationships/slide" Target="slides/slide114.xml"/><Relationship Id="rId61" Type="http://schemas.openxmlformats.org/officeDocument/2006/relationships/slide" Target="slides/slide60.xml"/><Relationship Id="rId82" Type="http://schemas.openxmlformats.org/officeDocument/2006/relationships/slide" Target="slides/slide81.xml"/><Relationship Id="rId19" Type="http://schemas.openxmlformats.org/officeDocument/2006/relationships/slide" Target="slides/slide18.xml"/><Relationship Id="rId14" Type="http://schemas.openxmlformats.org/officeDocument/2006/relationships/slide" Target="slides/slide13.xml"/><Relationship Id="rId30" Type="http://schemas.openxmlformats.org/officeDocument/2006/relationships/slide" Target="slides/slide29.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 Id="rId100" Type="http://schemas.openxmlformats.org/officeDocument/2006/relationships/slide" Target="slides/slide99.xml"/><Relationship Id="rId105" Type="http://schemas.openxmlformats.org/officeDocument/2006/relationships/slide" Target="slides/slide104.xml"/><Relationship Id="rId126" Type="http://schemas.openxmlformats.org/officeDocument/2006/relationships/viewProps" Target="viewProps.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93" Type="http://schemas.openxmlformats.org/officeDocument/2006/relationships/slide" Target="slides/slide92.xml"/><Relationship Id="rId98" Type="http://schemas.openxmlformats.org/officeDocument/2006/relationships/slide" Target="slides/slide97.xml"/><Relationship Id="rId121" Type="http://schemas.openxmlformats.org/officeDocument/2006/relationships/slide" Target="slides/slide120.xml"/><Relationship Id="rId3" Type="http://schemas.openxmlformats.org/officeDocument/2006/relationships/slide" Target="slides/slide2.xml"/><Relationship Id="rId25" Type="http://schemas.openxmlformats.org/officeDocument/2006/relationships/slide" Target="slides/slide24.xml"/><Relationship Id="rId46" Type="http://schemas.openxmlformats.org/officeDocument/2006/relationships/slide" Target="slides/slide45.xml"/><Relationship Id="rId67" Type="http://schemas.openxmlformats.org/officeDocument/2006/relationships/slide" Target="slides/slide66.xml"/><Relationship Id="rId116" Type="http://schemas.openxmlformats.org/officeDocument/2006/relationships/slide" Target="slides/slide115.xml"/><Relationship Id="rId20" Type="http://schemas.openxmlformats.org/officeDocument/2006/relationships/slide" Target="slides/slide19.xml"/><Relationship Id="rId41" Type="http://schemas.openxmlformats.org/officeDocument/2006/relationships/slide" Target="slides/slide40.xml"/><Relationship Id="rId62" Type="http://schemas.openxmlformats.org/officeDocument/2006/relationships/slide" Target="slides/slide61.xml"/><Relationship Id="rId83" Type="http://schemas.openxmlformats.org/officeDocument/2006/relationships/slide" Target="slides/slide82.xml"/><Relationship Id="rId88" Type="http://schemas.openxmlformats.org/officeDocument/2006/relationships/slide" Target="slides/slide87.xml"/><Relationship Id="rId111" Type="http://schemas.openxmlformats.org/officeDocument/2006/relationships/slide" Target="slides/slide110.xml"/><Relationship Id="rId15" Type="http://schemas.openxmlformats.org/officeDocument/2006/relationships/slide" Target="slides/slide14.xml"/><Relationship Id="rId36" Type="http://schemas.openxmlformats.org/officeDocument/2006/relationships/slide" Target="slides/slide35.xml"/><Relationship Id="rId57" Type="http://schemas.openxmlformats.org/officeDocument/2006/relationships/slide" Target="slides/slide56.xml"/><Relationship Id="rId106" Type="http://schemas.openxmlformats.org/officeDocument/2006/relationships/slide" Target="slides/slide105.xml"/><Relationship Id="rId127" Type="http://schemas.openxmlformats.org/officeDocument/2006/relationships/theme" Target="theme/theme1.xml"/><Relationship Id="rId10" Type="http://schemas.openxmlformats.org/officeDocument/2006/relationships/slide" Target="slides/slide9.xml"/><Relationship Id="rId31" Type="http://schemas.openxmlformats.org/officeDocument/2006/relationships/slide" Target="slides/slide30.xml"/><Relationship Id="rId52" Type="http://schemas.openxmlformats.org/officeDocument/2006/relationships/slide" Target="slides/slide51.xml"/><Relationship Id="rId73" Type="http://schemas.openxmlformats.org/officeDocument/2006/relationships/slide" Target="slides/slide72.xml"/><Relationship Id="rId78" Type="http://schemas.openxmlformats.org/officeDocument/2006/relationships/slide" Target="slides/slide77.xml"/><Relationship Id="rId94" Type="http://schemas.openxmlformats.org/officeDocument/2006/relationships/slide" Target="slides/slide93.xml"/><Relationship Id="rId99" Type="http://schemas.openxmlformats.org/officeDocument/2006/relationships/slide" Target="slides/slide98.xml"/><Relationship Id="rId101" Type="http://schemas.openxmlformats.org/officeDocument/2006/relationships/slide" Target="slides/slide100.xml"/><Relationship Id="rId122" Type="http://schemas.openxmlformats.org/officeDocument/2006/relationships/slide" Target="slides/slide121.xml"/><Relationship Id="rId4" Type="http://schemas.openxmlformats.org/officeDocument/2006/relationships/slide" Target="slides/slide3.xml"/><Relationship Id="rId9" Type="http://schemas.openxmlformats.org/officeDocument/2006/relationships/slide" Target="slides/slide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07F5A84-1BD6-634F-97B1-A7D2FFDF7C44}" type="datetimeFigureOut">
              <a:rPr lang="en-US" smtClean="0"/>
              <a:t>2/9/26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32FEC5E0-65D3-A442-9655-B8BA18FE4C3F}" type="slidenum">
              <a:rPr lang="en-US" smtClean="0"/>
              <a:t>‹#›</a:t>
            </a:fld>
            <a:endParaRPr lang="en-US"/>
          </a:p>
        </p:txBody>
      </p:sp>
    </p:spTree>
    <p:extLst>
      <p:ext uri="{BB962C8B-B14F-4D97-AF65-F5344CB8AC3E}">
        <p14:creationId xmlns:p14="http://schemas.microsoft.com/office/powerpoint/2010/main" val="345027543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32FEC5E0-65D3-A442-9655-B8BA18FE4C3F}" type="slidenum">
              <a:rPr lang="en-US" smtClean="0"/>
              <a:t>25</a:t>
            </a:fld>
            <a:endParaRPr lang="en-US"/>
          </a:p>
        </p:txBody>
      </p:sp>
    </p:spTree>
    <p:extLst>
      <p:ext uri="{BB962C8B-B14F-4D97-AF65-F5344CB8AC3E}">
        <p14:creationId xmlns:p14="http://schemas.microsoft.com/office/powerpoint/2010/main" val="292274781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8591BC3-2A89-3052-D870-9B0BA7FB27FC}"/>
              </a:ext>
            </a:extLst>
          </p:cNvPr>
          <p:cNvSpPr>
            <a:spLocks noGrp="1"/>
          </p:cNvSpPr>
          <p:nvPr>
            <p:ph type="ctrTitle"/>
          </p:nvPr>
        </p:nvSpPr>
        <p:spPr>
          <a:xfrm>
            <a:off x="1524000" y="1122363"/>
            <a:ext cx="9144000" cy="2387600"/>
          </a:xfrm>
        </p:spPr>
        <p:txBody>
          <a:bodyPr anchor="b"/>
          <a:lstStyle>
            <a:lvl1pPr algn="ctr">
              <a:defRPr sz="6000"/>
            </a:lvl1pPr>
          </a:lstStyle>
          <a:p>
            <a:r>
              <a:rPr lang="en-GB"/>
              <a:t>Click to edit Master title style</a:t>
            </a:r>
            <a:endParaRPr lang="en-US"/>
          </a:p>
        </p:txBody>
      </p:sp>
      <p:sp>
        <p:nvSpPr>
          <p:cNvPr id="3" name="Subtitle 2">
            <a:extLst>
              <a:ext uri="{FF2B5EF4-FFF2-40B4-BE49-F238E27FC236}">
                <a16:creationId xmlns:a16="http://schemas.microsoft.com/office/drawing/2014/main" id="{48FFB03C-E6FB-A716-296E-D012398F5FEF}"/>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a:t>Click to edit Master subtitle style</a:t>
            </a:r>
            <a:endParaRPr lang="en-US"/>
          </a:p>
        </p:txBody>
      </p:sp>
      <p:sp>
        <p:nvSpPr>
          <p:cNvPr id="4" name="Date Placeholder 3">
            <a:extLst>
              <a:ext uri="{FF2B5EF4-FFF2-40B4-BE49-F238E27FC236}">
                <a16:creationId xmlns:a16="http://schemas.microsoft.com/office/drawing/2014/main" id="{564424BA-F55E-C246-A7D1-69D73B259396}"/>
              </a:ext>
            </a:extLst>
          </p:cNvPr>
          <p:cNvSpPr>
            <a:spLocks noGrp="1"/>
          </p:cNvSpPr>
          <p:nvPr>
            <p:ph type="dt" sz="half" idx="10"/>
          </p:nvPr>
        </p:nvSpPr>
        <p:spPr/>
        <p:txBody>
          <a:bodyPr/>
          <a:lstStyle/>
          <a:p>
            <a:fld id="{52635738-E601-6B4A-98FB-5FFDF7D6DB54}" type="datetimeFigureOut">
              <a:rPr lang="en-US" smtClean="0"/>
              <a:t>2/9/26</a:t>
            </a:fld>
            <a:endParaRPr lang="en-US"/>
          </a:p>
        </p:txBody>
      </p:sp>
      <p:sp>
        <p:nvSpPr>
          <p:cNvPr id="5" name="Footer Placeholder 4">
            <a:extLst>
              <a:ext uri="{FF2B5EF4-FFF2-40B4-BE49-F238E27FC236}">
                <a16:creationId xmlns:a16="http://schemas.microsoft.com/office/drawing/2014/main" id="{793961BC-A173-8F65-0CF6-0F249830F724}"/>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46B31F56-66D1-41D7-40C9-FB3DF4315F5F}"/>
              </a:ext>
            </a:extLst>
          </p:cNvPr>
          <p:cNvSpPr>
            <a:spLocks noGrp="1"/>
          </p:cNvSpPr>
          <p:nvPr>
            <p:ph type="sldNum" sz="quarter" idx="12"/>
          </p:nvPr>
        </p:nvSpPr>
        <p:spPr/>
        <p:txBody>
          <a:bodyPr/>
          <a:lstStyle/>
          <a:p>
            <a:fld id="{49A2DF36-B936-2B46-834D-F9783B021837}" type="slidenum">
              <a:rPr lang="en-US" smtClean="0"/>
              <a:t>‹#›</a:t>
            </a:fld>
            <a:endParaRPr lang="en-US"/>
          </a:p>
        </p:txBody>
      </p:sp>
    </p:spTree>
    <p:extLst>
      <p:ext uri="{BB962C8B-B14F-4D97-AF65-F5344CB8AC3E}">
        <p14:creationId xmlns:p14="http://schemas.microsoft.com/office/powerpoint/2010/main" val="398274881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F0487B8-4BB3-7945-63FE-1CDF19E24964}"/>
              </a:ext>
            </a:extLst>
          </p:cNvPr>
          <p:cNvSpPr>
            <a:spLocks noGrp="1"/>
          </p:cNvSpPr>
          <p:nvPr>
            <p:ph type="title"/>
          </p:nvPr>
        </p:nvSpPr>
        <p:spPr/>
        <p:txBody>
          <a:bodyPr/>
          <a:lstStyle/>
          <a:p>
            <a:r>
              <a:rPr lang="en-GB"/>
              <a:t>Click to edit Master title style</a:t>
            </a:r>
            <a:endParaRPr lang="en-US"/>
          </a:p>
        </p:txBody>
      </p:sp>
      <p:sp>
        <p:nvSpPr>
          <p:cNvPr id="3" name="Content Placeholder 2">
            <a:extLst>
              <a:ext uri="{FF2B5EF4-FFF2-40B4-BE49-F238E27FC236}">
                <a16:creationId xmlns:a16="http://schemas.microsoft.com/office/drawing/2014/main" id="{06ABFDB5-08E7-CB55-673B-27971E653A20}"/>
              </a:ext>
            </a:extLst>
          </p:cNvPr>
          <p:cNvSpPr>
            <a:spLocks noGrp="1"/>
          </p:cNvSpPr>
          <p:nvPr>
            <p:ph idx="1"/>
          </p:nvPr>
        </p:nvSpPr>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ADF3BA10-25D3-46DD-E076-3649D48048D3}"/>
              </a:ext>
            </a:extLst>
          </p:cNvPr>
          <p:cNvSpPr>
            <a:spLocks noGrp="1"/>
          </p:cNvSpPr>
          <p:nvPr>
            <p:ph type="dt" sz="half" idx="10"/>
          </p:nvPr>
        </p:nvSpPr>
        <p:spPr/>
        <p:txBody>
          <a:bodyPr/>
          <a:lstStyle/>
          <a:p>
            <a:fld id="{52635738-E601-6B4A-98FB-5FFDF7D6DB54}" type="datetimeFigureOut">
              <a:rPr lang="en-US" smtClean="0"/>
              <a:t>2/9/26</a:t>
            </a:fld>
            <a:endParaRPr lang="en-US"/>
          </a:p>
        </p:txBody>
      </p:sp>
      <p:sp>
        <p:nvSpPr>
          <p:cNvPr id="5" name="Footer Placeholder 4">
            <a:extLst>
              <a:ext uri="{FF2B5EF4-FFF2-40B4-BE49-F238E27FC236}">
                <a16:creationId xmlns:a16="http://schemas.microsoft.com/office/drawing/2014/main" id="{A77CC173-5BCC-FCE5-339B-8B9F57811CA9}"/>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2398409E-0DD5-5B15-5E32-EF5827ACE965}"/>
              </a:ext>
            </a:extLst>
          </p:cNvPr>
          <p:cNvSpPr>
            <a:spLocks noGrp="1"/>
          </p:cNvSpPr>
          <p:nvPr>
            <p:ph type="sldNum" sz="quarter" idx="12"/>
          </p:nvPr>
        </p:nvSpPr>
        <p:spPr/>
        <p:txBody>
          <a:bodyPr/>
          <a:lstStyle/>
          <a:p>
            <a:fld id="{49A2DF36-B936-2B46-834D-F9783B021837}" type="slidenum">
              <a:rPr lang="en-US" smtClean="0"/>
              <a:t>‹#›</a:t>
            </a:fld>
            <a:endParaRPr lang="en-US"/>
          </a:p>
        </p:txBody>
      </p:sp>
    </p:spTree>
    <p:extLst>
      <p:ext uri="{BB962C8B-B14F-4D97-AF65-F5344CB8AC3E}">
        <p14:creationId xmlns:p14="http://schemas.microsoft.com/office/powerpoint/2010/main" val="51090305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CC8A5D9-433E-2AD5-7DB5-6325AC42BC80}"/>
              </a:ext>
            </a:extLst>
          </p:cNvPr>
          <p:cNvSpPr>
            <a:spLocks noGrp="1"/>
          </p:cNvSpPr>
          <p:nvPr>
            <p:ph type="title"/>
          </p:nvPr>
        </p:nvSpPr>
        <p:spPr>
          <a:xfrm>
            <a:off x="831850" y="1709738"/>
            <a:ext cx="10515600" cy="2852737"/>
          </a:xfrm>
        </p:spPr>
        <p:txBody>
          <a:bodyPr anchor="b"/>
          <a:lstStyle>
            <a:lvl1pPr>
              <a:defRPr sz="6000"/>
            </a:lvl1pPr>
          </a:lstStyle>
          <a:p>
            <a:r>
              <a:rPr lang="en-GB"/>
              <a:t>Click to edit Master title style</a:t>
            </a:r>
            <a:endParaRPr lang="en-US"/>
          </a:p>
        </p:txBody>
      </p:sp>
      <p:sp>
        <p:nvSpPr>
          <p:cNvPr id="3" name="Text Placeholder 2">
            <a:extLst>
              <a:ext uri="{FF2B5EF4-FFF2-40B4-BE49-F238E27FC236}">
                <a16:creationId xmlns:a16="http://schemas.microsoft.com/office/drawing/2014/main" id="{5E40A24C-C195-52A5-7F4C-80ACE62AF74D}"/>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GB"/>
              <a:t>Click to edit Master text styles</a:t>
            </a:r>
          </a:p>
        </p:txBody>
      </p:sp>
      <p:sp>
        <p:nvSpPr>
          <p:cNvPr id="4" name="Date Placeholder 3">
            <a:extLst>
              <a:ext uri="{FF2B5EF4-FFF2-40B4-BE49-F238E27FC236}">
                <a16:creationId xmlns:a16="http://schemas.microsoft.com/office/drawing/2014/main" id="{1FFD34CB-F500-1129-6F5B-F7CD2B539F54}"/>
              </a:ext>
            </a:extLst>
          </p:cNvPr>
          <p:cNvSpPr>
            <a:spLocks noGrp="1"/>
          </p:cNvSpPr>
          <p:nvPr>
            <p:ph type="dt" sz="half" idx="10"/>
          </p:nvPr>
        </p:nvSpPr>
        <p:spPr/>
        <p:txBody>
          <a:bodyPr/>
          <a:lstStyle/>
          <a:p>
            <a:fld id="{52635738-E601-6B4A-98FB-5FFDF7D6DB54}" type="datetimeFigureOut">
              <a:rPr lang="en-US" smtClean="0"/>
              <a:t>2/9/26</a:t>
            </a:fld>
            <a:endParaRPr lang="en-US"/>
          </a:p>
        </p:txBody>
      </p:sp>
      <p:sp>
        <p:nvSpPr>
          <p:cNvPr id="5" name="Footer Placeholder 4">
            <a:extLst>
              <a:ext uri="{FF2B5EF4-FFF2-40B4-BE49-F238E27FC236}">
                <a16:creationId xmlns:a16="http://schemas.microsoft.com/office/drawing/2014/main" id="{98D1E912-4F4D-76D8-741C-D6690FCB5094}"/>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110565DE-2EEB-0610-3F75-3C4BCDE66966}"/>
              </a:ext>
            </a:extLst>
          </p:cNvPr>
          <p:cNvSpPr>
            <a:spLocks noGrp="1"/>
          </p:cNvSpPr>
          <p:nvPr>
            <p:ph type="sldNum" sz="quarter" idx="12"/>
          </p:nvPr>
        </p:nvSpPr>
        <p:spPr/>
        <p:txBody>
          <a:bodyPr/>
          <a:lstStyle/>
          <a:p>
            <a:fld id="{49A2DF36-B936-2B46-834D-F9783B021837}" type="slidenum">
              <a:rPr lang="en-US" smtClean="0"/>
              <a:t>‹#›</a:t>
            </a:fld>
            <a:endParaRPr lang="en-US"/>
          </a:p>
        </p:txBody>
      </p:sp>
    </p:spTree>
    <p:extLst>
      <p:ext uri="{BB962C8B-B14F-4D97-AF65-F5344CB8AC3E}">
        <p14:creationId xmlns:p14="http://schemas.microsoft.com/office/powerpoint/2010/main" val="348510500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DEE4A1F-19CB-67E6-92D5-3718670E8E16}"/>
              </a:ext>
            </a:extLst>
          </p:cNvPr>
          <p:cNvSpPr>
            <a:spLocks noGrp="1"/>
          </p:cNvSpPr>
          <p:nvPr>
            <p:ph type="title"/>
          </p:nvPr>
        </p:nvSpPr>
        <p:spPr/>
        <p:txBody>
          <a:bodyPr/>
          <a:lstStyle/>
          <a:p>
            <a:r>
              <a:rPr lang="en-GB"/>
              <a:t>Click to edit Master title style</a:t>
            </a:r>
            <a:endParaRPr lang="en-US"/>
          </a:p>
        </p:txBody>
      </p:sp>
      <p:sp>
        <p:nvSpPr>
          <p:cNvPr id="3" name="Content Placeholder 2">
            <a:extLst>
              <a:ext uri="{FF2B5EF4-FFF2-40B4-BE49-F238E27FC236}">
                <a16:creationId xmlns:a16="http://schemas.microsoft.com/office/drawing/2014/main" id="{256D4D83-5B07-80FA-9B1A-D6A85B19FADC}"/>
              </a:ext>
            </a:extLst>
          </p:cNvPr>
          <p:cNvSpPr>
            <a:spLocks noGrp="1"/>
          </p:cNvSpPr>
          <p:nvPr>
            <p:ph sz="half" idx="1"/>
          </p:nvPr>
        </p:nvSpPr>
        <p:spPr>
          <a:xfrm>
            <a:off x="838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Content Placeholder 3">
            <a:extLst>
              <a:ext uri="{FF2B5EF4-FFF2-40B4-BE49-F238E27FC236}">
                <a16:creationId xmlns:a16="http://schemas.microsoft.com/office/drawing/2014/main" id="{635DFE9A-B927-F62F-9CB9-3084E05A1927}"/>
              </a:ext>
            </a:extLst>
          </p:cNvPr>
          <p:cNvSpPr>
            <a:spLocks noGrp="1"/>
          </p:cNvSpPr>
          <p:nvPr>
            <p:ph sz="half" idx="2"/>
          </p:nvPr>
        </p:nvSpPr>
        <p:spPr>
          <a:xfrm>
            <a:off x="6172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5" name="Date Placeholder 4">
            <a:extLst>
              <a:ext uri="{FF2B5EF4-FFF2-40B4-BE49-F238E27FC236}">
                <a16:creationId xmlns:a16="http://schemas.microsoft.com/office/drawing/2014/main" id="{B454CB4B-1CB6-28E8-1F2F-8212997220DC}"/>
              </a:ext>
            </a:extLst>
          </p:cNvPr>
          <p:cNvSpPr>
            <a:spLocks noGrp="1"/>
          </p:cNvSpPr>
          <p:nvPr>
            <p:ph type="dt" sz="half" idx="10"/>
          </p:nvPr>
        </p:nvSpPr>
        <p:spPr/>
        <p:txBody>
          <a:bodyPr/>
          <a:lstStyle/>
          <a:p>
            <a:fld id="{52635738-E601-6B4A-98FB-5FFDF7D6DB54}" type="datetimeFigureOut">
              <a:rPr lang="en-US" smtClean="0"/>
              <a:t>2/9/26</a:t>
            </a:fld>
            <a:endParaRPr lang="en-US"/>
          </a:p>
        </p:txBody>
      </p:sp>
      <p:sp>
        <p:nvSpPr>
          <p:cNvPr id="6" name="Footer Placeholder 5">
            <a:extLst>
              <a:ext uri="{FF2B5EF4-FFF2-40B4-BE49-F238E27FC236}">
                <a16:creationId xmlns:a16="http://schemas.microsoft.com/office/drawing/2014/main" id="{51199A4C-9488-27BB-B5C6-6517C710B4F8}"/>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E4B620F6-B59F-306F-D67D-D850A9204E51}"/>
              </a:ext>
            </a:extLst>
          </p:cNvPr>
          <p:cNvSpPr>
            <a:spLocks noGrp="1"/>
          </p:cNvSpPr>
          <p:nvPr>
            <p:ph type="sldNum" sz="quarter" idx="12"/>
          </p:nvPr>
        </p:nvSpPr>
        <p:spPr/>
        <p:txBody>
          <a:bodyPr/>
          <a:lstStyle/>
          <a:p>
            <a:fld id="{49A2DF36-B936-2B46-834D-F9783B021837}" type="slidenum">
              <a:rPr lang="en-US" smtClean="0"/>
              <a:t>‹#›</a:t>
            </a:fld>
            <a:endParaRPr lang="en-US"/>
          </a:p>
        </p:txBody>
      </p:sp>
    </p:spTree>
    <p:extLst>
      <p:ext uri="{BB962C8B-B14F-4D97-AF65-F5344CB8AC3E}">
        <p14:creationId xmlns:p14="http://schemas.microsoft.com/office/powerpoint/2010/main" val="361973969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B2FD7B8-3B93-3D7F-AE88-3DE0F2E96223}"/>
              </a:ext>
            </a:extLst>
          </p:cNvPr>
          <p:cNvSpPr>
            <a:spLocks noGrp="1"/>
          </p:cNvSpPr>
          <p:nvPr>
            <p:ph type="title"/>
          </p:nvPr>
        </p:nvSpPr>
        <p:spPr>
          <a:xfrm>
            <a:off x="839788" y="365125"/>
            <a:ext cx="10515600" cy="1325563"/>
          </a:xfrm>
        </p:spPr>
        <p:txBody>
          <a:bodyPr/>
          <a:lstStyle/>
          <a:p>
            <a:r>
              <a:rPr lang="en-GB"/>
              <a:t>Click to edit Master title style</a:t>
            </a:r>
            <a:endParaRPr lang="en-US"/>
          </a:p>
        </p:txBody>
      </p:sp>
      <p:sp>
        <p:nvSpPr>
          <p:cNvPr id="3" name="Text Placeholder 2">
            <a:extLst>
              <a:ext uri="{FF2B5EF4-FFF2-40B4-BE49-F238E27FC236}">
                <a16:creationId xmlns:a16="http://schemas.microsoft.com/office/drawing/2014/main" id="{E1E37C26-E964-1FE5-5E92-1651CE0FC421}"/>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4" name="Content Placeholder 3">
            <a:extLst>
              <a:ext uri="{FF2B5EF4-FFF2-40B4-BE49-F238E27FC236}">
                <a16:creationId xmlns:a16="http://schemas.microsoft.com/office/drawing/2014/main" id="{30FBEF23-18DC-DB03-ABF7-1DEB85C96939}"/>
              </a:ext>
            </a:extLst>
          </p:cNvPr>
          <p:cNvSpPr>
            <a:spLocks noGrp="1"/>
          </p:cNvSpPr>
          <p:nvPr>
            <p:ph sz="half" idx="2"/>
          </p:nvPr>
        </p:nvSpPr>
        <p:spPr>
          <a:xfrm>
            <a:off x="839788" y="2505075"/>
            <a:ext cx="5157787"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5" name="Text Placeholder 4">
            <a:extLst>
              <a:ext uri="{FF2B5EF4-FFF2-40B4-BE49-F238E27FC236}">
                <a16:creationId xmlns:a16="http://schemas.microsoft.com/office/drawing/2014/main" id="{55E57668-DE49-632B-B4BC-0692DF3AE167}"/>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6" name="Content Placeholder 5">
            <a:extLst>
              <a:ext uri="{FF2B5EF4-FFF2-40B4-BE49-F238E27FC236}">
                <a16:creationId xmlns:a16="http://schemas.microsoft.com/office/drawing/2014/main" id="{5B59C7C1-1CD6-DC8F-2372-EA68D0ACB704}"/>
              </a:ext>
            </a:extLst>
          </p:cNvPr>
          <p:cNvSpPr>
            <a:spLocks noGrp="1"/>
          </p:cNvSpPr>
          <p:nvPr>
            <p:ph sz="quarter" idx="4"/>
          </p:nvPr>
        </p:nvSpPr>
        <p:spPr>
          <a:xfrm>
            <a:off x="6172200" y="2505075"/>
            <a:ext cx="5183188"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7" name="Date Placeholder 6">
            <a:extLst>
              <a:ext uri="{FF2B5EF4-FFF2-40B4-BE49-F238E27FC236}">
                <a16:creationId xmlns:a16="http://schemas.microsoft.com/office/drawing/2014/main" id="{10FF5612-0BD1-55FE-60C3-F8BD97C45AB8}"/>
              </a:ext>
            </a:extLst>
          </p:cNvPr>
          <p:cNvSpPr>
            <a:spLocks noGrp="1"/>
          </p:cNvSpPr>
          <p:nvPr>
            <p:ph type="dt" sz="half" idx="10"/>
          </p:nvPr>
        </p:nvSpPr>
        <p:spPr/>
        <p:txBody>
          <a:bodyPr/>
          <a:lstStyle/>
          <a:p>
            <a:fld id="{52635738-E601-6B4A-98FB-5FFDF7D6DB54}" type="datetimeFigureOut">
              <a:rPr lang="en-US" smtClean="0"/>
              <a:t>2/9/26</a:t>
            </a:fld>
            <a:endParaRPr lang="en-US"/>
          </a:p>
        </p:txBody>
      </p:sp>
      <p:sp>
        <p:nvSpPr>
          <p:cNvPr id="8" name="Footer Placeholder 7">
            <a:extLst>
              <a:ext uri="{FF2B5EF4-FFF2-40B4-BE49-F238E27FC236}">
                <a16:creationId xmlns:a16="http://schemas.microsoft.com/office/drawing/2014/main" id="{3900194C-0793-5351-4354-0AC0E15B36CB}"/>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BDAAAAE2-698F-1604-0ADD-F31D24FD0309}"/>
              </a:ext>
            </a:extLst>
          </p:cNvPr>
          <p:cNvSpPr>
            <a:spLocks noGrp="1"/>
          </p:cNvSpPr>
          <p:nvPr>
            <p:ph type="sldNum" sz="quarter" idx="12"/>
          </p:nvPr>
        </p:nvSpPr>
        <p:spPr/>
        <p:txBody>
          <a:bodyPr/>
          <a:lstStyle/>
          <a:p>
            <a:fld id="{49A2DF36-B936-2B46-834D-F9783B021837}" type="slidenum">
              <a:rPr lang="en-US" smtClean="0"/>
              <a:t>‹#›</a:t>
            </a:fld>
            <a:endParaRPr lang="en-US"/>
          </a:p>
        </p:txBody>
      </p:sp>
    </p:spTree>
    <p:extLst>
      <p:ext uri="{BB962C8B-B14F-4D97-AF65-F5344CB8AC3E}">
        <p14:creationId xmlns:p14="http://schemas.microsoft.com/office/powerpoint/2010/main" val="393158134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E9E85C-AF8D-F66E-8676-B3ECFDAE2677}"/>
              </a:ext>
            </a:extLst>
          </p:cNvPr>
          <p:cNvSpPr>
            <a:spLocks noGrp="1"/>
          </p:cNvSpPr>
          <p:nvPr>
            <p:ph type="title"/>
          </p:nvPr>
        </p:nvSpPr>
        <p:spPr/>
        <p:txBody>
          <a:bodyPr/>
          <a:lstStyle/>
          <a:p>
            <a:r>
              <a:rPr lang="en-GB"/>
              <a:t>Click to edit Master title style</a:t>
            </a:r>
            <a:endParaRPr lang="en-US"/>
          </a:p>
        </p:txBody>
      </p:sp>
      <p:sp>
        <p:nvSpPr>
          <p:cNvPr id="3" name="Date Placeholder 2">
            <a:extLst>
              <a:ext uri="{FF2B5EF4-FFF2-40B4-BE49-F238E27FC236}">
                <a16:creationId xmlns:a16="http://schemas.microsoft.com/office/drawing/2014/main" id="{96F7BEA7-954F-6A03-5739-772DDB64D134}"/>
              </a:ext>
            </a:extLst>
          </p:cNvPr>
          <p:cNvSpPr>
            <a:spLocks noGrp="1"/>
          </p:cNvSpPr>
          <p:nvPr>
            <p:ph type="dt" sz="half" idx="10"/>
          </p:nvPr>
        </p:nvSpPr>
        <p:spPr/>
        <p:txBody>
          <a:bodyPr/>
          <a:lstStyle/>
          <a:p>
            <a:fld id="{52635738-E601-6B4A-98FB-5FFDF7D6DB54}" type="datetimeFigureOut">
              <a:rPr lang="en-US" smtClean="0"/>
              <a:t>2/9/26</a:t>
            </a:fld>
            <a:endParaRPr lang="en-US"/>
          </a:p>
        </p:txBody>
      </p:sp>
      <p:sp>
        <p:nvSpPr>
          <p:cNvPr id="4" name="Footer Placeholder 3">
            <a:extLst>
              <a:ext uri="{FF2B5EF4-FFF2-40B4-BE49-F238E27FC236}">
                <a16:creationId xmlns:a16="http://schemas.microsoft.com/office/drawing/2014/main" id="{314BEBE7-160B-4AE2-5E29-413B040C937C}"/>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1EB3D5E7-E89E-2E8B-53D5-72152F99EA3C}"/>
              </a:ext>
            </a:extLst>
          </p:cNvPr>
          <p:cNvSpPr>
            <a:spLocks noGrp="1"/>
          </p:cNvSpPr>
          <p:nvPr>
            <p:ph type="sldNum" sz="quarter" idx="12"/>
          </p:nvPr>
        </p:nvSpPr>
        <p:spPr/>
        <p:txBody>
          <a:bodyPr/>
          <a:lstStyle/>
          <a:p>
            <a:fld id="{49A2DF36-B936-2B46-834D-F9783B021837}" type="slidenum">
              <a:rPr lang="en-US" smtClean="0"/>
              <a:t>‹#›</a:t>
            </a:fld>
            <a:endParaRPr lang="en-US"/>
          </a:p>
        </p:txBody>
      </p:sp>
    </p:spTree>
    <p:extLst>
      <p:ext uri="{BB962C8B-B14F-4D97-AF65-F5344CB8AC3E}">
        <p14:creationId xmlns:p14="http://schemas.microsoft.com/office/powerpoint/2010/main" val="274419600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3F2D17BE-4D36-D917-5EF4-F201284D77E1}"/>
              </a:ext>
            </a:extLst>
          </p:cNvPr>
          <p:cNvSpPr>
            <a:spLocks noGrp="1"/>
          </p:cNvSpPr>
          <p:nvPr>
            <p:ph type="dt" sz="half" idx="10"/>
          </p:nvPr>
        </p:nvSpPr>
        <p:spPr/>
        <p:txBody>
          <a:bodyPr/>
          <a:lstStyle/>
          <a:p>
            <a:fld id="{52635738-E601-6B4A-98FB-5FFDF7D6DB54}" type="datetimeFigureOut">
              <a:rPr lang="en-US" smtClean="0"/>
              <a:t>2/9/26</a:t>
            </a:fld>
            <a:endParaRPr lang="en-US"/>
          </a:p>
        </p:txBody>
      </p:sp>
      <p:sp>
        <p:nvSpPr>
          <p:cNvPr id="3" name="Footer Placeholder 2">
            <a:extLst>
              <a:ext uri="{FF2B5EF4-FFF2-40B4-BE49-F238E27FC236}">
                <a16:creationId xmlns:a16="http://schemas.microsoft.com/office/drawing/2014/main" id="{D7FEE132-541D-15BC-A82F-92125F0ABED0}"/>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BF8609C4-84B4-A9AE-F9F5-F5A108EBCA45}"/>
              </a:ext>
            </a:extLst>
          </p:cNvPr>
          <p:cNvSpPr>
            <a:spLocks noGrp="1"/>
          </p:cNvSpPr>
          <p:nvPr>
            <p:ph type="sldNum" sz="quarter" idx="12"/>
          </p:nvPr>
        </p:nvSpPr>
        <p:spPr/>
        <p:txBody>
          <a:bodyPr/>
          <a:lstStyle/>
          <a:p>
            <a:fld id="{49A2DF36-B936-2B46-834D-F9783B021837}" type="slidenum">
              <a:rPr lang="en-US" smtClean="0"/>
              <a:t>‹#›</a:t>
            </a:fld>
            <a:endParaRPr lang="en-US"/>
          </a:p>
        </p:txBody>
      </p:sp>
    </p:spTree>
    <p:extLst>
      <p:ext uri="{BB962C8B-B14F-4D97-AF65-F5344CB8AC3E}">
        <p14:creationId xmlns:p14="http://schemas.microsoft.com/office/powerpoint/2010/main" val="362780536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E47556-8F40-8269-4531-F7CCACA878D0}"/>
              </a:ext>
            </a:extLst>
          </p:cNvPr>
          <p:cNvSpPr>
            <a:spLocks noGrp="1"/>
          </p:cNvSpPr>
          <p:nvPr>
            <p:ph type="title"/>
          </p:nvPr>
        </p:nvSpPr>
        <p:spPr>
          <a:xfrm>
            <a:off x="839788" y="457200"/>
            <a:ext cx="3932237" cy="1600200"/>
          </a:xfrm>
        </p:spPr>
        <p:txBody>
          <a:bodyPr anchor="b"/>
          <a:lstStyle>
            <a:lvl1pPr>
              <a:defRPr sz="3200"/>
            </a:lvl1pPr>
          </a:lstStyle>
          <a:p>
            <a:r>
              <a:rPr lang="en-GB"/>
              <a:t>Click to edit Master title style</a:t>
            </a:r>
            <a:endParaRPr lang="en-US"/>
          </a:p>
        </p:txBody>
      </p:sp>
      <p:sp>
        <p:nvSpPr>
          <p:cNvPr id="3" name="Content Placeholder 2">
            <a:extLst>
              <a:ext uri="{FF2B5EF4-FFF2-40B4-BE49-F238E27FC236}">
                <a16:creationId xmlns:a16="http://schemas.microsoft.com/office/drawing/2014/main" id="{899796EB-3246-B4CE-1AEC-E6BCB07E40D6}"/>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Text Placeholder 3">
            <a:extLst>
              <a:ext uri="{FF2B5EF4-FFF2-40B4-BE49-F238E27FC236}">
                <a16:creationId xmlns:a16="http://schemas.microsoft.com/office/drawing/2014/main" id="{A29563C5-108E-F200-D965-69A7D4D7C358}"/>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a:extLst>
              <a:ext uri="{FF2B5EF4-FFF2-40B4-BE49-F238E27FC236}">
                <a16:creationId xmlns:a16="http://schemas.microsoft.com/office/drawing/2014/main" id="{0CB3FC97-2482-24EF-669C-5C51F9F466F6}"/>
              </a:ext>
            </a:extLst>
          </p:cNvPr>
          <p:cNvSpPr>
            <a:spLocks noGrp="1"/>
          </p:cNvSpPr>
          <p:nvPr>
            <p:ph type="dt" sz="half" idx="10"/>
          </p:nvPr>
        </p:nvSpPr>
        <p:spPr/>
        <p:txBody>
          <a:bodyPr/>
          <a:lstStyle/>
          <a:p>
            <a:fld id="{52635738-E601-6B4A-98FB-5FFDF7D6DB54}" type="datetimeFigureOut">
              <a:rPr lang="en-US" smtClean="0"/>
              <a:t>2/9/26</a:t>
            </a:fld>
            <a:endParaRPr lang="en-US"/>
          </a:p>
        </p:txBody>
      </p:sp>
      <p:sp>
        <p:nvSpPr>
          <p:cNvPr id="6" name="Footer Placeholder 5">
            <a:extLst>
              <a:ext uri="{FF2B5EF4-FFF2-40B4-BE49-F238E27FC236}">
                <a16:creationId xmlns:a16="http://schemas.microsoft.com/office/drawing/2014/main" id="{83CB87DF-E5E5-8E1A-194C-710450333845}"/>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73B7C0E3-177D-0BBA-E3BA-B52AEDDEF983}"/>
              </a:ext>
            </a:extLst>
          </p:cNvPr>
          <p:cNvSpPr>
            <a:spLocks noGrp="1"/>
          </p:cNvSpPr>
          <p:nvPr>
            <p:ph type="sldNum" sz="quarter" idx="12"/>
          </p:nvPr>
        </p:nvSpPr>
        <p:spPr/>
        <p:txBody>
          <a:bodyPr/>
          <a:lstStyle/>
          <a:p>
            <a:fld id="{49A2DF36-B936-2B46-834D-F9783B021837}" type="slidenum">
              <a:rPr lang="en-US" smtClean="0"/>
              <a:t>‹#›</a:t>
            </a:fld>
            <a:endParaRPr lang="en-US"/>
          </a:p>
        </p:txBody>
      </p:sp>
    </p:spTree>
    <p:extLst>
      <p:ext uri="{BB962C8B-B14F-4D97-AF65-F5344CB8AC3E}">
        <p14:creationId xmlns:p14="http://schemas.microsoft.com/office/powerpoint/2010/main" val="116495233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C6E6A99-1677-4AE7-3A19-A015778B0A0C}"/>
              </a:ext>
            </a:extLst>
          </p:cNvPr>
          <p:cNvSpPr>
            <a:spLocks noGrp="1"/>
          </p:cNvSpPr>
          <p:nvPr>
            <p:ph type="title"/>
          </p:nvPr>
        </p:nvSpPr>
        <p:spPr>
          <a:xfrm>
            <a:off x="839788" y="457200"/>
            <a:ext cx="3932237" cy="1600200"/>
          </a:xfrm>
        </p:spPr>
        <p:txBody>
          <a:bodyPr anchor="b"/>
          <a:lstStyle>
            <a:lvl1pPr>
              <a:defRPr sz="3200"/>
            </a:lvl1pPr>
          </a:lstStyle>
          <a:p>
            <a:r>
              <a:rPr lang="en-GB"/>
              <a:t>Click to edit Master title style</a:t>
            </a:r>
            <a:endParaRPr lang="en-US"/>
          </a:p>
        </p:txBody>
      </p:sp>
      <p:sp>
        <p:nvSpPr>
          <p:cNvPr id="3" name="Picture Placeholder 2">
            <a:extLst>
              <a:ext uri="{FF2B5EF4-FFF2-40B4-BE49-F238E27FC236}">
                <a16:creationId xmlns:a16="http://schemas.microsoft.com/office/drawing/2014/main" id="{E75F3353-7166-93BE-47B8-5D6CEB86DEB0}"/>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D8BF88A3-8D44-C6FA-DC84-1031C1817624}"/>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a:extLst>
              <a:ext uri="{FF2B5EF4-FFF2-40B4-BE49-F238E27FC236}">
                <a16:creationId xmlns:a16="http://schemas.microsoft.com/office/drawing/2014/main" id="{E55D6140-E9CB-A923-49E6-74AC32628F01}"/>
              </a:ext>
            </a:extLst>
          </p:cNvPr>
          <p:cNvSpPr>
            <a:spLocks noGrp="1"/>
          </p:cNvSpPr>
          <p:nvPr>
            <p:ph type="dt" sz="half" idx="10"/>
          </p:nvPr>
        </p:nvSpPr>
        <p:spPr/>
        <p:txBody>
          <a:bodyPr/>
          <a:lstStyle/>
          <a:p>
            <a:fld id="{52635738-E601-6B4A-98FB-5FFDF7D6DB54}" type="datetimeFigureOut">
              <a:rPr lang="en-US" smtClean="0"/>
              <a:t>2/9/26</a:t>
            </a:fld>
            <a:endParaRPr lang="en-US"/>
          </a:p>
        </p:txBody>
      </p:sp>
      <p:sp>
        <p:nvSpPr>
          <p:cNvPr id="6" name="Footer Placeholder 5">
            <a:extLst>
              <a:ext uri="{FF2B5EF4-FFF2-40B4-BE49-F238E27FC236}">
                <a16:creationId xmlns:a16="http://schemas.microsoft.com/office/drawing/2014/main" id="{16C6524B-23C3-36DF-D6E3-DA2816FE819F}"/>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CFD27C54-554C-385D-EE63-2A28E7A6735F}"/>
              </a:ext>
            </a:extLst>
          </p:cNvPr>
          <p:cNvSpPr>
            <a:spLocks noGrp="1"/>
          </p:cNvSpPr>
          <p:nvPr>
            <p:ph type="sldNum" sz="quarter" idx="12"/>
          </p:nvPr>
        </p:nvSpPr>
        <p:spPr/>
        <p:txBody>
          <a:bodyPr/>
          <a:lstStyle/>
          <a:p>
            <a:fld id="{49A2DF36-B936-2B46-834D-F9783B021837}" type="slidenum">
              <a:rPr lang="en-US" smtClean="0"/>
              <a:t>‹#›</a:t>
            </a:fld>
            <a:endParaRPr lang="en-US"/>
          </a:p>
        </p:txBody>
      </p:sp>
    </p:spTree>
    <p:extLst>
      <p:ext uri="{BB962C8B-B14F-4D97-AF65-F5344CB8AC3E}">
        <p14:creationId xmlns:p14="http://schemas.microsoft.com/office/powerpoint/2010/main" val="53954210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2BE843B-2804-B1D5-7098-AFC82B3DF267}"/>
              </a:ext>
            </a:extLst>
          </p:cNvPr>
          <p:cNvSpPr>
            <a:spLocks noGrp="1"/>
          </p:cNvSpPr>
          <p:nvPr>
            <p:ph type="title"/>
          </p:nvPr>
        </p:nvSpPr>
        <p:spPr/>
        <p:txBody>
          <a:bodyPr/>
          <a:lstStyle/>
          <a:p>
            <a:r>
              <a:rPr lang="en-GB"/>
              <a:t>Click to edit Master title style</a:t>
            </a:r>
            <a:endParaRPr lang="en-US"/>
          </a:p>
        </p:txBody>
      </p:sp>
      <p:sp>
        <p:nvSpPr>
          <p:cNvPr id="3" name="Vertical Text Placeholder 2">
            <a:extLst>
              <a:ext uri="{FF2B5EF4-FFF2-40B4-BE49-F238E27FC236}">
                <a16:creationId xmlns:a16="http://schemas.microsoft.com/office/drawing/2014/main" id="{9F7C20DB-7A5B-8117-53DB-5BC1772475A9}"/>
              </a:ext>
            </a:extLst>
          </p:cNvPr>
          <p:cNvSpPr>
            <a:spLocks noGrp="1"/>
          </p:cNvSpPr>
          <p:nvPr>
            <p:ph type="body" orient="vert" idx="1"/>
          </p:nvPr>
        </p:nvSpPr>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0B409582-A422-49E5-1BA4-BCDAEE466DBC}"/>
              </a:ext>
            </a:extLst>
          </p:cNvPr>
          <p:cNvSpPr>
            <a:spLocks noGrp="1"/>
          </p:cNvSpPr>
          <p:nvPr>
            <p:ph type="dt" sz="half" idx="10"/>
          </p:nvPr>
        </p:nvSpPr>
        <p:spPr/>
        <p:txBody>
          <a:bodyPr/>
          <a:lstStyle/>
          <a:p>
            <a:fld id="{52635738-E601-6B4A-98FB-5FFDF7D6DB54}" type="datetimeFigureOut">
              <a:rPr lang="en-US" smtClean="0"/>
              <a:t>2/9/26</a:t>
            </a:fld>
            <a:endParaRPr lang="en-US"/>
          </a:p>
        </p:txBody>
      </p:sp>
      <p:sp>
        <p:nvSpPr>
          <p:cNvPr id="5" name="Footer Placeholder 4">
            <a:extLst>
              <a:ext uri="{FF2B5EF4-FFF2-40B4-BE49-F238E27FC236}">
                <a16:creationId xmlns:a16="http://schemas.microsoft.com/office/drawing/2014/main" id="{09F070FD-C5BE-381F-303A-8D7053C48111}"/>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71D02C80-7625-3DBD-FDFA-8F2EFA6C0E51}"/>
              </a:ext>
            </a:extLst>
          </p:cNvPr>
          <p:cNvSpPr>
            <a:spLocks noGrp="1"/>
          </p:cNvSpPr>
          <p:nvPr>
            <p:ph type="sldNum" sz="quarter" idx="12"/>
          </p:nvPr>
        </p:nvSpPr>
        <p:spPr/>
        <p:txBody>
          <a:bodyPr/>
          <a:lstStyle/>
          <a:p>
            <a:fld id="{49A2DF36-B936-2B46-834D-F9783B021837}" type="slidenum">
              <a:rPr lang="en-US" smtClean="0"/>
              <a:t>‹#›</a:t>
            </a:fld>
            <a:endParaRPr lang="en-US"/>
          </a:p>
        </p:txBody>
      </p:sp>
    </p:spTree>
    <p:extLst>
      <p:ext uri="{BB962C8B-B14F-4D97-AF65-F5344CB8AC3E}">
        <p14:creationId xmlns:p14="http://schemas.microsoft.com/office/powerpoint/2010/main" val="177928999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4A23F85F-58FA-A5B4-9946-BA48D43D5190}"/>
              </a:ext>
            </a:extLst>
          </p:cNvPr>
          <p:cNvSpPr>
            <a:spLocks noGrp="1"/>
          </p:cNvSpPr>
          <p:nvPr>
            <p:ph type="title" orient="vert"/>
          </p:nvPr>
        </p:nvSpPr>
        <p:spPr>
          <a:xfrm>
            <a:off x="8724900" y="365125"/>
            <a:ext cx="2628900" cy="5811838"/>
          </a:xfrm>
        </p:spPr>
        <p:txBody>
          <a:bodyPr vert="eaVert"/>
          <a:lstStyle/>
          <a:p>
            <a:r>
              <a:rPr lang="en-GB"/>
              <a:t>Click to edit Master title style</a:t>
            </a:r>
            <a:endParaRPr lang="en-US"/>
          </a:p>
        </p:txBody>
      </p:sp>
      <p:sp>
        <p:nvSpPr>
          <p:cNvPr id="3" name="Vertical Text Placeholder 2">
            <a:extLst>
              <a:ext uri="{FF2B5EF4-FFF2-40B4-BE49-F238E27FC236}">
                <a16:creationId xmlns:a16="http://schemas.microsoft.com/office/drawing/2014/main" id="{F5F7BFE9-9FD1-970F-3C15-4F7D9CC0E4BE}"/>
              </a:ext>
            </a:extLst>
          </p:cNvPr>
          <p:cNvSpPr>
            <a:spLocks noGrp="1"/>
          </p:cNvSpPr>
          <p:nvPr>
            <p:ph type="body" orient="vert" idx="1"/>
          </p:nvPr>
        </p:nvSpPr>
        <p:spPr>
          <a:xfrm>
            <a:off x="838200" y="365125"/>
            <a:ext cx="7734300" cy="5811838"/>
          </a:xfrm>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B29C90DB-579C-8955-B358-4D597DA7365B}"/>
              </a:ext>
            </a:extLst>
          </p:cNvPr>
          <p:cNvSpPr>
            <a:spLocks noGrp="1"/>
          </p:cNvSpPr>
          <p:nvPr>
            <p:ph type="dt" sz="half" idx="10"/>
          </p:nvPr>
        </p:nvSpPr>
        <p:spPr/>
        <p:txBody>
          <a:bodyPr/>
          <a:lstStyle/>
          <a:p>
            <a:fld id="{52635738-E601-6B4A-98FB-5FFDF7D6DB54}" type="datetimeFigureOut">
              <a:rPr lang="en-US" smtClean="0"/>
              <a:t>2/9/26</a:t>
            </a:fld>
            <a:endParaRPr lang="en-US"/>
          </a:p>
        </p:txBody>
      </p:sp>
      <p:sp>
        <p:nvSpPr>
          <p:cNvPr id="5" name="Footer Placeholder 4">
            <a:extLst>
              <a:ext uri="{FF2B5EF4-FFF2-40B4-BE49-F238E27FC236}">
                <a16:creationId xmlns:a16="http://schemas.microsoft.com/office/drawing/2014/main" id="{A7B55D56-9CDD-4199-1E8A-F0EE9D90E178}"/>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073093E-B50D-0258-EA01-C0E14572D05A}"/>
              </a:ext>
            </a:extLst>
          </p:cNvPr>
          <p:cNvSpPr>
            <a:spLocks noGrp="1"/>
          </p:cNvSpPr>
          <p:nvPr>
            <p:ph type="sldNum" sz="quarter" idx="12"/>
          </p:nvPr>
        </p:nvSpPr>
        <p:spPr/>
        <p:txBody>
          <a:bodyPr/>
          <a:lstStyle/>
          <a:p>
            <a:fld id="{49A2DF36-B936-2B46-834D-F9783B021837}" type="slidenum">
              <a:rPr lang="en-US" smtClean="0"/>
              <a:t>‹#›</a:t>
            </a:fld>
            <a:endParaRPr lang="en-US"/>
          </a:p>
        </p:txBody>
      </p:sp>
    </p:spTree>
    <p:extLst>
      <p:ext uri="{BB962C8B-B14F-4D97-AF65-F5344CB8AC3E}">
        <p14:creationId xmlns:p14="http://schemas.microsoft.com/office/powerpoint/2010/main" val="98074195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14C4A97B-6CF2-8D88-C317-CACA1AF1C9D2}"/>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GB"/>
              <a:t>Click to edit Master title style</a:t>
            </a:r>
            <a:endParaRPr lang="en-US"/>
          </a:p>
        </p:txBody>
      </p:sp>
      <p:sp>
        <p:nvSpPr>
          <p:cNvPr id="3" name="Text Placeholder 2">
            <a:extLst>
              <a:ext uri="{FF2B5EF4-FFF2-40B4-BE49-F238E27FC236}">
                <a16:creationId xmlns:a16="http://schemas.microsoft.com/office/drawing/2014/main" id="{0873DDC1-2900-07EA-05CB-56C6DC8F9A56}"/>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EF0A1A3D-C97B-C1AC-7BA7-B758EEFF41E4}"/>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52635738-E601-6B4A-98FB-5FFDF7D6DB54}" type="datetimeFigureOut">
              <a:rPr lang="en-US" smtClean="0"/>
              <a:t>2/9/26</a:t>
            </a:fld>
            <a:endParaRPr lang="en-US"/>
          </a:p>
        </p:txBody>
      </p:sp>
      <p:sp>
        <p:nvSpPr>
          <p:cNvPr id="5" name="Footer Placeholder 4">
            <a:extLst>
              <a:ext uri="{FF2B5EF4-FFF2-40B4-BE49-F238E27FC236}">
                <a16:creationId xmlns:a16="http://schemas.microsoft.com/office/drawing/2014/main" id="{492C6C35-379E-7F83-072C-3F87D08BB820}"/>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E9D2CA08-7BDF-D730-586D-65DB81509D75}"/>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49A2DF36-B936-2B46-834D-F9783B021837}" type="slidenum">
              <a:rPr lang="en-US" smtClean="0"/>
              <a:t>‹#›</a:t>
            </a:fld>
            <a:endParaRPr lang="en-US"/>
          </a:p>
        </p:txBody>
      </p:sp>
    </p:spTree>
    <p:extLst>
      <p:ext uri="{BB962C8B-B14F-4D97-AF65-F5344CB8AC3E}">
        <p14:creationId xmlns:p14="http://schemas.microsoft.com/office/powerpoint/2010/main" val="8640774"/>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hyperlink" Target="https://ds4psych.com/vectorspace-intro#fn1" TargetMode="Externa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2.xml"/><Relationship Id="rId4" Type="http://schemas.openxmlformats.org/officeDocument/2006/relationships/image" Target="../media/image5.png"/></Relationships>
</file>

<file path=ppt/slides/_rels/slide1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hyperlink" Target="https://ds4psych.com/vectorspace-intro" TargetMode="Externa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hyperlink" Target="https://colab.research.google.com/drive/1BGZPZe91EBJJbM9u65vFet4ti996xIRD?usp=sharing" TargetMode="Externa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3" Type="http://schemas.openxmlformats.org/officeDocument/2006/relationships/hyperlink" Target="https://www.kaggle.com/datasets/uciml/sms-spam-collection-dataset?resource=download" TargetMode="External"/><Relationship Id="rId2" Type="http://schemas.openxmlformats.org/officeDocument/2006/relationships/hyperlink" Target="https://colab.research.google.com/drive/1lrSkIRz-2cpsUftgc5Ma7iLxOWx2Cdm3?usp=sharing" TargetMode="Externa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3" Type="http://schemas.openxmlformats.org/officeDocument/2006/relationships/hyperlink" Target="https://www.google.com/search?q=Jaccard+Similarity&amp;sca_esv=ca362862dff82633&amp;rlz=1C5CHFA_enIN989IN989&amp;sxsrf=ANbL-n7NoPBq-z9jFoGprvw9rweaOwHwgQ%3A1769495216736&amp;ei=sFp4ae7ELPGVseMPlvPwIA&amp;oq=Similarity+Funct+in+information+retrieval&amp;gs_lp=Egxnd3Mtd2l6LXNlcnAiKVNpbWlsYXJpdHkgRnVuY3QgaW4gaW5mb3JtYXRpb24gcmV0cmlldmFsKgIIADIKECEYoAEYwwQYCjIKECEYoAEYwwQYCkiLUlCxBliDRXALeAGQAQCYAdsCoAH1KqoBCDAuMjAuOC4xuAEDyAEA-AEBmAIYoALVEcICChAAGLADGNYEGEfCAggQABgFGA0YHsICCBAAGAgYDRgewgILEAAYgAQYhgMYigXCAggQABiABBiiBMICBRAAGO8FwgIIECEYoAEYwwTCAgYQABgHGB7CAggQABgHGAgYHsICCBAAGAUYBxgewgIGEAAYBRgemAMAiAYBkAYIkgcHMTEuMTEuMqAHrMUBsgcGMC4xMS4yuAewEcIHBzAuMTQuMTDIB0KACAA&amp;sclient=gws-wiz-serp&amp;ved=2ahUKEwio9vvqy62SAxVPXWwGHbadMmQQgK4QegQIAxAG" TargetMode="External"/><Relationship Id="rId2" Type="http://schemas.openxmlformats.org/officeDocument/2006/relationships/hyperlink" Target="https://www.google.com/search?q=Cosine+Similarity&amp;sca_esv=ca362862dff82633&amp;rlz=1C5CHFA_enIN989IN989&amp;sxsrf=ANbL-n7NoPBq-z9jFoGprvw9rweaOwHwgQ%3A1769495216736&amp;ei=sFp4ae7ELPGVseMPlvPwIA&amp;oq=Similarity+Funct+in+information+retrieval&amp;gs_lp=Egxnd3Mtd2l6LXNlcnAiKVNpbWlsYXJpdHkgRnVuY3QgaW4gaW5mb3JtYXRpb24gcmV0cmlldmFsKgIIADIKECEYoAEYwwQYCjIKECEYoAEYwwQYCkiLUlCxBliDRXALeAGQAQCYAdsCoAH1KqoBCDAuMjAuOC4xuAEDyAEA-AEBmAIYoALVEcICChAAGLADGNYEGEfCAggQABgFGA0YHsICCBAAGAgYDRgewgILEAAYgAQYhgMYigXCAggQABiABBiiBMICBRAAGO8FwgIIECEYoAEYwwTCAgYQABgHGB7CAggQABgHGAgYHsICCBAAGAUYBxgewgIGEAAYBRgemAMAiAYBkAYIkgcHMTEuMTEuMqAHrMUBsgcGMC4xMS4yuAewEcIHBzAuMTQuMTDIB0KACAA&amp;sclient=gws-wiz-serp&amp;ved=2ahUKEwio9vvqy62SAxVPXWwGHbadMmQQgK4QegQIAxAE" TargetMode="External"/><Relationship Id="rId1" Type="http://schemas.openxmlformats.org/officeDocument/2006/relationships/slideLayout" Target="../slideLayouts/slideLayout2.xml"/><Relationship Id="rId4" Type="http://schemas.openxmlformats.org/officeDocument/2006/relationships/hyperlink" Target="https://www.google.com/search?q=Euclidean+Distance&amp;sca_esv=ca362862dff82633&amp;rlz=1C5CHFA_enIN989IN989&amp;sxsrf=ANbL-n7NoPBq-z9jFoGprvw9rweaOwHwgQ%3A1769495216736&amp;ei=sFp4ae7ELPGVseMPlvPwIA&amp;oq=Similarity+Funct+in+information+retrieval&amp;gs_lp=Egxnd3Mtd2l6LXNlcnAiKVNpbWlsYXJpdHkgRnVuY3QgaW4gaW5mb3JtYXRpb24gcmV0cmlldmFsKgIIADIKECEYoAEYwwQYCjIKECEYoAEYwwQYCkiLUlCxBliDRXALeAGQAQCYAdsCoAH1KqoBCDAuMjAuOC4xuAEDyAEA-AEBmAIYoALVEcICChAAGLADGNYEGEfCAggQABgFGA0YHsICCBAAGAgYDRgewgILEAAYgAQYhgMYigXCAggQABiABBiiBMICBRAAGO8FwgIIECEYoAEYwwTCAgYQABgHGB7CAggQABgHGAgYHsICCBAAGAUYBxgewgIGEAAYBRgemAMAiAYBkAYIkgcHMTEuMTEuMqAHrMUBsgcGMC4xMS4yuAewEcIHBzAuMTQuMTDIB0KACAA&amp;sclient=gws-wiz-serp&amp;ved=2ahUKEwio9vvqy62SAxVPXWwGHbadMmQQgK4QegQIAxAI" TargetMode="Externa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2" Type="http://schemas.openxmlformats.org/officeDocument/2006/relationships/image" Target="../media/image12.gif"/><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2" Type="http://schemas.openxmlformats.org/officeDocument/2006/relationships/hyperlink" Target="https://colab.research.google.com/drive/1pejrV6Vf4M_Nu8UDvNSxZI3tsANTK5-9#scrollTo=GeSTf-fX4NGJ" TargetMode="External"/><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2" Type="http://schemas.openxmlformats.org/officeDocument/2006/relationships/hyperlink" Target="https://colab.research.google.com/drive/1zUl8octlhHdmRokzEAipnCF48pLDXnPZ?usp=sharing" TargetMode="External"/><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2" Type="http://schemas.openxmlformats.org/officeDocument/2006/relationships/hyperlink" Target="https://colab.research.google.com/drive/1G_Gci9v5UGOrZ8FC44bOhN7xMxGAwnvr?usp=sharing" TargetMode="External"/><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92C8D1A-824C-8A38-AC17-138E4B1CB06D}"/>
              </a:ext>
            </a:extLst>
          </p:cNvPr>
          <p:cNvSpPr>
            <a:spLocks noGrp="1"/>
          </p:cNvSpPr>
          <p:nvPr>
            <p:ph type="ctrTitle"/>
          </p:nvPr>
        </p:nvSpPr>
        <p:spPr/>
        <p:txBody>
          <a:bodyPr/>
          <a:lstStyle/>
          <a:p>
            <a:r>
              <a:rPr lang="en-US" dirty="0"/>
              <a:t>Information Retrieval</a:t>
            </a:r>
          </a:p>
        </p:txBody>
      </p:sp>
      <p:sp>
        <p:nvSpPr>
          <p:cNvPr id="3" name="Subtitle 2">
            <a:extLst>
              <a:ext uri="{FF2B5EF4-FFF2-40B4-BE49-F238E27FC236}">
                <a16:creationId xmlns:a16="http://schemas.microsoft.com/office/drawing/2014/main" id="{B84B7BB8-F1A5-C4EC-7A22-58F940EFD81C}"/>
              </a:ext>
            </a:extLst>
          </p:cNvPr>
          <p:cNvSpPr>
            <a:spLocks noGrp="1"/>
          </p:cNvSpPr>
          <p:nvPr>
            <p:ph type="subTitle" idx="1"/>
          </p:nvPr>
        </p:nvSpPr>
        <p:spPr/>
        <p:txBody>
          <a:bodyPr>
            <a:normAutofit lnSpcReduction="10000"/>
          </a:bodyPr>
          <a:lstStyle/>
          <a:p>
            <a:r>
              <a:rPr lang="en-US" dirty="0"/>
              <a:t>Course Code: BIT 406</a:t>
            </a:r>
          </a:p>
          <a:p>
            <a:r>
              <a:rPr lang="en-US" dirty="0"/>
              <a:t>Contact Hours: L-3 T-0 P-2</a:t>
            </a:r>
          </a:p>
          <a:p>
            <a:r>
              <a:rPr lang="en-US" dirty="0"/>
              <a:t>Credits: 4</a:t>
            </a:r>
          </a:p>
          <a:p>
            <a:r>
              <a:rPr lang="en-US" dirty="0"/>
              <a:t>Semester: 8</a:t>
            </a:r>
          </a:p>
        </p:txBody>
      </p:sp>
    </p:spTree>
    <p:extLst>
      <p:ext uri="{BB962C8B-B14F-4D97-AF65-F5344CB8AC3E}">
        <p14:creationId xmlns:p14="http://schemas.microsoft.com/office/powerpoint/2010/main" val="306722514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9CCA886-33FC-F262-860F-E2B284416694}"/>
              </a:ext>
            </a:extLst>
          </p:cNvPr>
          <p:cNvSpPr>
            <a:spLocks noGrp="1"/>
          </p:cNvSpPr>
          <p:nvPr>
            <p:ph type="title"/>
          </p:nvPr>
        </p:nvSpPr>
        <p:spPr/>
        <p:txBody>
          <a:bodyPr/>
          <a:lstStyle/>
          <a:p>
            <a:r>
              <a:rPr lang="en-US" dirty="0"/>
              <a:t>Unit 1: Vector Space Model of Retrieval</a:t>
            </a:r>
          </a:p>
        </p:txBody>
      </p:sp>
      <p:sp>
        <p:nvSpPr>
          <p:cNvPr id="3" name="Content Placeholder 2">
            <a:extLst>
              <a:ext uri="{FF2B5EF4-FFF2-40B4-BE49-F238E27FC236}">
                <a16:creationId xmlns:a16="http://schemas.microsoft.com/office/drawing/2014/main" id="{C3B069CC-C52F-B836-60C1-A5789770D5DE}"/>
              </a:ext>
            </a:extLst>
          </p:cNvPr>
          <p:cNvSpPr>
            <a:spLocks noGrp="1"/>
          </p:cNvSpPr>
          <p:nvPr>
            <p:ph idx="1"/>
          </p:nvPr>
        </p:nvSpPr>
        <p:spPr/>
        <p:txBody>
          <a:bodyPr>
            <a:normAutofit fontScale="55000" lnSpcReduction="20000"/>
          </a:bodyPr>
          <a:lstStyle/>
          <a:p>
            <a:r>
              <a:rPr lang="en-US" dirty="0"/>
              <a:t>Word Statistics</a:t>
            </a:r>
          </a:p>
          <a:p>
            <a:r>
              <a:rPr lang="en-US" dirty="0"/>
              <a:t>Text preprocessing</a:t>
            </a:r>
          </a:p>
          <a:p>
            <a:r>
              <a:rPr lang="en-US" dirty="0"/>
              <a:t>Term Weighing</a:t>
            </a:r>
          </a:p>
          <a:p>
            <a:r>
              <a:rPr lang="en-US" dirty="0"/>
              <a:t>Similarity Function</a:t>
            </a:r>
          </a:p>
          <a:p>
            <a:r>
              <a:rPr lang="en-US" dirty="0"/>
              <a:t>Indexing</a:t>
            </a:r>
          </a:p>
          <a:p>
            <a:r>
              <a:rPr lang="en-US" dirty="0"/>
              <a:t>Relevance Feedback</a:t>
            </a:r>
          </a:p>
          <a:p>
            <a:r>
              <a:rPr lang="en-US" dirty="0"/>
              <a:t>Query Expansion(With Local Analysis from External Resources)</a:t>
            </a:r>
          </a:p>
          <a:p>
            <a:r>
              <a:rPr lang="en-US" dirty="0"/>
              <a:t>The impact of Document Normalization</a:t>
            </a:r>
          </a:p>
          <a:p>
            <a:r>
              <a:rPr lang="en-US" dirty="0"/>
              <a:t>Multi-Field Retrieval</a:t>
            </a:r>
          </a:p>
          <a:p>
            <a:r>
              <a:rPr lang="en-US" dirty="0"/>
              <a:t>Evaluation of Retrieval</a:t>
            </a:r>
          </a:p>
          <a:p>
            <a:r>
              <a:rPr lang="en-US" dirty="0"/>
              <a:t>Applications</a:t>
            </a:r>
          </a:p>
          <a:p>
            <a:r>
              <a:rPr lang="en-US" dirty="0"/>
              <a:t>Disadvantages</a:t>
            </a:r>
          </a:p>
          <a:p>
            <a:r>
              <a:rPr lang="en-US" dirty="0"/>
              <a:t>Incentives for Engaging in Electronic Commerce</a:t>
            </a:r>
          </a:p>
          <a:p>
            <a:r>
              <a:rPr lang="en-US" dirty="0"/>
              <a:t>Forces behind E-</a:t>
            </a:r>
            <a:r>
              <a:rPr lang="en-US" dirty="0" err="1"/>
              <a:t>commerece</a:t>
            </a:r>
            <a:endParaRPr lang="en-US" dirty="0"/>
          </a:p>
        </p:txBody>
      </p:sp>
    </p:spTree>
    <p:extLst>
      <p:ext uri="{BB962C8B-B14F-4D97-AF65-F5344CB8AC3E}">
        <p14:creationId xmlns:p14="http://schemas.microsoft.com/office/powerpoint/2010/main" val="337615272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719E974-F429-3937-1662-744BAB2C31EF}"/>
              </a:ext>
            </a:extLst>
          </p:cNvPr>
          <p:cNvSpPr>
            <a:spLocks noGrp="1"/>
          </p:cNvSpPr>
          <p:nvPr>
            <p:ph type="title"/>
          </p:nvPr>
        </p:nvSpPr>
        <p:spPr/>
        <p:txBody>
          <a:bodyPr/>
          <a:lstStyle/>
          <a:p>
            <a:r>
              <a:rPr lang="en-IN" dirty="0"/>
              <a:t>What exactly is Information Retrieval?</a:t>
            </a:r>
          </a:p>
        </p:txBody>
      </p:sp>
      <p:sp>
        <p:nvSpPr>
          <p:cNvPr id="3" name="Content Placeholder 2">
            <a:extLst>
              <a:ext uri="{FF2B5EF4-FFF2-40B4-BE49-F238E27FC236}">
                <a16:creationId xmlns:a16="http://schemas.microsoft.com/office/drawing/2014/main" id="{B6C3DB79-FA26-1039-B2C9-533402E35BE0}"/>
              </a:ext>
            </a:extLst>
          </p:cNvPr>
          <p:cNvSpPr>
            <a:spLocks noGrp="1"/>
          </p:cNvSpPr>
          <p:nvPr>
            <p:ph idx="1"/>
          </p:nvPr>
        </p:nvSpPr>
        <p:spPr/>
        <p:txBody>
          <a:bodyPr>
            <a:normAutofit fontScale="70000" lnSpcReduction="20000"/>
          </a:bodyPr>
          <a:lstStyle/>
          <a:p>
            <a:pPr marL="0" indent="0">
              <a:buNone/>
            </a:pPr>
            <a:r>
              <a:rPr lang="en-IN" b="1" dirty="0"/>
              <a:t>Information Retrieval</a:t>
            </a:r>
            <a:endParaRPr lang="en-IN" dirty="0"/>
          </a:p>
          <a:p>
            <a:pPr marL="0" indent="0">
              <a:buNone/>
            </a:pPr>
            <a:r>
              <a:rPr lang="en-IN" dirty="0"/>
              <a:t>Information retrieval is defined as the process of accessing and retrieving the most appropriate information from text based on a particular query given by the user, with the help of context-based indexing or metadata.</a:t>
            </a:r>
          </a:p>
          <a:p>
            <a:r>
              <a:rPr lang="en-IN" b="1" dirty="0">
                <a:solidFill>
                  <a:srgbClr val="FF0000"/>
                </a:solidFill>
              </a:rPr>
              <a:t>Google Search</a:t>
            </a:r>
            <a:r>
              <a:rPr lang="en-IN" dirty="0">
                <a:solidFill>
                  <a:srgbClr val="FF0000"/>
                </a:solidFill>
              </a:rPr>
              <a:t> is the most famous example of information retrieval.</a:t>
            </a:r>
          </a:p>
          <a:p>
            <a:pPr marL="0" indent="0">
              <a:buNone/>
            </a:pPr>
            <a:r>
              <a:rPr lang="en-IN" b="1" dirty="0"/>
              <a:t>Information Retrieval Systems</a:t>
            </a:r>
            <a:endParaRPr lang="en-IN" dirty="0"/>
          </a:p>
          <a:p>
            <a:r>
              <a:rPr lang="en-IN" dirty="0"/>
              <a:t>An information retrieval system searches a collection of natural language documents with the goal of retrieving exactly the set of documents that matches a user’s question. They have their origin in library systems.</a:t>
            </a:r>
          </a:p>
          <a:p>
            <a:r>
              <a:rPr lang="en-IN" dirty="0"/>
              <a:t>These systems assist users in finding the information they require but it does not attempt to deduce or generate answers. It tells about the existence and location of documents that might consist of the required information that is given to the user. </a:t>
            </a:r>
            <a:r>
              <a:rPr lang="en-IN" b="1" dirty="0">
                <a:solidFill>
                  <a:srgbClr val="FF0000"/>
                </a:solidFill>
              </a:rPr>
              <a:t>The documents that satisfy the user’s requirement are called relevant documents.</a:t>
            </a:r>
            <a:r>
              <a:rPr lang="en-IN" dirty="0"/>
              <a:t> If we have a perfect IR system, then it will retrieve only relevant documents.</a:t>
            </a:r>
          </a:p>
          <a:p>
            <a:pPr marL="0" indent="0">
              <a:buNone/>
            </a:pPr>
            <a:br>
              <a:rPr lang="en-IN" dirty="0"/>
            </a:br>
            <a:endParaRPr lang="en-US" dirty="0"/>
          </a:p>
        </p:txBody>
      </p:sp>
    </p:spTree>
    <p:extLst>
      <p:ext uri="{BB962C8B-B14F-4D97-AF65-F5344CB8AC3E}">
        <p14:creationId xmlns:p14="http://schemas.microsoft.com/office/powerpoint/2010/main" val="219893382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09989D2-45EA-A487-7BBA-F352CDB64470}"/>
              </a:ext>
            </a:extLst>
          </p:cNvPr>
          <p:cNvSpPr>
            <a:spLocks noGrp="1"/>
          </p:cNvSpPr>
          <p:nvPr>
            <p:ph type="title"/>
          </p:nvPr>
        </p:nvSpPr>
        <p:spPr/>
        <p:txBody>
          <a:bodyPr/>
          <a:lstStyle/>
          <a:p>
            <a:r>
              <a:rPr lang="en-US" dirty="0"/>
              <a:t>Basics of IR System</a:t>
            </a:r>
          </a:p>
        </p:txBody>
      </p:sp>
      <p:pic>
        <p:nvPicPr>
          <p:cNvPr id="1026" name="Picture 2">
            <a:extLst>
              <a:ext uri="{FF2B5EF4-FFF2-40B4-BE49-F238E27FC236}">
                <a16:creationId xmlns:a16="http://schemas.microsoft.com/office/drawing/2014/main" id="{4B76CE30-D5FB-B135-1EDD-C7725C41CE0C}"/>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4941556" y="1690688"/>
            <a:ext cx="6828765" cy="4352400"/>
          </a:xfrm>
          <a:prstGeom prst="rect">
            <a:avLst/>
          </a:prstGeom>
          <a:noFill/>
          <a:extLst>
            <a:ext uri="{909E8E84-426E-40DD-AFC4-6F175D3DCCD1}">
              <a14:hiddenFill xmlns:a14="http://schemas.microsoft.com/office/drawing/2010/main">
                <a:solidFill>
                  <a:srgbClr val="FFFFFF"/>
                </a:solidFill>
              </a14:hiddenFill>
            </a:ext>
          </a:extLst>
        </p:spPr>
      </p:pic>
      <p:sp>
        <p:nvSpPr>
          <p:cNvPr id="4" name="TextBox 3">
            <a:extLst>
              <a:ext uri="{FF2B5EF4-FFF2-40B4-BE49-F238E27FC236}">
                <a16:creationId xmlns:a16="http://schemas.microsoft.com/office/drawing/2014/main" id="{06F9CFAE-0FED-CE55-1B31-60FB5B39E618}"/>
              </a:ext>
            </a:extLst>
          </p:cNvPr>
          <p:cNvSpPr txBox="1"/>
          <p:nvPr/>
        </p:nvSpPr>
        <p:spPr>
          <a:xfrm>
            <a:off x="838200" y="1936376"/>
            <a:ext cx="4103356" cy="4524315"/>
          </a:xfrm>
          <a:prstGeom prst="rect">
            <a:avLst/>
          </a:prstGeom>
          <a:noFill/>
        </p:spPr>
        <p:txBody>
          <a:bodyPr wrap="square" rtlCol="0">
            <a:spAutoFit/>
          </a:bodyPr>
          <a:lstStyle/>
          <a:p>
            <a:pPr algn="just"/>
            <a:r>
              <a:rPr lang="en-IN" dirty="0"/>
              <a:t>The step by step procedure of these systems are as follows:</a:t>
            </a:r>
          </a:p>
          <a:p>
            <a:pPr marL="285750" indent="-285750" algn="just">
              <a:buFont typeface="Arial" panose="020B0604020202020204" pitchFamily="34" charset="0"/>
              <a:buChar char="•"/>
            </a:pPr>
            <a:r>
              <a:rPr lang="en-IN" dirty="0"/>
              <a:t>Indexing the collection of documents.</a:t>
            </a:r>
          </a:p>
          <a:p>
            <a:pPr marL="285750" indent="-285750" algn="just">
              <a:buFont typeface="Arial" panose="020B0604020202020204" pitchFamily="34" charset="0"/>
              <a:buChar char="•"/>
            </a:pPr>
            <a:r>
              <a:rPr lang="en-IN" dirty="0"/>
              <a:t>Transforming the query in the same way as the document content is represented.</a:t>
            </a:r>
          </a:p>
          <a:p>
            <a:pPr marL="285750" indent="-285750" algn="just">
              <a:buFont typeface="Arial" panose="020B0604020202020204" pitchFamily="34" charset="0"/>
              <a:buChar char="•"/>
            </a:pPr>
            <a:r>
              <a:rPr lang="en-IN" dirty="0"/>
              <a:t>Comparing the description of each document with that of the query.</a:t>
            </a:r>
          </a:p>
          <a:p>
            <a:pPr marL="285750" indent="-285750" algn="just">
              <a:buFont typeface="Arial" panose="020B0604020202020204" pitchFamily="34" charset="0"/>
              <a:buChar char="•"/>
            </a:pPr>
            <a:r>
              <a:rPr lang="en-IN" dirty="0"/>
              <a:t>Listing the results in order of relevancy.</a:t>
            </a:r>
          </a:p>
          <a:p>
            <a:pPr marL="285750" indent="-285750" algn="just">
              <a:buFont typeface="Arial" panose="020B0604020202020204" pitchFamily="34" charset="0"/>
              <a:buChar char="•"/>
            </a:pPr>
            <a:r>
              <a:rPr lang="en-IN" dirty="0"/>
              <a:t>Retrieval Systems consist of mainly two processes:</a:t>
            </a:r>
          </a:p>
          <a:p>
            <a:pPr marL="742950" lvl="1" indent="-285750" algn="just">
              <a:buFont typeface="Arial" panose="020B0604020202020204" pitchFamily="34" charset="0"/>
              <a:buChar char="•"/>
            </a:pPr>
            <a:r>
              <a:rPr lang="en-IN" dirty="0"/>
              <a:t>Indexing</a:t>
            </a:r>
          </a:p>
          <a:p>
            <a:pPr marL="742950" lvl="1" indent="-285750" algn="just">
              <a:buFont typeface="Arial" panose="020B0604020202020204" pitchFamily="34" charset="0"/>
              <a:buChar char="•"/>
            </a:pPr>
            <a:r>
              <a:rPr lang="en-IN" dirty="0"/>
              <a:t>Matching</a:t>
            </a:r>
          </a:p>
          <a:p>
            <a:endParaRPr lang="en-US" dirty="0"/>
          </a:p>
        </p:txBody>
      </p:sp>
    </p:spTree>
    <p:extLst>
      <p:ext uri="{BB962C8B-B14F-4D97-AF65-F5344CB8AC3E}">
        <p14:creationId xmlns:p14="http://schemas.microsoft.com/office/powerpoint/2010/main" val="350002842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58C51CA-D81F-F8F2-CDFF-8023B91DF69C}"/>
              </a:ext>
            </a:extLst>
          </p:cNvPr>
          <p:cNvSpPr>
            <a:spLocks noGrp="1"/>
          </p:cNvSpPr>
          <p:nvPr>
            <p:ph type="title"/>
          </p:nvPr>
        </p:nvSpPr>
        <p:spPr/>
        <p:txBody>
          <a:bodyPr/>
          <a:lstStyle/>
          <a:p>
            <a:r>
              <a:rPr lang="en-US" dirty="0"/>
              <a:t>Information Retrieval</a:t>
            </a:r>
          </a:p>
        </p:txBody>
      </p:sp>
      <p:sp>
        <p:nvSpPr>
          <p:cNvPr id="3" name="Content Placeholder 2">
            <a:extLst>
              <a:ext uri="{FF2B5EF4-FFF2-40B4-BE49-F238E27FC236}">
                <a16:creationId xmlns:a16="http://schemas.microsoft.com/office/drawing/2014/main" id="{76C40ECC-8EC6-8CB0-9B4F-7EF82F917125}"/>
              </a:ext>
            </a:extLst>
          </p:cNvPr>
          <p:cNvSpPr>
            <a:spLocks noGrp="1"/>
          </p:cNvSpPr>
          <p:nvPr>
            <p:ph idx="1"/>
          </p:nvPr>
        </p:nvSpPr>
        <p:spPr/>
        <p:txBody>
          <a:bodyPr>
            <a:normAutofit/>
          </a:bodyPr>
          <a:lstStyle/>
          <a:p>
            <a:pPr algn="just"/>
            <a:r>
              <a:rPr lang="en-IN" dirty="0"/>
              <a:t>Information Retrieval (IR) is a field of study concerned with the effective and efficient retrieval of relevant information from large collections of data, typically textual documents. </a:t>
            </a:r>
          </a:p>
          <a:p>
            <a:pPr algn="just"/>
            <a:r>
              <a:rPr lang="en-IN" dirty="0"/>
              <a:t>It plays a crucial role in various applications, including web search engines, digital libraries, e-commerce platforms, and content recommendation systems.</a:t>
            </a:r>
          </a:p>
          <a:p>
            <a:pPr algn="just"/>
            <a:r>
              <a:rPr lang="en-IN" dirty="0"/>
              <a:t>The primary goal of information retrieval is to enable users to find relevant information quickly and accurately in response to their information needs or queries. </a:t>
            </a:r>
            <a:endParaRPr lang="en-US" dirty="0"/>
          </a:p>
        </p:txBody>
      </p:sp>
    </p:spTree>
    <p:extLst>
      <p:ext uri="{BB962C8B-B14F-4D97-AF65-F5344CB8AC3E}">
        <p14:creationId xmlns:p14="http://schemas.microsoft.com/office/powerpoint/2010/main" val="292392528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A503982-89B3-F679-FA85-432C7953951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2B4D8DF-4CF8-867C-1E5C-8839EA5179E6}"/>
              </a:ext>
            </a:extLst>
          </p:cNvPr>
          <p:cNvSpPr>
            <a:spLocks noGrp="1"/>
          </p:cNvSpPr>
          <p:nvPr>
            <p:ph type="title"/>
          </p:nvPr>
        </p:nvSpPr>
        <p:spPr/>
        <p:txBody>
          <a:bodyPr/>
          <a:lstStyle/>
          <a:p>
            <a:r>
              <a:rPr lang="en-US" dirty="0"/>
              <a:t>Information Retrieval: Key Components and Techniques</a:t>
            </a:r>
          </a:p>
        </p:txBody>
      </p:sp>
      <p:sp>
        <p:nvSpPr>
          <p:cNvPr id="3" name="Content Placeholder 2">
            <a:extLst>
              <a:ext uri="{FF2B5EF4-FFF2-40B4-BE49-F238E27FC236}">
                <a16:creationId xmlns:a16="http://schemas.microsoft.com/office/drawing/2014/main" id="{0A3629AD-D787-504B-4B55-0CB70503AE51}"/>
              </a:ext>
            </a:extLst>
          </p:cNvPr>
          <p:cNvSpPr>
            <a:spLocks noGrp="1"/>
          </p:cNvSpPr>
          <p:nvPr>
            <p:ph idx="1"/>
          </p:nvPr>
        </p:nvSpPr>
        <p:spPr/>
        <p:txBody>
          <a:bodyPr>
            <a:normAutofit/>
          </a:bodyPr>
          <a:lstStyle/>
          <a:p>
            <a:pPr marL="0" indent="0" algn="just">
              <a:buNone/>
            </a:pPr>
            <a:r>
              <a:rPr lang="en-IN" i="1" dirty="0"/>
              <a:t>1</a:t>
            </a:r>
            <a:r>
              <a:rPr lang="en-IN" dirty="0"/>
              <a:t>. Document Collection: Information retrieval systems typically operate on a collection of documents, which can range from web pages and academic articles to emails and social media posts. These documents serve as the primary source of information that users seek to access.</a:t>
            </a:r>
          </a:p>
          <a:p>
            <a:pPr marL="0" indent="0" algn="just">
              <a:buNone/>
            </a:pPr>
            <a:r>
              <a:rPr lang="en-IN" dirty="0"/>
              <a:t>2. Indexing: To facilitate efficient retrieval, documents are indexed based on their content, keywords, metadata, or other relevant features. Indexing structures, such as inverted indexes or forward indexes, enable fast lookup of documents containing specific terms or properties.</a:t>
            </a:r>
          </a:p>
          <a:p>
            <a:pPr marL="0" indent="0">
              <a:buNone/>
            </a:pPr>
            <a:endParaRPr lang="en-IN" dirty="0"/>
          </a:p>
        </p:txBody>
      </p:sp>
    </p:spTree>
    <p:extLst>
      <p:ext uri="{BB962C8B-B14F-4D97-AF65-F5344CB8AC3E}">
        <p14:creationId xmlns:p14="http://schemas.microsoft.com/office/powerpoint/2010/main" val="337503139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197F786-C141-1C6D-EA49-B8BC2767EB0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7C61ED1-210D-D6B4-0A5F-611CA404E0CB}"/>
              </a:ext>
            </a:extLst>
          </p:cNvPr>
          <p:cNvSpPr>
            <a:spLocks noGrp="1"/>
          </p:cNvSpPr>
          <p:nvPr>
            <p:ph type="title"/>
          </p:nvPr>
        </p:nvSpPr>
        <p:spPr/>
        <p:txBody>
          <a:bodyPr/>
          <a:lstStyle/>
          <a:p>
            <a:r>
              <a:rPr lang="en-US" dirty="0"/>
              <a:t>Information Retrieval: Key Components and Techniques</a:t>
            </a:r>
          </a:p>
        </p:txBody>
      </p:sp>
      <p:sp>
        <p:nvSpPr>
          <p:cNvPr id="3" name="Content Placeholder 2">
            <a:extLst>
              <a:ext uri="{FF2B5EF4-FFF2-40B4-BE49-F238E27FC236}">
                <a16:creationId xmlns:a16="http://schemas.microsoft.com/office/drawing/2014/main" id="{DF3602E1-D643-800B-B77D-B9705BA166B0}"/>
              </a:ext>
            </a:extLst>
          </p:cNvPr>
          <p:cNvSpPr>
            <a:spLocks noGrp="1"/>
          </p:cNvSpPr>
          <p:nvPr>
            <p:ph idx="1"/>
          </p:nvPr>
        </p:nvSpPr>
        <p:spPr/>
        <p:txBody>
          <a:bodyPr>
            <a:normAutofit lnSpcReduction="10000"/>
          </a:bodyPr>
          <a:lstStyle/>
          <a:p>
            <a:pPr marL="0" indent="0" algn="just">
              <a:buNone/>
            </a:pPr>
            <a:r>
              <a:rPr lang="en-IN" dirty="0"/>
              <a:t>3. Query Processing: Users express their information needs through queries, which are typically short strings of keywords or natural language phrases. Query processing involves </a:t>
            </a:r>
            <a:r>
              <a:rPr lang="en-IN" dirty="0" err="1"/>
              <a:t>analyzing</a:t>
            </a:r>
            <a:r>
              <a:rPr lang="en-IN" dirty="0"/>
              <a:t> and understanding user queries, identifying relevant documents in the collection, and ranking them based on their relevance to the query.</a:t>
            </a:r>
          </a:p>
          <a:p>
            <a:pPr marL="0" indent="0" algn="just">
              <a:buNone/>
            </a:pPr>
            <a:r>
              <a:rPr lang="en-IN" dirty="0"/>
              <a:t>4. Relevance Ranking: The relevance of a document to a given query is assessed using various ranking algorithms, such as term frequency-inverse document frequency (TF-IDF), vector space models, or machine learning-based methods. Relevance ranking aims to present the most relevant documents at the top of the search results.</a:t>
            </a:r>
          </a:p>
          <a:p>
            <a:pPr marL="0" indent="0">
              <a:buNone/>
            </a:pPr>
            <a:endParaRPr lang="en-IN" dirty="0"/>
          </a:p>
          <a:p>
            <a:pPr marL="0" indent="0">
              <a:buNone/>
            </a:pPr>
            <a:endParaRPr lang="en-IN" dirty="0"/>
          </a:p>
          <a:p>
            <a:pPr marL="0" indent="0">
              <a:buNone/>
            </a:pPr>
            <a:endParaRPr lang="en-IN" dirty="0"/>
          </a:p>
        </p:txBody>
      </p:sp>
    </p:spTree>
    <p:extLst>
      <p:ext uri="{BB962C8B-B14F-4D97-AF65-F5344CB8AC3E}">
        <p14:creationId xmlns:p14="http://schemas.microsoft.com/office/powerpoint/2010/main" val="85132979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BC6CC37-071A-F9FD-D5B0-58D1F818225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80F7EF9-FA13-5492-76C8-580E7101D16F}"/>
              </a:ext>
            </a:extLst>
          </p:cNvPr>
          <p:cNvSpPr>
            <a:spLocks noGrp="1"/>
          </p:cNvSpPr>
          <p:nvPr>
            <p:ph type="title"/>
          </p:nvPr>
        </p:nvSpPr>
        <p:spPr/>
        <p:txBody>
          <a:bodyPr/>
          <a:lstStyle/>
          <a:p>
            <a:r>
              <a:rPr lang="en-US" dirty="0"/>
              <a:t>Information Retrieval: Key Components and Techniques</a:t>
            </a:r>
          </a:p>
        </p:txBody>
      </p:sp>
      <p:sp>
        <p:nvSpPr>
          <p:cNvPr id="3" name="Content Placeholder 2">
            <a:extLst>
              <a:ext uri="{FF2B5EF4-FFF2-40B4-BE49-F238E27FC236}">
                <a16:creationId xmlns:a16="http://schemas.microsoft.com/office/drawing/2014/main" id="{C8759335-4984-6B0E-8349-CE69E1872FCB}"/>
              </a:ext>
            </a:extLst>
          </p:cNvPr>
          <p:cNvSpPr>
            <a:spLocks noGrp="1"/>
          </p:cNvSpPr>
          <p:nvPr>
            <p:ph idx="1"/>
          </p:nvPr>
        </p:nvSpPr>
        <p:spPr/>
        <p:txBody>
          <a:bodyPr>
            <a:normAutofit fontScale="92500" lnSpcReduction="10000"/>
          </a:bodyPr>
          <a:lstStyle/>
          <a:p>
            <a:pPr marL="0" indent="0" algn="just">
              <a:buNone/>
            </a:pPr>
            <a:r>
              <a:rPr lang="en-IN" dirty="0"/>
              <a:t>5. Evaluation: The effectiveness of an information retrieval system is evaluated using metrics such as precision, recall, and F1-score. These metrics measure the system's ability to retrieve relevant documents while minimizing irrelevant ones, providing insights into its performance and guiding system optimization.</a:t>
            </a:r>
          </a:p>
          <a:p>
            <a:pPr marL="0" indent="0" algn="just">
              <a:buNone/>
            </a:pPr>
            <a:endParaRPr lang="en-IN" dirty="0"/>
          </a:p>
          <a:p>
            <a:pPr marL="0" indent="0" algn="just">
              <a:buNone/>
            </a:pPr>
            <a:r>
              <a:rPr lang="en-IN" dirty="0"/>
              <a:t>Information retrieval techniques have evolved significantly over the years, driven by advances in computer science, natural language processing, and machine learning. Modern information retrieval systems incorporate sophisticated algorithms, such as deep learning models, semantic analysis, and personalized recommendation engines, to enhance retrieval accuracy and user satisfaction.</a:t>
            </a:r>
          </a:p>
          <a:p>
            <a:pPr marL="0" indent="0">
              <a:buNone/>
            </a:pPr>
            <a:endParaRPr lang="en-IN" dirty="0"/>
          </a:p>
          <a:p>
            <a:pPr marL="0" indent="0">
              <a:buNone/>
            </a:pPr>
            <a:endParaRPr lang="en-IN" dirty="0"/>
          </a:p>
        </p:txBody>
      </p:sp>
    </p:spTree>
    <p:extLst>
      <p:ext uri="{BB962C8B-B14F-4D97-AF65-F5344CB8AC3E}">
        <p14:creationId xmlns:p14="http://schemas.microsoft.com/office/powerpoint/2010/main" val="401712864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8694DD2-D45A-1CA4-2090-4E27BDD75941}"/>
              </a:ext>
            </a:extLst>
          </p:cNvPr>
          <p:cNvSpPr>
            <a:spLocks noGrp="1"/>
          </p:cNvSpPr>
          <p:nvPr>
            <p:ph type="title"/>
          </p:nvPr>
        </p:nvSpPr>
        <p:spPr/>
        <p:txBody>
          <a:bodyPr/>
          <a:lstStyle/>
          <a:p>
            <a:r>
              <a:rPr lang="en-US" dirty="0"/>
              <a:t>Information Retrieval Models</a:t>
            </a:r>
          </a:p>
        </p:txBody>
      </p:sp>
      <p:sp>
        <p:nvSpPr>
          <p:cNvPr id="3" name="Content Placeholder 2">
            <a:extLst>
              <a:ext uri="{FF2B5EF4-FFF2-40B4-BE49-F238E27FC236}">
                <a16:creationId xmlns:a16="http://schemas.microsoft.com/office/drawing/2014/main" id="{A3B8729D-5191-F607-A965-524355D1DFF6}"/>
              </a:ext>
            </a:extLst>
          </p:cNvPr>
          <p:cNvSpPr>
            <a:spLocks noGrp="1"/>
          </p:cNvSpPr>
          <p:nvPr>
            <p:ph idx="1"/>
          </p:nvPr>
        </p:nvSpPr>
        <p:spPr/>
        <p:txBody>
          <a:bodyPr>
            <a:normAutofit fontScale="85000" lnSpcReduction="10000"/>
          </a:bodyPr>
          <a:lstStyle/>
          <a:p>
            <a:r>
              <a:rPr lang="en-IN" dirty="0"/>
              <a:t>Information retrieval models predict and explain what a user will find in relevance to the given query and consists of the following:</a:t>
            </a:r>
          </a:p>
          <a:p>
            <a:pPr lvl="1"/>
            <a:r>
              <a:rPr lang="en-IN" dirty="0"/>
              <a:t>A model for documents.</a:t>
            </a:r>
          </a:p>
          <a:p>
            <a:pPr lvl="1"/>
            <a:r>
              <a:rPr lang="en-IN" dirty="0"/>
              <a:t>A model for queries.</a:t>
            </a:r>
          </a:p>
          <a:p>
            <a:pPr lvl="1"/>
            <a:r>
              <a:rPr lang="en-IN" dirty="0"/>
              <a:t>A matching function that compares queries to documents.</a:t>
            </a:r>
          </a:p>
          <a:p>
            <a:r>
              <a:rPr lang="en-IN" dirty="0"/>
              <a:t>Mathematically, a retrieval model consists of the following components:</a:t>
            </a:r>
          </a:p>
          <a:p>
            <a:pPr marL="0" indent="0">
              <a:buNone/>
            </a:pPr>
            <a:r>
              <a:rPr lang="en-IN" b="1" dirty="0"/>
              <a:t>	D: </a:t>
            </a:r>
            <a:r>
              <a:rPr lang="en-IN" dirty="0"/>
              <a:t>Representation for documents.</a:t>
            </a:r>
          </a:p>
          <a:p>
            <a:pPr marL="0" indent="0">
              <a:buNone/>
            </a:pPr>
            <a:r>
              <a:rPr lang="en-IN" b="1" dirty="0"/>
              <a:t>	R: </a:t>
            </a:r>
            <a:r>
              <a:rPr lang="en-IN" dirty="0"/>
              <a:t>Representation for queries.</a:t>
            </a:r>
          </a:p>
          <a:p>
            <a:pPr marL="0" indent="0">
              <a:buNone/>
            </a:pPr>
            <a:r>
              <a:rPr lang="en-IN" b="1" dirty="0"/>
              <a:t>	F: </a:t>
            </a:r>
            <a:r>
              <a:rPr lang="en-IN" dirty="0"/>
              <a:t>The </a:t>
            </a:r>
            <a:r>
              <a:rPr lang="en-IN" dirty="0" err="1"/>
              <a:t>modeling</a:t>
            </a:r>
            <a:r>
              <a:rPr lang="en-IN" dirty="0"/>
              <a:t> framework for D, Q along with the relationship between 	them.</a:t>
            </a:r>
          </a:p>
          <a:p>
            <a:pPr marL="0" indent="0">
              <a:buNone/>
            </a:pPr>
            <a:r>
              <a:rPr lang="en-IN" b="1" dirty="0"/>
              <a:t>	R (q, di): </a:t>
            </a:r>
            <a:r>
              <a:rPr lang="en-IN" dirty="0"/>
              <a:t>A ranking or similarity function that orders the documents with 	respect to the query.</a:t>
            </a:r>
          </a:p>
          <a:p>
            <a:endParaRPr lang="en-US" dirty="0"/>
          </a:p>
        </p:txBody>
      </p:sp>
    </p:spTree>
    <p:extLst>
      <p:ext uri="{BB962C8B-B14F-4D97-AF65-F5344CB8AC3E}">
        <p14:creationId xmlns:p14="http://schemas.microsoft.com/office/powerpoint/2010/main" val="367217797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F6E874E-DE6D-2258-ACF5-AAFABE5AE99B}"/>
              </a:ext>
            </a:extLst>
          </p:cNvPr>
          <p:cNvSpPr>
            <a:spLocks noGrp="1"/>
          </p:cNvSpPr>
          <p:nvPr>
            <p:ph type="title"/>
          </p:nvPr>
        </p:nvSpPr>
        <p:spPr/>
        <p:txBody>
          <a:bodyPr/>
          <a:lstStyle/>
          <a:p>
            <a:r>
              <a:rPr lang="en-US" dirty="0"/>
              <a:t>Types of IR Model</a:t>
            </a:r>
          </a:p>
        </p:txBody>
      </p:sp>
      <p:sp>
        <p:nvSpPr>
          <p:cNvPr id="3" name="Content Placeholder 2">
            <a:extLst>
              <a:ext uri="{FF2B5EF4-FFF2-40B4-BE49-F238E27FC236}">
                <a16:creationId xmlns:a16="http://schemas.microsoft.com/office/drawing/2014/main" id="{ED2FA344-EEB2-0FAF-E126-63975BB4A637}"/>
              </a:ext>
            </a:extLst>
          </p:cNvPr>
          <p:cNvSpPr>
            <a:spLocks noGrp="1"/>
          </p:cNvSpPr>
          <p:nvPr>
            <p:ph idx="1"/>
          </p:nvPr>
        </p:nvSpPr>
        <p:spPr/>
        <p:txBody>
          <a:bodyPr>
            <a:normAutofit fontScale="25000" lnSpcReduction="20000"/>
          </a:bodyPr>
          <a:lstStyle/>
          <a:p>
            <a:pPr marL="0" indent="0" algn="just">
              <a:buNone/>
            </a:pPr>
            <a:r>
              <a:rPr lang="en-US" sz="8000" b="1" dirty="0"/>
              <a:t>Classical IR Models: </a:t>
            </a:r>
            <a:r>
              <a:rPr lang="en-US" sz="8000" dirty="0"/>
              <a:t>These are the simplest and easy-to-implement IR models. These are based on mathematical knowledge that was easily recognized and understood as well. Following are the examples of classical IR models:</a:t>
            </a:r>
          </a:p>
          <a:p>
            <a:pPr lvl="1"/>
            <a:r>
              <a:rPr lang="en-US" sz="8000" dirty="0"/>
              <a:t>Boolean models,</a:t>
            </a:r>
          </a:p>
          <a:p>
            <a:pPr lvl="1"/>
            <a:r>
              <a:rPr lang="en-US" sz="8000" dirty="0"/>
              <a:t>Vector models,</a:t>
            </a:r>
          </a:p>
          <a:p>
            <a:pPr lvl="1"/>
            <a:r>
              <a:rPr lang="en-US" sz="8000" dirty="0"/>
              <a:t>Probabilistic models.</a:t>
            </a:r>
          </a:p>
          <a:p>
            <a:pPr marL="0" indent="0" algn="just">
              <a:buNone/>
            </a:pPr>
            <a:r>
              <a:rPr lang="en-US" sz="8000" b="1" dirty="0"/>
              <a:t>Non-Classical IR Models: </a:t>
            </a:r>
            <a:r>
              <a:rPr lang="en-US" sz="8000" dirty="0"/>
              <a:t>These are completely opposite to the classical IR models. These are based on principles other than similarity, probability, Boolean operations. Following are the examples of Non-classical IR models:</a:t>
            </a:r>
          </a:p>
          <a:p>
            <a:pPr lvl="1"/>
            <a:r>
              <a:rPr lang="en-US" sz="8000" dirty="0"/>
              <a:t>Information logic models,</a:t>
            </a:r>
          </a:p>
          <a:p>
            <a:pPr lvl="1"/>
            <a:r>
              <a:rPr lang="en-US" sz="8000" dirty="0"/>
              <a:t>Situation theory models,</a:t>
            </a:r>
          </a:p>
          <a:p>
            <a:pPr lvl="1"/>
            <a:r>
              <a:rPr lang="en-US" sz="8000" dirty="0"/>
              <a:t>Interaction models.</a:t>
            </a:r>
          </a:p>
          <a:p>
            <a:pPr marL="0" indent="0" algn="just">
              <a:buNone/>
            </a:pPr>
            <a:r>
              <a:rPr lang="en-US" sz="8000" b="1" dirty="0"/>
              <a:t>Alternative IR Models: </a:t>
            </a:r>
            <a:r>
              <a:rPr lang="en-US" sz="8000" dirty="0"/>
              <a:t>It is the enhancement of the classical IR model that makes use of some specific techniques from some other fields. Following are the examples of Alternative IR models:</a:t>
            </a:r>
          </a:p>
          <a:p>
            <a:pPr lvl="1"/>
            <a:r>
              <a:rPr lang="en-US" sz="8000" dirty="0"/>
              <a:t>Cluster models,</a:t>
            </a:r>
          </a:p>
          <a:p>
            <a:pPr lvl="1"/>
            <a:r>
              <a:rPr lang="en-US" sz="8000" dirty="0"/>
              <a:t>Fuzzy models,</a:t>
            </a:r>
          </a:p>
          <a:p>
            <a:pPr lvl="1"/>
            <a:r>
              <a:rPr lang="en-US" sz="8000" dirty="0"/>
              <a:t>Latent Semantic Indexing (LSI) models.</a:t>
            </a:r>
          </a:p>
          <a:p>
            <a:pPr marL="0" indent="0">
              <a:buNone/>
            </a:pPr>
            <a:br>
              <a:rPr lang="en-US" dirty="0"/>
            </a:br>
            <a:endParaRPr lang="en-US" dirty="0"/>
          </a:p>
        </p:txBody>
      </p:sp>
    </p:spTree>
    <p:extLst>
      <p:ext uri="{BB962C8B-B14F-4D97-AF65-F5344CB8AC3E}">
        <p14:creationId xmlns:p14="http://schemas.microsoft.com/office/powerpoint/2010/main" val="379057080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9EF989D-9AAE-9A56-3D30-761D02657D21}"/>
              </a:ext>
            </a:extLst>
          </p:cNvPr>
          <p:cNvSpPr>
            <a:spLocks noGrp="1"/>
          </p:cNvSpPr>
          <p:nvPr>
            <p:ph type="title"/>
          </p:nvPr>
        </p:nvSpPr>
        <p:spPr/>
        <p:txBody>
          <a:bodyPr/>
          <a:lstStyle/>
          <a:p>
            <a:r>
              <a:rPr lang="en-US" dirty="0"/>
              <a:t>Vector Space Model</a:t>
            </a:r>
          </a:p>
        </p:txBody>
      </p:sp>
      <p:sp>
        <p:nvSpPr>
          <p:cNvPr id="3" name="Content Placeholder 2">
            <a:extLst>
              <a:ext uri="{FF2B5EF4-FFF2-40B4-BE49-F238E27FC236}">
                <a16:creationId xmlns:a16="http://schemas.microsoft.com/office/drawing/2014/main" id="{26D7D928-335F-CF1B-81CF-D37E2F7EBF47}"/>
              </a:ext>
            </a:extLst>
          </p:cNvPr>
          <p:cNvSpPr>
            <a:spLocks noGrp="1"/>
          </p:cNvSpPr>
          <p:nvPr>
            <p:ph idx="1"/>
          </p:nvPr>
        </p:nvSpPr>
        <p:spPr/>
        <p:txBody>
          <a:bodyPr>
            <a:normAutofit fontScale="92500" lnSpcReduction="20000"/>
          </a:bodyPr>
          <a:lstStyle/>
          <a:p>
            <a:pPr marL="0" indent="0">
              <a:buNone/>
            </a:pPr>
            <a:r>
              <a:rPr lang="en-IN" dirty="0"/>
              <a:t>This is based on Luhn’s similarity criterion, which states that </a:t>
            </a:r>
            <a:r>
              <a:rPr lang="en-IN" b="1" dirty="0"/>
              <a:t>“the more two representations agreed in given elements and their distribution, the higher would be the probability of their representing similar information”.</a:t>
            </a:r>
            <a:endParaRPr lang="en-IN" dirty="0"/>
          </a:p>
          <a:p>
            <a:pPr marL="0" indent="0">
              <a:buNone/>
            </a:pPr>
            <a:r>
              <a:rPr lang="en-IN" b="1" dirty="0"/>
              <a:t>1.</a:t>
            </a:r>
            <a:r>
              <a:rPr lang="en-IN" dirty="0"/>
              <a:t> In this model, the index representations (documents) and the queries are represented by vectors in a T dimensional Euclidean space.</a:t>
            </a:r>
          </a:p>
          <a:p>
            <a:pPr marL="0" indent="0">
              <a:buNone/>
            </a:pPr>
            <a:r>
              <a:rPr lang="en-IN" b="1" dirty="0"/>
              <a:t>2.</a:t>
            </a:r>
            <a:r>
              <a:rPr lang="en-IN" dirty="0"/>
              <a:t> T represents the number of distinct terms used in the documents.</a:t>
            </a:r>
          </a:p>
          <a:p>
            <a:pPr marL="0" indent="0">
              <a:buNone/>
            </a:pPr>
            <a:r>
              <a:rPr lang="en-IN" b="1" dirty="0"/>
              <a:t>3. </a:t>
            </a:r>
            <a:r>
              <a:rPr lang="en-IN" dirty="0"/>
              <a:t>Each axis corresponds to one term.</a:t>
            </a:r>
          </a:p>
          <a:p>
            <a:pPr marL="0" indent="0">
              <a:buNone/>
            </a:pPr>
            <a:r>
              <a:rPr lang="en-IN" b="1" dirty="0"/>
              <a:t>4. </a:t>
            </a:r>
            <a:r>
              <a:rPr lang="en-IN" dirty="0"/>
              <a:t>Ranked list of documents ordered by similarity to the query where the similarity between a query and a document is computed using a metric on the respective vectors.</a:t>
            </a:r>
          </a:p>
          <a:p>
            <a:pPr marL="0" indent="0">
              <a:buNone/>
            </a:pPr>
            <a:r>
              <a:rPr lang="en-IN" b="1" dirty="0"/>
              <a:t>5. </a:t>
            </a:r>
            <a:r>
              <a:rPr lang="en-IN" dirty="0"/>
              <a:t>The similarity measure of a document vector to a query vector is usually the cosine of the angle between them.</a:t>
            </a:r>
          </a:p>
          <a:p>
            <a:endParaRPr lang="en-US" dirty="0"/>
          </a:p>
        </p:txBody>
      </p:sp>
    </p:spTree>
    <p:extLst>
      <p:ext uri="{BB962C8B-B14F-4D97-AF65-F5344CB8AC3E}">
        <p14:creationId xmlns:p14="http://schemas.microsoft.com/office/powerpoint/2010/main" val="163993050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C688585-BED1-A8D3-700A-1DD552D3066C}"/>
              </a:ext>
            </a:extLst>
          </p:cNvPr>
          <p:cNvSpPr>
            <a:spLocks noGrp="1"/>
          </p:cNvSpPr>
          <p:nvPr>
            <p:ph type="title"/>
          </p:nvPr>
        </p:nvSpPr>
        <p:spPr/>
        <p:txBody>
          <a:bodyPr/>
          <a:lstStyle/>
          <a:p>
            <a:r>
              <a:rPr lang="en-US" dirty="0"/>
              <a:t>Fictional Example to understand vector Space Model</a:t>
            </a:r>
          </a:p>
        </p:txBody>
      </p:sp>
      <p:sp>
        <p:nvSpPr>
          <p:cNvPr id="3" name="Content Placeholder 2">
            <a:extLst>
              <a:ext uri="{FF2B5EF4-FFF2-40B4-BE49-F238E27FC236}">
                <a16:creationId xmlns:a16="http://schemas.microsoft.com/office/drawing/2014/main" id="{E3D0B625-3B6A-1956-DBDB-B62BF6CA7E42}"/>
              </a:ext>
            </a:extLst>
          </p:cNvPr>
          <p:cNvSpPr>
            <a:spLocks noGrp="1"/>
          </p:cNvSpPr>
          <p:nvPr>
            <p:ph idx="1"/>
          </p:nvPr>
        </p:nvSpPr>
        <p:spPr>
          <a:xfrm>
            <a:off x="838200" y="1825625"/>
            <a:ext cx="5920409" cy="4296879"/>
          </a:xfrm>
        </p:spPr>
        <p:txBody>
          <a:bodyPr>
            <a:normAutofit/>
          </a:bodyPr>
          <a:lstStyle/>
          <a:p>
            <a:pPr marL="0" indent="0" algn="just">
              <a:buNone/>
            </a:pPr>
            <a:r>
              <a:rPr lang="en-IN" dirty="0"/>
              <a:t>A fictional example</a:t>
            </a:r>
            <a:r>
              <a:rPr lang="en-IN" baseline="30000" dirty="0">
                <a:hlinkClick r:id="rId2"/>
              </a:rPr>
              <a:t>1</a:t>
            </a:r>
            <a:r>
              <a:rPr lang="en-IN" dirty="0"/>
              <a:t>: Daniel and Amos filled out a psychology questionnaire. The questionnaire measured three aspects of their personalities: extraversion, openness to experience, and neuroticism.</a:t>
            </a:r>
          </a:p>
          <a:p>
            <a:pPr marL="0" indent="0" algn="just">
              <a:buNone/>
            </a:pPr>
            <a:r>
              <a:rPr lang="en-IN" b="1" dirty="0"/>
              <a:t>On the extraversion scale, Amos scored a 2 and Daniel scored a 4</a:t>
            </a:r>
          </a:p>
          <a:p>
            <a:endParaRPr lang="en-US" dirty="0"/>
          </a:p>
        </p:txBody>
      </p:sp>
      <p:pic>
        <p:nvPicPr>
          <p:cNvPr id="5" name="Picture 4" descr="A graph of numbers and a number&#10;&#10;AI-generated content may be incorrect.">
            <a:extLst>
              <a:ext uri="{FF2B5EF4-FFF2-40B4-BE49-F238E27FC236}">
                <a16:creationId xmlns:a16="http://schemas.microsoft.com/office/drawing/2014/main" id="{F524EDC5-B2FC-33BE-054E-02110FF9BB6E}"/>
              </a:ext>
            </a:extLst>
          </p:cNvPr>
          <p:cNvPicPr>
            <a:picLocks noChangeAspect="1"/>
          </p:cNvPicPr>
          <p:nvPr/>
        </p:nvPicPr>
        <p:blipFill>
          <a:blip r:embed="rId3"/>
          <a:stretch>
            <a:fillRect/>
          </a:stretch>
        </p:blipFill>
        <p:spPr>
          <a:xfrm>
            <a:off x="6721613" y="1825625"/>
            <a:ext cx="4632187" cy="3958582"/>
          </a:xfrm>
          <a:prstGeom prst="rect">
            <a:avLst/>
          </a:prstGeom>
        </p:spPr>
      </p:pic>
    </p:spTree>
    <p:extLst>
      <p:ext uri="{BB962C8B-B14F-4D97-AF65-F5344CB8AC3E}">
        <p14:creationId xmlns:p14="http://schemas.microsoft.com/office/powerpoint/2010/main" val="72477655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descr="A screenshot of a graph&#10;&#10;AI-generated content may be incorrect.">
            <a:extLst>
              <a:ext uri="{FF2B5EF4-FFF2-40B4-BE49-F238E27FC236}">
                <a16:creationId xmlns:a16="http://schemas.microsoft.com/office/drawing/2014/main" id="{8144B5EA-D07C-D1C7-01A6-E60F73A1082F}"/>
              </a:ext>
            </a:extLst>
          </p:cNvPr>
          <p:cNvPicPr>
            <a:picLocks noChangeAspect="1"/>
          </p:cNvPicPr>
          <p:nvPr/>
        </p:nvPicPr>
        <p:blipFill>
          <a:blip r:embed="rId2"/>
          <a:stretch>
            <a:fillRect/>
          </a:stretch>
        </p:blipFill>
        <p:spPr>
          <a:xfrm>
            <a:off x="1043056" y="599385"/>
            <a:ext cx="5258353" cy="4082851"/>
          </a:xfrm>
          <a:prstGeom prst="rect">
            <a:avLst/>
          </a:prstGeom>
        </p:spPr>
      </p:pic>
      <p:pic>
        <p:nvPicPr>
          <p:cNvPr id="6" name="Picture 5">
            <a:extLst>
              <a:ext uri="{FF2B5EF4-FFF2-40B4-BE49-F238E27FC236}">
                <a16:creationId xmlns:a16="http://schemas.microsoft.com/office/drawing/2014/main" id="{229A8461-4266-2020-A897-7E539F9DC528}"/>
              </a:ext>
            </a:extLst>
          </p:cNvPr>
          <p:cNvPicPr>
            <a:picLocks noChangeAspect="1"/>
          </p:cNvPicPr>
          <p:nvPr/>
        </p:nvPicPr>
        <p:blipFill>
          <a:blip r:embed="rId3"/>
          <a:stretch>
            <a:fillRect/>
          </a:stretch>
        </p:blipFill>
        <p:spPr>
          <a:xfrm>
            <a:off x="6096001" y="599384"/>
            <a:ext cx="5258354" cy="4135983"/>
          </a:xfrm>
          <a:prstGeom prst="rect">
            <a:avLst/>
          </a:prstGeom>
        </p:spPr>
      </p:pic>
      <p:pic>
        <p:nvPicPr>
          <p:cNvPr id="7" name="Picture 6">
            <a:extLst>
              <a:ext uri="{FF2B5EF4-FFF2-40B4-BE49-F238E27FC236}">
                <a16:creationId xmlns:a16="http://schemas.microsoft.com/office/drawing/2014/main" id="{238EC95C-EB51-E264-A85C-13C49CA933CA}"/>
              </a:ext>
            </a:extLst>
          </p:cNvPr>
          <p:cNvPicPr>
            <a:picLocks noChangeAspect="1"/>
          </p:cNvPicPr>
          <p:nvPr/>
        </p:nvPicPr>
        <p:blipFill>
          <a:blip r:embed="rId4"/>
          <a:stretch>
            <a:fillRect/>
          </a:stretch>
        </p:blipFill>
        <p:spPr>
          <a:xfrm>
            <a:off x="2070652" y="4682237"/>
            <a:ext cx="6735418" cy="1885477"/>
          </a:xfrm>
          <a:prstGeom prst="rect">
            <a:avLst/>
          </a:prstGeom>
        </p:spPr>
      </p:pic>
    </p:spTree>
    <p:extLst>
      <p:ext uri="{BB962C8B-B14F-4D97-AF65-F5344CB8AC3E}">
        <p14:creationId xmlns:p14="http://schemas.microsoft.com/office/powerpoint/2010/main" val="283828151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9BF9019-F05A-C14D-B114-5DF8DF46FA11}"/>
              </a:ext>
            </a:extLst>
          </p:cNvPr>
          <p:cNvSpPr>
            <a:spLocks noGrp="1"/>
          </p:cNvSpPr>
          <p:nvPr>
            <p:ph type="title"/>
          </p:nvPr>
        </p:nvSpPr>
        <p:spPr/>
        <p:txBody>
          <a:bodyPr/>
          <a:lstStyle/>
          <a:p>
            <a:r>
              <a:rPr lang="en-US" dirty="0">
                <a:hlinkClick r:id="rId2"/>
              </a:rPr>
              <a:t>https://ds4psych.com/vectorspace-intro</a:t>
            </a:r>
            <a:br>
              <a:rPr lang="en-US" dirty="0"/>
            </a:br>
            <a:endParaRPr lang="en-US" dirty="0"/>
          </a:p>
        </p:txBody>
      </p:sp>
      <p:pic>
        <p:nvPicPr>
          <p:cNvPr id="4" name="Picture 3">
            <a:extLst>
              <a:ext uri="{FF2B5EF4-FFF2-40B4-BE49-F238E27FC236}">
                <a16:creationId xmlns:a16="http://schemas.microsoft.com/office/drawing/2014/main" id="{E50F8BF8-F8EC-A826-598E-B885C2ACF1D3}"/>
              </a:ext>
            </a:extLst>
          </p:cNvPr>
          <p:cNvPicPr>
            <a:picLocks noChangeAspect="1"/>
          </p:cNvPicPr>
          <p:nvPr/>
        </p:nvPicPr>
        <p:blipFill>
          <a:blip r:embed="rId3"/>
          <a:stretch>
            <a:fillRect/>
          </a:stretch>
        </p:blipFill>
        <p:spPr>
          <a:xfrm>
            <a:off x="2381250" y="1276350"/>
            <a:ext cx="7429500" cy="4305300"/>
          </a:xfrm>
          <a:prstGeom prst="rect">
            <a:avLst/>
          </a:prstGeom>
        </p:spPr>
      </p:pic>
    </p:spTree>
    <p:extLst>
      <p:ext uri="{BB962C8B-B14F-4D97-AF65-F5344CB8AC3E}">
        <p14:creationId xmlns:p14="http://schemas.microsoft.com/office/powerpoint/2010/main" val="241806711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2D8D7D2-1B81-F340-61C4-95F6945531A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E7D3748-A664-792F-5A5C-BB5D52193C97}"/>
              </a:ext>
            </a:extLst>
          </p:cNvPr>
          <p:cNvSpPr>
            <a:spLocks noGrp="1"/>
          </p:cNvSpPr>
          <p:nvPr>
            <p:ph type="title"/>
          </p:nvPr>
        </p:nvSpPr>
        <p:spPr/>
        <p:txBody>
          <a:bodyPr/>
          <a:lstStyle/>
          <a:p>
            <a:r>
              <a:rPr lang="en-US" dirty="0"/>
              <a:t>Unit 1: Vector Space Model of Retrieval</a:t>
            </a:r>
          </a:p>
        </p:txBody>
      </p:sp>
      <p:sp>
        <p:nvSpPr>
          <p:cNvPr id="3" name="Content Placeholder 2">
            <a:extLst>
              <a:ext uri="{FF2B5EF4-FFF2-40B4-BE49-F238E27FC236}">
                <a16:creationId xmlns:a16="http://schemas.microsoft.com/office/drawing/2014/main" id="{736C1F78-CADB-0C85-427E-666B92FF1EC3}"/>
              </a:ext>
            </a:extLst>
          </p:cNvPr>
          <p:cNvSpPr>
            <a:spLocks noGrp="1"/>
          </p:cNvSpPr>
          <p:nvPr>
            <p:ph idx="1"/>
          </p:nvPr>
        </p:nvSpPr>
        <p:spPr/>
        <p:txBody>
          <a:bodyPr>
            <a:normAutofit fontScale="55000" lnSpcReduction="20000"/>
          </a:bodyPr>
          <a:lstStyle/>
          <a:p>
            <a:r>
              <a:rPr lang="en-US" dirty="0"/>
              <a:t>Word Statistics</a:t>
            </a:r>
          </a:p>
          <a:p>
            <a:r>
              <a:rPr lang="en-US" dirty="0"/>
              <a:t>Text preprocessing</a:t>
            </a:r>
          </a:p>
          <a:p>
            <a:r>
              <a:rPr lang="en-US" dirty="0"/>
              <a:t>Term Weighing</a:t>
            </a:r>
          </a:p>
          <a:p>
            <a:r>
              <a:rPr lang="en-US" dirty="0"/>
              <a:t>Similarity Function</a:t>
            </a:r>
          </a:p>
          <a:p>
            <a:r>
              <a:rPr lang="en-US" dirty="0"/>
              <a:t>Indexing</a:t>
            </a:r>
          </a:p>
          <a:p>
            <a:r>
              <a:rPr lang="en-US" dirty="0"/>
              <a:t>Relevance Feedback</a:t>
            </a:r>
          </a:p>
          <a:p>
            <a:r>
              <a:rPr lang="en-US" dirty="0"/>
              <a:t>Query Expansion(With Local Analysis from External Resources)</a:t>
            </a:r>
          </a:p>
          <a:p>
            <a:r>
              <a:rPr lang="en-US" dirty="0"/>
              <a:t>The impact of Document Normalization</a:t>
            </a:r>
          </a:p>
          <a:p>
            <a:r>
              <a:rPr lang="en-US" dirty="0"/>
              <a:t>Multi-Field Retrieval</a:t>
            </a:r>
          </a:p>
          <a:p>
            <a:r>
              <a:rPr lang="en-US" dirty="0"/>
              <a:t>Evaluation of Retrieval</a:t>
            </a:r>
          </a:p>
          <a:p>
            <a:r>
              <a:rPr lang="en-US" dirty="0"/>
              <a:t>Applications</a:t>
            </a:r>
          </a:p>
          <a:p>
            <a:r>
              <a:rPr lang="en-US" dirty="0"/>
              <a:t>Disadvantages</a:t>
            </a:r>
          </a:p>
          <a:p>
            <a:r>
              <a:rPr lang="en-US" dirty="0"/>
              <a:t>Incentives for Engaging in Electronic Commerce</a:t>
            </a:r>
          </a:p>
          <a:p>
            <a:r>
              <a:rPr lang="en-US" dirty="0"/>
              <a:t>Forces behind E-</a:t>
            </a:r>
            <a:r>
              <a:rPr lang="en-US" dirty="0" err="1"/>
              <a:t>commerece</a:t>
            </a:r>
            <a:endParaRPr lang="en-US" dirty="0"/>
          </a:p>
        </p:txBody>
      </p:sp>
    </p:spTree>
    <p:extLst>
      <p:ext uri="{BB962C8B-B14F-4D97-AF65-F5344CB8AC3E}">
        <p14:creationId xmlns:p14="http://schemas.microsoft.com/office/powerpoint/2010/main" val="253543434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88509E8-41E0-F189-8AAA-2F43EE9519C9}"/>
              </a:ext>
            </a:extLst>
          </p:cNvPr>
          <p:cNvSpPr>
            <a:spLocks noGrp="1"/>
          </p:cNvSpPr>
          <p:nvPr>
            <p:ph type="title"/>
          </p:nvPr>
        </p:nvSpPr>
        <p:spPr/>
        <p:txBody>
          <a:bodyPr/>
          <a:lstStyle/>
          <a:p>
            <a:r>
              <a:rPr lang="en-US" dirty="0"/>
              <a:t>Word Statistics</a:t>
            </a:r>
          </a:p>
        </p:txBody>
      </p:sp>
      <p:sp>
        <p:nvSpPr>
          <p:cNvPr id="3" name="Content Placeholder 2">
            <a:extLst>
              <a:ext uri="{FF2B5EF4-FFF2-40B4-BE49-F238E27FC236}">
                <a16:creationId xmlns:a16="http://schemas.microsoft.com/office/drawing/2014/main" id="{69B53F98-6436-A1A0-AC9C-1587A84F26DA}"/>
              </a:ext>
            </a:extLst>
          </p:cNvPr>
          <p:cNvSpPr>
            <a:spLocks noGrp="1"/>
          </p:cNvSpPr>
          <p:nvPr>
            <p:ph idx="1"/>
          </p:nvPr>
        </p:nvSpPr>
        <p:spPr/>
        <p:txBody>
          <a:bodyPr>
            <a:normAutofit fontScale="92500" lnSpcReduction="20000"/>
          </a:bodyPr>
          <a:lstStyle/>
          <a:p>
            <a:pPr marL="0" indent="0" algn="just">
              <a:buNone/>
            </a:pPr>
            <a:r>
              <a:rPr lang="en-US" dirty="0"/>
              <a:t>Word statistics refer to various quantitative measures and analyses applied to a corpus of text data to gain insights into the characteristics and patterns of the words contained within it. These statistics provide valuable information about the vocabulary, frequency distribution, and usage patterns of words in the text. Some common word statistics include:</a:t>
            </a:r>
          </a:p>
          <a:p>
            <a:pPr marL="0" indent="0">
              <a:buNone/>
            </a:pPr>
            <a:r>
              <a:rPr lang="en-US" b="1" dirty="0"/>
              <a:t>Key statistics include:</a:t>
            </a:r>
          </a:p>
          <a:p>
            <a:r>
              <a:rPr lang="en-US" dirty="0"/>
              <a:t> raw counts (Bag-of-Words)</a:t>
            </a:r>
          </a:p>
          <a:p>
            <a:r>
              <a:rPr lang="en-US" dirty="0"/>
              <a:t> weighted frequencies (TF-IDF)</a:t>
            </a:r>
          </a:p>
          <a:p>
            <a:r>
              <a:rPr lang="en-US" dirty="0"/>
              <a:t> learned contextual patterns (Word Embeddings like Word2Vec), capturing meaning through co-occurrence in high-dimensional spaces. </a:t>
            </a:r>
          </a:p>
        </p:txBody>
      </p:sp>
    </p:spTree>
    <p:extLst>
      <p:ext uri="{BB962C8B-B14F-4D97-AF65-F5344CB8AC3E}">
        <p14:creationId xmlns:p14="http://schemas.microsoft.com/office/powerpoint/2010/main" val="142615788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001570F-37DF-9C7A-3BA6-A0972DFFAAF7}"/>
              </a:ext>
            </a:extLst>
          </p:cNvPr>
          <p:cNvSpPr>
            <a:spLocks noGrp="1"/>
          </p:cNvSpPr>
          <p:nvPr>
            <p:ph type="title"/>
          </p:nvPr>
        </p:nvSpPr>
        <p:spPr/>
        <p:txBody>
          <a:bodyPr/>
          <a:lstStyle/>
          <a:p>
            <a:r>
              <a:rPr lang="en-US" dirty="0"/>
              <a:t>Key Word Statistics &amp; Concepts in VSM:</a:t>
            </a:r>
          </a:p>
        </p:txBody>
      </p:sp>
      <p:sp>
        <p:nvSpPr>
          <p:cNvPr id="3" name="Content Placeholder 2">
            <a:extLst>
              <a:ext uri="{FF2B5EF4-FFF2-40B4-BE49-F238E27FC236}">
                <a16:creationId xmlns:a16="http://schemas.microsoft.com/office/drawing/2014/main" id="{D008C36A-ED54-9201-888C-C40BB1D8FB3F}"/>
              </a:ext>
            </a:extLst>
          </p:cNvPr>
          <p:cNvSpPr>
            <a:spLocks noGrp="1"/>
          </p:cNvSpPr>
          <p:nvPr>
            <p:ph idx="1"/>
          </p:nvPr>
        </p:nvSpPr>
        <p:spPr/>
        <p:txBody>
          <a:bodyPr>
            <a:normAutofit fontScale="85000" lnSpcReduction="20000"/>
          </a:bodyPr>
          <a:lstStyle/>
          <a:p>
            <a:pPr algn="just"/>
            <a:r>
              <a:rPr lang="en-US" dirty="0"/>
              <a:t>Term Frequency (TF): How often a word appears in a specific document, indicating its local importance.</a:t>
            </a:r>
          </a:p>
          <a:p>
            <a:pPr algn="just"/>
            <a:r>
              <a:rPr lang="en-US" dirty="0"/>
              <a:t>Inverse Document Frequency (IDF): Measures a word's global rarity; common words get lower scores, rare words get higher scores, highlighting their significance across the entire collection (corpus).</a:t>
            </a:r>
          </a:p>
          <a:p>
            <a:pPr algn="just"/>
            <a:r>
              <a:rPr lang="en-US" dirty="0"/>
              <a:t>TF-IDF: Combines TF and IDF to weight words, giving higher scores to terms that are frequent in a document but rare overall, creating a sparse vector.</a:t>
            </a:r>
          </a:p>
          <a:p>
            <a:pPr algn="just"/>
            <a:r>
              <a:rPr lang="en-US" dirty="0"/>
              <a:t>Bag-of-Words (</a:t>
            </a:r>
            <a:r>
              <a:rPr lang="en-US" dirty="0" err="1"/>
              <a:t>BoW</a:t>
            </a:r>
            <a:r>
              <a:rPr lang="en-US" dirty="0"/>
              <a:t>): A simple model where each unique word in the corpus becomes a dimension, and document vectors are built from raw word counts, ignoring word order.</a:t>
            </a:r>
          </a:p>
          <a:p>
            <a:pPr algn="just"/>
            <a:r>
              <a:rPr lang="en-US" dirty="0"/>
              <a:t>Word Embeddings (Word2Vec, </a:t>
            </a:r>
            <a:r>
              <a:rPr lang="en-US" dirty="0" err="1"/>
              <a:t>GloVe</a:t>
            </a:r>
            <a:r>
              <a:rPr lang="en-US" dirty="0"/>
              <a:t>): Modern VSMs that learn dense, low-dimensional vectors for words, capturing semantic relationships (e.g., "king" - "man" + "woman" ≈ "queen") through neural networks and context. </a:t>
            </a:r>
          </a:p>
          <a:p>
            <a:pPr marL="0" indent="0">
              <a:buNone/>
            </a:pPr>
            <a:endParaRPr lang="en-US" dirty="0"/>
          </a:p>
        </p:txBody>
      </p:sp>
    </p:spTree>
    <p:extLst>
      <p:ext uri="{BB962C8B-B14F-4D97-AF65-F5344CB8AC3E}">
        <p14:creationId xmlns:p14="http://schemas.microsoft.com/office/powerpoint/2010/main" val="250969201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8C13116-DB8E-A332-7F5A-82A7860ADCE0}"/>
              </a:ext>
            </a:extLst>
          </p:cNvPr>
          <p:cNvSpPr>
            <a:spLocks noGrp="1"/>
          </p:cNvSpPr>
          <p:nvPr>
            <p:ph type="title"/>
          </p:nvPr>
        </p:nvSpPr>
        <p:spPr/>
        <p:txBody>
          <a:bodyPr/>
          <a:lstStyle/>
          <a:p>
            <a:r>
              <a:rPr lang="en-US" dirty="0"/>
              <a:t>Some Common Word Statistics</a:t>
            </a:r>
          </a:p>
        </p:txBody>
      </p:sp>
      <p:sp>
        <p:nvSpPr>
          <p:cNvPr id="3" name="Content Placeholder 2">
            <a:extLst>
              <a:ext uri="{FF2B5EF4-FFF2-40B4-BE49-F238E27FC236}">
                <a16:creationId xmlns:a16="http://schemas.microsoft.com/office/drawing/2014/main" id="{CE6C95C1-C15D-C6ED-8DB7-B114165A9FBC}"/>
              </a:ext>
            </a:extLst>
          </p:cNvPr>
          <p:cNvSpPr>
            <a:spLocks noGrp="1"/>
          </p:cNvSpPr>
          <p:nvPr>
            <p:ph idx="1"/>
          </p:nvPr>
        </p:nvSpPr>
        <p:spPr/>
        <p:txBody>
          <a:bodyPr>
            <a:normAutofit fontScale="92500"/>
          </a:bodyPr>
          <a:lstStyle/>
          <a:p>
            <a:pPr marL="514350" indent="-514350" algn="just">
              <a:buAutoNum type="arabicPeriod"/>
            </a:pPr>
            <a:r>
              <a:rPr lang="en-IN" dirty="0"/>
              <a:t>Word Frequency: Word frequency counts the number of times each word occurs in the text corpus. It provides an indication of the prominence or importance of individual words within the dataset.</a:t>
            </a:r>
          </a:p>
          <a:p>
            <a:pPr marL="514350" indent="-514350" algn="just">
              <a:buAutoNum type="arabicPeriod"/>
            </a:pPr>
            <a:r>
              <a:rPr lang="en-IN" dirty="0"/>
              <a:t>Word Length: Word length measures the number of characters or letters in each word. Analysing word lengths can reveal patterns such as the average word length, the distribution of word lengths, and the presence of long or short words.</a:t>
            </a:r>
          </a:p>
          <a:p>
            <a:pPr marL="514350" indent="-514350" algn="just">
              <a:buFont typeface="Arial" panose="020B0604020202020204" pitchFamily="34" charset="0"/>
              <a:buAutoNum type="arabicPeriod"/>
            </a:pPr>
            <a:r>
              <a:rPr lang="en-IN" dirty="0"/>
              <a:t>Vocabulary Size: Vocabulary size refers to the total number of unique words or distinct terms present in the text corpus. It reflects the diversity and richness of the vocabulary used in the dataset.</a:t>
            </a:r>
          </a:p>
          <a:p>
            <a:pPr marL="514350" indent="-514350" algn="just">
              <a:buFont typeface="Arial" panose="020B0604020202020204" pitchFamily="34" charset="0"/>
              <a:buAutoNum type="arabicPeriod"/>
            </a:pPr>
            <a:endParaRPr lang="en-IN" dirty="0"/>
          </a:p>
          <a:p>
            <a:pPr marL="514350" indent="-514350" algn="just">
              <a:buAutoNum type="arabicPeriod"/>
            </a:pPr>
            <a:endParaRPr lang="en-IN" dirty="0"/>
          </a:p>
          <a:p>
            <a:pPr marL="514350" indent="-514350" algn="just">
              <a:buFont typeface="Arial" panose="020B0604020202020204" pitchFamily="34" charset="0"/>
              <a:buAutoNum type="arabicPeriod"/>
            </a:pPr>
            <a:endParaRPr lang="en-IN" dirty="0"/>
          </a:p>
          <a:p>
            <a:pPr marL="514350" indent="-514350" algn="just">
              <a:buAutoNum type="arabicPeriod"/>
            </a:pPr>
            <a:endParaRPr lang="en-IN" dirty="0"/>
          </a:p>
          <a:p>
            <a:endParaRPr lang="en-IN" dirty="0"/>
          </a:p>
          <a:p>
            <a:endParaRPr lang="en-US" dirty="0"/>
          </a:p>
        </p:txBody>
      </p:sp>
    </p:spTree>
    <p:extLst>
      <p:ext uri="{BB962C8B-B14F-4D97-AF65-F5344CB8AC3E}">
        <p14:creationId xmlns:p14="http://schemas.microsoft.com/office/powerpoint/2010/main" val="249726721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D4862AA-5D59-E6BF-3F26-EE7BC387252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D668EA0-7615-80B3-1B67-AB56A1B19601}"/>
              </a:ext>
            </a:extLst>
          </p:cNvPr>
          <p:cNvSpPr>
            <a:spLocks noGrp="1"/>
          </p:cNvSpPr>
          <p:nvPr>
            <p:ph type="title"/>
          </p:nvPr>
        </p:nvSpPr>
        <p:spPr/>
        <p:txBody>
          <a:bodyPr/>
          <a:lstStyle/>
          <a:p>
            <a:r>
              <a:rPr lang="en-US" dirty="0"/>
              <a:t>Some Common Word Statistics</a:t>
            </a:r>
          </a:p>
        </p:txBody>
      </p:sp>
      <p:sp>
        <p:nvSpPr>
          <p:cNvPr id="3" name="Content Placeholder 2">
            <a:extLst>
              <a:ext uri="{FF2B5EF4-FFF2-40B4-BE49-F238E27FC236}">
                <a16:creationId xmlns:a16="http://schemas.microsoft.com/office/drawing/2014/main" id="{13C33D43-9658-9811-1150-B86A7C093C40}"/>
              </a:ext>
            </a:extLst>
          </p:cNvPr>
          <p:cNvSpPr>
            <a:spLocks noGrp="1"/>
          </p:cNvSpPr>
          <p:nvPr>
            <p:ph idx="1"/>
          </p:nvPr>
        </p:nvSpPr>
        <p:spPr/>
        <p:txBody>
          <a:bodyPr>
            <a:normAutofit lnSpcReduction="10000"/>
          </a:bodyPr>
          <a:lstStyle/>
          <a:p>
            <a:pPr marL="0" indent="0" algn="just">
              <a:buNone/>
            </a:pPr>
            <a:r>
              <a:rPr lang="en-IN" dirty="0"/>
              <a:t>4. Term Frequency-Inverse Document Frequency (TF-IDF):TF-IDF is a statistical measure that evaluates the importance of a word in a document relative to a collection of documents. It combines term frequency (the frequency of a word in a document) with inverse document frequency (the frequency of the word across all documents) to identify terms that are both frequent in a document and rare across the entire corpus, thus highlighting key terms or concepts.</a:t>
            </a:r>
          </a:p>
          <a:p>
            <a:pPr marL="0" indent="0" algn="just">
              <a:buNone/>
            </a:pPr>
            <a:r>
              <a:rPr lang="en-IN" dirty="0"/>
              <a:t>5. Word Distribution: Word distribution analyses how words are distributed across the corpus, including measures such as Zipf's law, which describes the frequency distribution of words in natural language texts.</a:t>
            </a:r>
          </a:p>
          <a:p>
            <a:pPr marL="0" indent="0" algn="just">
              <a:buNone/>
            </a:pPr>
            <a:endParaRPr lang="en-IN" dirty="0"/>
          </a:p>
          <a:p>
            <a:pPr marL="0" indent="0" algn="just">
              <a:buNone/>
            </a:pPr>
            <a:endParaRPr lang="en-IN" dirty="0"/>
          </a:p>
          <a:p>
            <a:pPr marL="0" indent="0" algn="just">
              <a:buNone/>
            </a:pPr>
            <a:endParaRPr lang="en-IN" dirty="0"/>
          </a:p>
          <a:p>
            <a:pPr marL="0" indent="0" algn="just">
              <a:buNone/>
            </a:pPr>
            <a:endParaRPr lang="en-IN" dirty="0"/>
          </a:p>
          <a:p>
            <a:pPr marL="514350" indent="-514350" algn="just">
              <a:buFont typeface="Arial" panose="020B0604020202020204" pitchFamily="34" charset="0"/>
              <a:buAutoNum type="arabicPeriod"/>
            </a:pPr>
            <a:endParaRPr lang="en-IN" dirty="0"/>
          </a:p>
          <a:p>
            <a:pPr marL="514350" indent="-514350" algn="just">
              <a:buAutoNum type="arabicPeriod"/>
            </a:pPr>
            <a:endParaRPr lang="en-IN" dirty="0"/>
          </a:p>
          <a:p>
            <a:pPr marL="514350" indent="-514350" algn="just">
              <a:buFont typeface="Arial" panose="020B0604020202020204" pitchFamily="34" charset="0"/>
              <a:buAutoNum type="arabicPeriod"/>
            </a:pPr>
            <a:endParaRPr lang="en-IN" dirty="0"/>
          </a:p>
          <a:p>
            <a:pPr marL="514350" indent="-514350" algn="just">
              <a:buAutoNum type="arabicPeriod"/>
            </a:pPr>
            <a:endParaRPr lang="en-IN" dirty="0"/>
          </a:p>
          <a:p>
            <a:endParaRPr lang="en-IN" dirty="0"/>
          </a:p>
          <a:p>
            <a:endParaRPr lang="en-US" dirty="0"/>
          </a:p>
        </p:txBody>
      </p:sp>
    </p:spTree>
    <p:extLst>
      <p:ext uri="{BB962C8B-B14F-4D97-AF65-F5344CB8AC3E}">
        <p14:creationId xmlns:p14="http://schemas.microsoft.com/office/powerpoint/2010/main" val="2678004149"/>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58E2501-E6B3-4454-9C1B-AEAD3C82A8F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ABA6240-F86F-C354-6BAE-32128A91AAB0}"/>
              </a:ext>
            </a:extLst>
          </p:cNvPr>
          <p:cNvSpPr>
            <a:spLocks noGrp="1"/>
          </p:cNvSpPr>
          <p:nvPr>
            <p:ph type="title"/>
          </p:nvPr>
        </p:nvSpPr>
        <p:spPr/>
        <p:txBody>
          <a:bodyPr/>
          <a:lstStyle/>
          <a:p>
            <a:r>
              <a:rPr lang="en-US" dirty="0"/>
              <a:t>Some Common Word Statistics</a:t>
            </a:r>
          </a:p>
        </p:txBody>
      </p:sp>
      <p:sp>
        <p:nvSpPr>
          <p:cNvPr id="3" name="Content Placeholder 2">
            <a:extLst>
              <a:ext uri="{FF2B5EF4-FFF2-40B4-BE49-F238E27FC236}">
                <a16:creationId xmlns:a16="http://schemas.microsoft.com/office/drawing/2014/main" id="{2F16BC18-9BDC-DF22-8A1D-5666C51BE3BF}"/>
              </a:ext>
            </a:extLst>
          </p:cNvPr>
          <p:cNvSpPr>
            <a:spLocks noGrp="1"/>
          </p:cNvSpPr>
          <p:nvPr>
            <p:ph idx="1"/>
          </p:nvPr>
        </p:nvSpPr>
        <p:spPr/>
        <p:txBody>
          <a:bodyPr>
            <a:normAutofit/>
          </a:bodyPr>
          <a:lstStyle/>
          <a:p>
            <a:pPr marL="0" indent="0" algn="just">
              <a:buNone/>
            </a:pPr>
            <a:r>
              <a:rPr lang="en-IN" dirty="0"/>
              <a:t>6. </a:t>
            </a:r>
            <a:r>
              <a:rPr lang="en-IN" dirty="0" err="1"/>
              <a:t>Stopword</a:t>
            </a:r>
            <a:r>
              <a:rPr lang="en-IN" dirty="0"/>
              <a:t> Frequency: </a:t>
            </a:r>
            <a:r>
              <a:rPr lang="en-IN" dirty="0" err="1"/>
              <a:t>Stopwords</a:t>
            </a:r>
            <a:r>
              <a:rPr lang="en-IN" dirty="0"/>
              <a:t> are common words such as "the," "and," "is," etc., that are often filtered out in text analysis tasks. </a:t>
            </a:r>
            <a:r>
              <a:rPr lang="en-IN" dirty="0" err="1"/>
              <a:t>Stopword</a:t>
            </a:r>
            <a:r>
              <a:rPr lang="en-IN" dirty="0"/>
              <a:t> frequency counts the occurrence of </a:t>
            </a:r>
            <a:r>
              <a:rPr lang="en-IN" dirty="0" err="1"/>
              <a:t>stopwords</a:t>
            </a:r>
            <a:r>
              <a:rPr lang="en-IN" dirty="0"/>
              <a:t> in the text and helps identify terms that may not contribute significantly to the content or meaning of the text.</a:t>
            </a:r>
          </a:p>
          <a:p>
            <a:pPr marL="0" indent="0" algn="just">
              <a:buNone/>
            </a:pPr>
            <a:r>
              <a:rPr lang="en-IN" dirty="0"/>
              <a:t>7. N-grams: N-grams are sequences of N consecutive words or tokens extracted from the text. </a:t>
            </a:r>
            <a:r>
              <a:rPr lang="en-IN" dirty="0" err="1"/>
              <a:t>Analyzing</a:t>
            </a:r>
            <a:r>
              <a:rPr lang="en-IN" dirty="0"/>
              <a:t> N-gram statistics, such as bi-grams (sequences of two words) or tri-grams (sequences of three words), can provide insights into common word combinations and phrases.</a:t>
            </a:r>
          </a:p>
          <a:p>
            <a:pPr marL="0" indent="0" algn="just">
              <a:buNone/>
            </a:pPr>
            <a:endParaRPr lang="en-IN" dirty="0"/>
          </a:p>
          <a:p>
            <a:pPr marL="0" indent="0" algn="just">
              <a:buNone/>
            </a:pPr>
            <a:endParaRPr lang="en-IN" dirty="0"/>
          </a:p>
          <a:p>
            <a:pPr marL="0" indent="0" algn="just">
              <a:buNone/>
            </a:pPr>
            <a:endParaRPr lang="en-IN" dirty="0"/>
          </a:p>
          <a:p>
            <a:pPr marL="0" indent="0" algn="just">
              <a:buNone/>
            </a:pPr>
            <a:endParaRPr lang="en-IN" dirty="0"/>
          </a:p>
          <a:p>
            <a:pPr marL="0" indent="0" algn="just">
              <a:buNone/>
            </a:pPr>
            <a:endParaRPr lang="en-IN" dirty="0"/>
          </a:p>
          <a:p>
            <a:pPr marL="514350" indent="-514350" algn="just">
              <a:buFont typeface="Arial" panose="020B0604020202020204" pitchFamily="34" charset="0"/>
              <a:buAutoNum type="arabicPeriod"/>
            </a:pPr>
            <a:endParaRPr lang="en-IN" dirty="0"/>
          </a:p>
          <a:p>
            <a:pPr marL="514350" indent="-514350" algn="just">
              <a:buAutoNum type="arabicPeriod"/>
            </a:pPr>
            <a:endParaRPr lang="en-IN" dirty="0"/>
          </a:p>
          <a:p>
            <a:pPr marL="514350" indent="-514350" algn="just">
              <a:buFont typeface="Arial" panose="020B0604020202020204" pitchFamily="34" charset="0"/>
              <a:buAutoNum type="arabicPeriod"/>
            </a:pPr>
            <a:endParaRPr lang="en-IN" dirty="0"/>
          </a:p>
          <a:p>
            <a:pPr marL="514350" indent="-514350" algn="just">
              <a:buAutoNum type="arabicPeriod"/>
            </a:pPr>
            <a:endParaRPr lang="en-IN" dirty="0"/>
          </a:p>
          <a:p>
            <a:endParaRPr lang="en-IN" dirty="0"/>
          </a:p>
          <a:p>
            <a:endParaRPr lang="en-US" dirty="0"/>
          </a:p>
        </p:txBody>
      </p:sp>
    </p:spTree>
    <p:extLst>
      <p:ext uri="{BB962C8B-B14F-4D97-AF65-F5344CB8AC3E}">
        <p14:creationId xmlns:p14="http://schemas.microsoft.com/office/powerpoint/2010/main" val="2791119359"/>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2BC1A4B-3F6A-BBB2-F299-E47B8D1BB4E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C99B2D6-66FC-5DD7-16CC-01FB2D429620}"/>
              </a:ext>
            </a:extLst>
          </p:cNvPr>
          <p:cNvSpPr>
            <a:spLocks noGrp="1"/>
          </p:cNvSpPr>
          <p:nvPr>
            <p:ph type="title"/>
          </p:nvPr>
        </p:nvSpPr>
        <p:spPr/>
        <p:txBody>
          <a:bodyPr/>
          <a:lstStyle/>
          <a:p>
            <a:r>
              <a:rPr lang="en-US" dirty="0"/>
              <a:t>Some Common Word Statistics</a:t>
            </a:r>
          </a:p>
        </p:txBody>
      </p:sp>
      <p:sp>
        <p:nvSpPr>
          <p:cNvPr id="3" name="Content Placeholder 2">
            <a:extLst>
              <a:ext uri="{FF2B5EF4-FFF2-40B4-BE49-F238E27FC236}">
                <a16:creationId xmlns:a16="http://schemas.microsoft.com/office/drawing/2014/main" id="{E3F6F2D2-E693-9A30-61C5-6BF493B875DE}"/>
              </a:ext>
            </a:extLst>
          </p:cNvPr>
          <p:cNvSpPr>
            <a:spLocks noGrp="1"/>
          </p:cNvSpPr>
          <p:nvPr>
            <p:ph idx="1"/>
          </p:nvPr>
        </p:nvSpPr>
        <p:spPr/>
        <p:txBody>
          <a:bodyPr>
            <a:normAutofit fontScale="92500"/>
          </a:bodyPr>
          <a:lstStyle/>
          <a:p>
            <a:pPr marL="0" indent="0" algn="just">
              <a:buNone/>
            </a:pPr>
            <a:r>
              <a:rPr lang="en-IN" dirty="0"/>
              <a:t>8. Word Clouds: Word clouds visually represent word statistics by displaying words with varying sizes or </a:t>
            </a:r>
            <a:r>
              <a:rPr lang="en-IN" dirty="0" err="1"/>
              <a:t>colors</a:t>
            </a:r>
            <a:r>
              <a:rPr lang="en-IN" dirty="0"/>
              <a:t> based on their frequency or importance in the text. They offer a quick and intuitive way to visualize the most common or prominent words in the dataset.</a:t>
            </a:r>
          </a:p>
          <a:p>
            <a:pPr marL="0" indent="0" algn="just">
              <a:buNone/>
            </a:pPr>
            <a:endParaRPr lang="en-IN" dirty="0"/>
          </a:p>
          <a:p>
            <a:pPr marL="0" indent="0" algn="just">
              <a:buNone/>
            </a:pPr>
            <a:r>
              <a:rPr lang="en-IN" dirty="0"/>
              <a:t>Word statistics are fundamental to various natural language processing (NLP) tasks, including text classification, sentiment analysis, information retrieval, and topic </a:t>
            </a:r>
            <a:r>
              <a:rPr lang="en-IN" dirty="0" err="1"/>
              <a:t>modeling</a:t>
            </a:r>
            <a:r>
              <a:rPr lang="en-IN" dirty="0"/>
              <a:t>. By </a:t>
            </a:r>
            <a:r>
              <a:rPr lang="en-IN" dirty="0" err="1"/>
              <a:t>analyzing</a:t>
            </a:r>
            <a:r>
              <a:rPr lang="en-IN" dirty="0"/>
              <a:t> word statistics, researchers and practitioners can uncover meaningful patterns, trends, and insights from text data, ultimately enhancing our understanding of language usage and communication.</a:t>
            </a:r>
          </a:p>
          <a:p>
            <a:pPr marL="0" indent="0" algn="just">
              <a:buNone/>
            </a:pPr>
            <a:endParaRPr lang="en-IN" dirty="0"/>
          </a:p>
          <a:p>
            <a:pPr marL="0" indent="0" algn="just">
              <a:buNone/>
            </a:pPr>
            <a:endParaRPr lang="en-IN" dirty="0"/>
          </a:p>
          <a:p>
            <a:pPr marL="0" indent="0" algn="just">
              <a:buNone/>
            </a:pPr>
            <a:endParaRPr lang="en-IN" dirty="0"/>
          </a:p>
          <a:p>
            <a:pPr marL="0" indent="0" algn="just">
              <a:buNone/>
            </a:pPr>
            <a:endParaRPr lang="en-IN" dirty="0"/>
          </a:p>
          <a:p>
            <a:pPr marL="0" indent="0" algn="just">
              <a:buNone/>
            </a:pPr>
            <a:endParaRPr lang="en-IN" dirty="0"/>
          </a:p>
          <a:p>
            <a:pPr marL="514350" indent="-514350" algn="just">
              <a:buFont typeface="Arial" panose="020B0604020202020204" pitchFamily="34" charset="0"/>
              <a:buAutoNum type="arabicPeriod"/>
            </a:pPr>
            <a:endParaRPr lang="en-IN" dirty="0"/>
          </a:p>
          <a:p>
            <a:pPr marL="514350" indent="-514350" algn="just">
              <a:buAutoNum type="arabicPeriod"/>
            </a:pPr>
            <a:endParaRPr lang="en-IN" dirty="0"/>
          </a:p>
          <a:p>
            <a:pPr marL="514350" indent="-514350" algn="just">
              <a:buFont typeface="Arial" panose="020B0604020202020204" pitchFamily="34" charset="0"/>
              <a:buAutoNum type="arabicPeriod"/>
            </a:pPr>
            <a:endParaRPr lang="en-IN" dirty="0"/>
          </a:p>
          <a:p>
            <a:pPr marL="514350" indent="-514350" algn="just">
              <a:buAutoNum type="arabicPeriod"/>
            </a:pPr>
            <a:endParaRPr lang="en-IN" dirty="0"/>
          </a:p>
          <a:p>
            <a:endParaRPr lang="en-IN" dirty="0"/>
          </a:p>
          <a:p>
            <a:endParaRPr lang="en-US" dirty="0"/>
          </a:p>
        </p:txBody>
      </p:sp>
    </p:spTree>
    <p:extLst>
      <p:ext uri="{BB962C8B-B14F-4D97-AF65-F5344CB8AC3E}">
        <p14:creationId xmlns:p14="http://schemas.microsoft.com/office/powerpoint/2010/main" val="307509095"/>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3A84DBF-6E2D-E453-7A7D-A1BDF7690C2D}"/>
              </a:ext>
            </a:extLst>
          </p:cNvPr>
          <p:cNvSpPr>
            <a:spLocks noGrp="1"/>
          </p:cNvSpPr>
          <p:nvPr>
            <p:ph type="title"/>
          </p:nvPr>
        </p:nvSpPr>
        <p:spPr/>
        <p:txBody>
          <a:bodyPr/>
          <a:lstStyle/>
          <a:p>
            <a:r>
              <a:rPr lang="en-US" dirty="0"/>
              <a:t>Python Lab 1</a:t>
            </a:r>
          </a:p>
        </p:txBody>
      </p:sp>
      <p:sp>
        <p:nvSpPr>
          <p:cNvPr id="3" name="Content Placeholder 2">
            <a:extLst>
              <a:ext uri="{FF2B5EF4-FFF2-40B4-BE49-F238E27FC236}">
                <a16:creationId xmlns:a16="http://schemas.microsoft.com/office/drawing/2014/main" id="{B27D9769-6112-8962-175F-FE3650CD760C}"/>
              </a:ext>
            </a:extLst>
          </p:cNvPr>
          <p:cNvSpPr>
            <a:spLocks noGrp="1"/>
          </p:cNvSpPr>
          <p:nvPr>
            <p:ph idx="1"/>
          </p:nvPr>
        </p:nvSpPr>
        <p:spPr/>
        <p:txBody>
          <a:bodyPr/>
          <a:lstStyle/>
          <a:p>
            <a:r>
              <a:rPr lang="en-US" dirty="0">
                <a:hlinkClick r:id="rId2"/>
              </a:rPr>
              <a:t>https://colab.research.google.com/drive/1BGZPZe91EBJJbM9u65vFet4ti996xIRD?usp=sharing</a:t>
            </a:r>
            <a:endParaRPr lang="en-US" dirty="0"/>
          </a:p>
          <a:p>
            <a:endParaRPr lang="en-US" dirty="0"/>
          </a:p>
          <a:p>
            <a:endParaRPr lang="en-US" dirty="0"/>
          </a:p>
          <a:p>
            <a:r>
              <a:rPr lang="en-US" dirty="0"/>
              <a:t>Calculate TF,DF, TF-IDF, Bag of words from several documents(at least 3 different docs). Also note that this must be done without using Python Libraries.</a:t>
            </a:r>
          </a:p>
          <a:p>
            <a:endParaRPr lang="en-US" dirty="0"/>
          </a:p>
        </p:txBody>
      </p:sp>
    </p:spTree>
    <p:extLst>
      <p:ext uri="{BB962C8B-B14F-4D97-AF65-F5344CB8AC3E}">
        <p14:creationId xmlns:p14="http://schemas.microsoft.com/office/powerpoint/2010/main" val="3286793672"/>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B871AD8-E5A1-D607-D1F8-BB6115D185E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A0ED6CD-0E66-D9EC-807C-E9AB370115C0}"/>
              </a:ext>
            </a:extLst>
          </p:cNvPr>
          <p:cNvSpPr>
            <a:spLocks noGrp="1"/>
          </p:cNvSpPr>
          <p:nvPr>
            <p:ph type="title"/>
          </p:nvPr>
        </p:nvSpPr>
        <p:spPr/>
        <p:txBody>
          <a:bodyPr/>
          <a:lstStyle/>
          <a:p>
            <a:r>
              <a:rPr lang="en-US" dirty="0"/>
              <a:t>Unit 1: Vector Space Model of Retrieval</a:t>
            </a:r>
          </a:p>
        </p:txBody>
      </p:sp>
      <p:sp>
        <p:nvSpPr>
          <p:cNvPr id="3" name="Content Placeholder 2">
            <a:extLst>
              <a:ext uri="{FF2B5EF4-FFF2-40B4-BE49-F238E27FC236}">
                <a16:creationId xmlns:a16="http://schemas.microsoft.com/office/drawing/2014/main" id="{8F9F639F-884E-531A-A18C-4065F75C53FF}"/>
              </a:ext>
            </a:extLst>
          </p:cNvPr>
          <p:cNvSpPr>
            <a:spLocks noGrp="1"/>
          </p:cNvSpPr>
          <p:nvPr>
            <p:ph idx="1"/>
          </p:nvPr>
        </p:nvSpPr>
        <p:spPr/>
        <p:txBody>
          <a:bodyPr>
            <a:normAutofit fontScale="55000" lnSpcReduction="20000"/>
          </a:bodyPr>
          <a:lstStyle/>
          <a:p>
            <a:r>
              <a:rPr lang="en-US" strike="sngStrike" dirty="0"/>
              <a:t>Word Statistics</a:t>
            </a:r>
          </a:p>
          <a:p>
            <a:r>
              <a:rPr lang="en-US" dirty="0"/>
              <a:t>Text preprocessing</a:t>
            </a:r>
          </a:p>
          <a:p>
            <a:r>
              <a:rPr lang="en-US" dirty="0"/>
              <a:t>Term Weighing</a:t>
            </a:r>
          </a:p>
          <a:p>
            <a:r>
              <a:rPr lang="en-US" dirty="0"/>
              <a:t>Similarity Function</a:t>
            </a:r>
          </a:p>
          <a:p>
            <a:r>
              <a:rPr lang="en-US" dirty="0"/>
              <a:t>Indexing</a:t>
            </a:r>
          </a:p>
          <a:p>
            <a:r>
              <a:rPr lang="en-US" dirty="0"/>
              <a:t>Relevance Feedback</a:t>
            </a:r>
          </a:p>
          <a:p>
            <a:r>
              <a:rPr lang="en-US" dirty="0"/>
              <a:t>Query Expansion(With Local Analysis from External Resources)</a:t>
            </a:r>
          </a:p>
          <a:p>
            <a:r>
              <a:rPr lang="en-US" dirty="0"/>
              <a:t>The impact of Document Normalization</a:t>
            </a:r>
          </a:p>
          <a:p>
            <a:r>
              <a:rPr lang="en-US" dirty="0"/>
              <a:t>Multi-Field Retrieval</a:t>
            </a:r>
          </a:p>
          <a:p>
            <a:r>
              <a:rPr lang="en-US" dirty="0"/>
              <a:t>Evaluation of Retrieval</a:t>
            </a:r>
          </a:p>
          <a:p>
            <a:r>
              <a:rPr lang="en-US" dirty="0"/>
              <a:t>Applications</a:t>
            </a:r>
          </a:p>
          <a:p>
            <a:r>
              <a:rPr lang="en-US" dirty="0"/>
              <a:t>Disadvantages</a:t>
            </a:r>
          </a:p>
          <a:p>
            <a:r>
              <a:rPr lang="en-US" dirty="0"/>
              <a:t>Incentives for Engaging in Electronic Commerce</a:t>
            </a:r>
          </a:p>
          <a:p>
            <a:r>
              <a:rPr lang="en-US" dirty="0"/>
              <a:t>Forces behind E-</a:t>
            </a:r>
            <a:r>
              <a:rPr lang="en-US" dirty="0" err="1"/>
              <a:t>commerece</a:t>
            </a:r>
            <a:endParaRPr lang="en-US" dirty="0"/>
          </a:p>
        </p:txBody>
      </p:sp>
    </p:spTree>
    <p:extLst>
      <p:ext uri="{BB962C8B-B14F-4D97-AF65-F5344CB8AC3E}">
        <p14:creationId xmlns:p14="http://schemas.microsoft.com/office/powerpoint/2010/main" val="2872370680"/>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7901BB3-76AF-6D4A-71AE-99B4514E16EE}"/>
              </a:ext>
            </a:extLst>
          </p:cNvPr>
          <p:cNvSpPr>
            <a:spLocks noGrp="1"/>
          </p:cNvSpPr>
          <p:nvPr>
            <p:ph type="title"/>
          </p:nvPr>
        </p:nvSpPr>
        <p:spPr/>
        <p:txBody>
          <a:bodyPr/>
          <a:lstStyle/>
          <a:p>
            <a:r>
              <a:rPr lang="en-US" dirty="0"/>
              <a:t>Text Preprocessing</a:t>
            </a:r>
          </a:p>
        </p:txBody>
      </p:sp>
      <p:graphicFrame>
        <p:nvGraphicFramePr>
          <p:cNvPr id="4" name="Content Placeholder 3">
            <a:extLst>
              <a:ext uri="{FF2B5EF4-FFF2-40B4-BE49-F238E27FC236}">
                <a16:creationId xmlns:a16="http://schemas.microsoft.com/office/drawing/2014/main" id="{E20E5209-02B5-3C10-1CDA-F8FA599E3A9A}"/>
              </a:ext>
            </a:extLst>
          </p:cNvPr>
          <p:cNvGraphicFramePr>
            <a:graphicFrameLocks noGrp="1"/>
          </p:cNvGraphicFramePr>
          <p:nvPr>
            <p:ph idx="1"/>
            <p:extLst>
              <p:ext uri="{D42A27DB-BD31-4B8C-83A1-F6EECF244321}">
                <p14:modId xmlns:p14="http://schemas.microsoft.com/office/powerpoint/2010/main" val="749263855"/>
              </p:ext>
            </p:extLst>
          </p:nvPr>
        </p:nvGraphicFramePr>
        <p:xfrm>
          <a:off x="1000125" y="1482725"/>
          <a:ext cx="9986963" cy="4774866"/>
        </p:xfrm>
        <a:graphic>
          <a:graphicData uri="http://schemas.openxmlformats.org/drawingml/2006/table">
            <a:tbl>
              <a:tblPr/>
              <a:tblGrid>
                <a:gridCol w="1866345">
                  <a:extLst>
                    <a:ext uri="{9D8B030D-6E8A-4147-A177-3AD203B41FA5}">
                      <a16:colId xmlns:a16="http://schemas.microsoft.com/office/drawing/2014/main" val="3859799504"/>
                    </a:ext>
                  </a:extLst>
                </a:gridCol>
                <a:gridCol w="8120618">
                  <a:extLst>
                    <a:ext uri="{9D8B030D-6E8A-4147-A177-3AD203B41FA5}">
                      <a16:colId xmlns:a16="http://schemas.microsoft.com/office/drawing/2014/main" val="3278772477"/>
                    </a:ext>
                  </a:extLst>
                </a:gridCol>
              </a:tblGrid>
              <a:tr h="546100">
                <a:tc>
                  <a:txBody>
                    <a:bodyPr/>
                    <a:lstStyle/>
                    <a:p>
                      <a:pPr algn="l">
                        <a:buNone/>
                      </a:pPr>
                      <a:r>
                        <a:rPr lang="en-IN" sz="1200" b="1">
                          <a:solidFill>
                            <a:srgbClr val="000000"/>
                          </a:solidFill>
                          <a:effectLst/>
                        </a:rPr>
                        <a:t>Preprocessing Task</a:t>
                      </a:r>
                    </a:p>
                  </a:txBody>
                  <a:tcPr marL="30643" marR="30643" marT="15322" marB="15322">
                    <a:lnL w="9525" cap="flat" cmpd="sng" algn="ctr">
                      <a:solidFill>
                        <a:srgbClr val="90A443"/>
                      </a:solidFill>
                      <a:prstDash val="solid"/>
                      <a:round/>
                      <a:headEnd type="none" w="med" len="med"/>
                      <a:tailEnd type="none" w="med" len="med"/>
                    </a:lnL>
                    <a:lnR w="9525" cap="flat" cmpd="sng" algn="ctr">
                      <a:solidFill>
                        <a:srgbClr val="A0A143"/>
                      </a:solidFill>
                      <a:prstDash val="solid"/>
                      <a:round/>
                      <a:headEnd type="none" w="med" len="med"/>
                      <a:tailEnd type="none" w="med" len="med"/>
                    </a:lnR>
                    <a:lnT w="9525" cap="flat" cmpd="sng" algn="ctr">
                      <a:solidFill>
                        <a:srgbClr val="90A443"/>
                      </a:solidFill>
                      <a:prstDash val="solid"/>
                      <a:round/>
                      <a:headEnd type="none" w="med" len="med"/>
                      <a:tailEnd type="none" w="med" len="med"/>
                    </a:lnT>
                    <a:lnB w="9525" cap="flat" cmpd="sng" algn="ctr">
                      <a:solidFill>
                        <a:srgbClr val="E0A243"/>
                      </a:solidFill>
                      <a:prstDash val="solid"/>
                      <a:round/>
                      <a:headEnd type="none" w="med" len="med"/>
                      <a:tailEnd type="none" w="med" len="med"/>
                    </a:lnB>
                    <a:solidFill>
                      <a:srgbClr val="FFFFFF"/>
                    </a:solidFill>
                  </a:tcPr>
                </a:tc>
                <a:tc>
                  <a:txBody>
                    <a:bodyPr/>
                    <a:lstStyle/>
                    <a:p>
                      <a:pPr algn="l">
                        <a:buNone/>
                      </a:pPr>
                      <a:r>
                        <a:rPr lang="en-IN" sz="1200" b="1" dirty="0">
                          <a:solidFill>
                            <a:srgbClr val="000000"/>
                          </a:solidFill>
                          <a:effectLst/>
                        </a:rPr>
                        <a:t>Reasons</a:t>
                      </a:r>
                    </a:p>
                  </a:txBody>
                  <a:tcPr marL="30643" marR="30643" marT="15322" marB="15322">
                    <a:lnL w="9525" cap="flat" cmpd="sng" algn="ctr">
                      <a:solidFill>
                        <a:srgbClr val="A0A143"/>
                      </a:solidFill>
                      <a:prstDash val="solid"/>
                      <a:round/>
                      <a:headEnd type="none" w="med" len="med"/>
                      <a:tailEnd type="none" w="med" len="med"/>
                    </a:lnL>
                    <a:lnR w="9525" cap="flat" cmpd="sng" algn="ctr">
                      <a:solidFill>
                        <a:srgbClr val="A0A143"/>
                      </a:solidFill>
                      <a:prstDash val="solid"/>
                      <a:round/>
                      <a:headEnd type="none" w="med" len="med"/>
                      <a:tailEnd type="none" w="med" len="med"/>
                    </a:lnR>
                    <a:lnT w="9525" cap="flat" cmpd="sng" algn="ctr">
                      <a:solidFill>
                        <a:srgbClr val="A0A143"/>
                      </a:solidFill>
                      <a:prstDash val="solid"/>
                      <a:round/>
                      <a:headEnd type="none" w="med" len="med"/>
                      <a:tailEnd type="none" w="med" len="med"/>
                    </a:lnT>
                    <a:lnB w="9525" cap="flat" cmpd="sng" algn="ctr">
                      <a:solidFill>
                        <a:srgbClr val="309143"/>
                      </a:solidFill>
                      <a:prstDash val="solid"/>
                      <a:round/>
                      <a:headEnd type="none" w="med" len="med"/>
                      <a:tailEnd type="none" w="med" len="med"/>
                    </a:lnB>
                    <a:solidFill>
                      <a:srgbClr val="FFFFFF"/>
                    </a:solidFill>
                  </a:tcPr>
                </a:tc>
                <a:extLst>
                  <a:ext uri="{0D108BD9-81ED-4DB2-BD59-A6C34878D82A}">
                    <a16:rowId xmlns:a16="http://schemas.microsoft.com/office/drawing/2014/main" val="2154868288"/>
                  </a:ext>
                </a:extLst>
              </a:tr>
              <a:tr h="674151">
                <a:tc>
                  <a:txBody>
                    <a:bodyPr/>
                    <a:lstStyle/>
                    <a:p>
                      <a:pPr>
                        <a:buNone/>
                      </a:pPr>
                      <a:r>
                        <a:rPr lang="en-IN" sz="1200" dirty="0">
                          <a:solidFill>
                            <a:srgbClr val="000000"/>
                          </a:solidFill>
                          <a:effectLst/>
                        </a:rPr>
                        <a:t>Noise Reduction</a:t>
                      </a:r>
                    </a:p>
                  </a:txBody>
                  <a:tcPr marL="30643" marR="30643" marT="15322" marB="15322">
                    <a:lnL w="9525" cap="flat" cmpd="sng" algn="ctr">
                      <a:solidFill>
                        <a:srgbClr val="E0A243"/>
                      </a:solidFill>
                      <a:prstDash val="solid"/>
                      <a:round/>
                      <a:headEnd type="none" w="med" len="med"/>
                      <a:tailEnd type="none" w="med" len="med"/>
                    </a:lnL>
                    <a:lnR w="9525" cap="flat" cmpd="sng" algn="ctr">
                      <a:solidFill>
                        <a:srgbClr val="309143"/>
                      </a:solidFill>
                      <a:prstDash val="solid"/>
                      <a:round/>
                      <a:headEnd type="none" w="med" len="med"/>
                      <a:tailEnd type="none" w="med" len="med"/>
                    </a:lnR>
                    <a:lnT w="9525" cap="flat" cmpd="sng" algn="ctr">
                      <a:solidFill>
                        <a:srgbClr val="E0A243"/>
                      </a:solidFill>
                      <a:prstDash val="solid"/>
                      <a:round/>
                      <a:headEnd type="none" w="med" len="med"/>
                      <a:tailEnd type="none" w="med" len="med"/>
                    </a:lnT>
                    <a:lnB w="9525" cap="flat" cmpd="sng" algn="ctr">
                      <a:solidFill>
                        <a:srgbClr val="40AF43"/>
                      </a:solidFill>
                      <a:prstDash val="solid"/>
                      <a:round/>
                      <a:headEnd type="none" w="med" len="med"/>
                      <a:tailEnd type="none" w="med" len="med"/>
                    </a:lnB>
                    <a:solidFill>
                      <a:srgbClr val="FFFFFF"/>
                    </a:solidFill>
                  </a:tcPr>
                </a:tc>
                <a:tc>
                  <a:txBody>
                    <a:bodyPr/>
                    <a:lstStyle/>
                    <a:p>
                      <a:pPr>
                        <a:buNone/>
                      </a:pPr>
                      <a:r>
                        <a:rPr lang="en-IN" sz="1200">
                          <a:solidFill>
                            <a:srgbClr val="000000"/>
                          </a:solidFill>
                          <a:effectLst/>
                        </a:rPr>
                        <a:t>Text data often contains noise such as punctuation, special characters, and irrelevant symbols. Preprocessing helps remove these elements, making the text cleaner and easier to analyze.</a:t>
                      </a:r>
                    </a:p>
                  </a:txBody>
                  <a:tcPr marL="30643" marR="30643" marT="15322" marB="15322">
                    <a:lnL w="9525" cap="flat" cmpd="sng" algn="ctr">
                      <a:solidFill>
                        <a:srgbClr val="309143"/>
                      </a:solidFill>
                      <a:prstDash val="solid"/>
                      <a:round/>
                      <a:headEnd type="none" w="med" len="med"/>
                      <a:tailEnd type="none" w="med" len="med"/>
                    </a:lnL>
                    <a:lnR w="9525" cap="flat" cmpd="sng" algn="ctr">
                      <a:solidFill>
                        <a:srgbClr val="309143"/>
                      </a:solidFill>
                      <a:prstDash val="solid"/>
                      <a:round/>
                      <a:headEnd type="none" w="med" len="med"/>
                      <a:tailEnd type="none" w="med" len="med"/>
                    </a:lnR>
                    <a:lnT w="9525" cap="flat" cmpd="sng" algn="ctr">
                      <a:solidFill>
                        <a:srgbClr val="309143"/>
                      </a:solidFill>
                      <a:prstDash val="solid"/>
                      <a:round/>
                      <a:headEnd type="none" w="med" len="med"/>
                      <a:tailEnd type="none" w="med" len="med"/>
                    </a:lnT>
                    <a:lnB w="9525" cap="flat" cmpd="sng" algn="ctr">
                      <a:solidFill>
                        <a:srgbClr val="50A543"/>
                      </a:solidFill>
                      <a:prstDash val="solid"/>
                      <a:round/>
                      <a:headEnd type="none" w="med" len="med"/>
                      <a:tailEnd type="none" w="med" len="med"/>
                    </a:lnB>
                    <a:solidFill>
                      <a:srgbClr val="FFFFFF"/>
                    </a:solidFill>
                  </a:tcPr>
                </a:tc>
                <a:extLst>
                  <a:ext uri="{0D108BD9-81ED-4DB2-BD59-A6C34878D82A}">
                    <a16:rowId xmlns:a16="http://schemas.microsoft.com/office/drawing/2014/main" val="3445720854"/>
                  </a:ext>
                </a:extLst>
              </a:tr>
              <a:tr h="766081">
                <a:tc>
                  <a:txBody>
                    <a:bodyPr/>
                    <a:lstStyle/>
                    <a:p>
                      <a:pPr>
                        <a:buNone/>
                      </a:pPr>
                      <a:r>
                        <a:rPr lang="en-IN" sz="1200" dirty="0">
                          <a:solidFill>
                            <a:srgbClr val="000000"/>
                          </a:solidFill>
                          <a:effectLst/>
                        </a:rPr>
                        <a:t>Normalization</a:t>
                      </a:r>
                    </a:p>
                  </a:txBody>
                  <a:tcPr marL="30643" marR="30643" marT="15322" marB="15322">
                    <a:lnL w="9525" cap="flat" cmpd="sng" algn="ctr">
                      <a:solidFill>
                        <a:srgbClr val="40AF43"/>
                      </a:solidFill>
                      <a:prstDash val="solid"/>
                      <a:round/>
                      <a:headEnd type="none" w="med" len="med"/>
                      <a:tailEnd type="none" w="med" len="med"/>
                    </a:lnL>
                    <a:lnR w="9525" cap="flat" cmpd="sng" algn="ctr">
                      <a:solidFill>
                        <a:srgbClr val="50A543"/>
                      </a:solidFill>
                      <a:prstDash val="solid"/>
                      <a:round/>
                      <a:headEnd type="none" w="med" len="med"/>
                      <a:tailEnd type="none" w="med" len="med"/>
                    </a:lnR>
                    <a:lnT w="9525" cap="flat" cmpd="sng" algn="ctr">
                      <a:solidFill>
                        <a:srgbClr val="40AF43"/>
                      </a:solidFill>
                      <a:prstDash val="solid"/>
                      <a:round/>
                      <a:headEnd type="none" w="med" len="med"/>
                      <a:tailEnd type="none" w="med" len="med"/>
                    </a:lnT>
                    <a:lnB w="9525" cap="flat" cmpd="sng" algn="ctr">
                      <a:solidFill>
                        <a:srgbClr val="D0B243"/>
                      </a:solidFill>
                      <a:prstDash val="solid"/>
                      <a:round/>
                      <a:headEnd type="none" w="med" len="med"/>
                      <a:tailEnd type="none" w="med" len="med"/>
                    </a:lnB>
                    <a:solidFill>
                      <a:srgbClr val="FFFFFF"/>
                    </a:solidFill>
                  </a:tcPr>
                </a:tc>
                <a:tc>
                  <a:txBody>
                    <a:bodyPr/>
                    <a:lstStyle/>
                    <a:p>
                      <a:pPr>
                        <a:buNone/>
                      </a:pPr>
                      <a:r>
                        <a:rPr lang="en-IN" sz="1200">
                          <a:solidFill>
                            <a:srgbClr val="000000"/>
                          </a:solidFill>
                          <a:effectLst/>
                        </a:rPr>
                        <a:t>Different forms of words (e.g., “run,” “running,” “ran”) can convey the same meaning but appear in different forms. Preprocessing techniques like stemming and lemmatization help standardize these variations.</a:t>
                      </a:r>
                    </a:p>
                  </a:txBody>
                  <a:tcPr marL="30643" marR="30643" marT="15322" marB="15322">
                    <a:lnL w="9525" cap="flat" cmpd="sng" algn="ctr">
                      <a:solidFill>
                        <a:srgbClr val="50A543"/>
                      </a:solidFill>
                      <a:prstDash val="solid"/>
                      <a:round/>
                      <a:headEnd type="none" w="med" len="med"/>
                      <a:tailEnd type="none" w="med" len="med"/>
                    </a:lnL>
                    <a:lnR w="9525" cap="flat" cmpd="sng" algn="ctr">
                      <a:solidFill>
                        <a:srgbClr val="50A543"/>
                      </a:solidFill>
                      <a:prstDash val="solid"/>
                      <a:round/>
                      <a:headEnd type="none" w="med" len="med"/>
                      <a:tailEnd type="none" w="med" len="med"/>
                    </a:lnR>
                    <a:lnT w="9525" cap="flat" cmpd="sng" algn="ctr">
                      <a:solidFill>
                        <a:srgbClr val="50A543"/>
                      </a:solidFill>
                      <a:prstDash val="solid"/>
                      <a:round/>
                      <a:headEnd type="none" w="med" len="med"/>
                      <a:tailEnd type="none" w="med" len="med"/>
                    </a:lnT>
                    <a:lnB w="9525" cap="flat" cmpd="sng" algn="ctr">
                      <a:solidFill>
                        <a:srgbClr val="90BF43"/>
                      </a:solidFill>
                      <a:prstDash val="solid"/>
                      <a:round/>
                      <a:headEnd type="none" w="med" len="med"/>
                      <a:tailEnd type="none" w="med" len="med"/>
                    </a:lnB>
                    <a:solidFill>
                      <a:srgbClr val="FFFFFF"/>
                    </a:solidFill>
                  </a:tcPr>
                </a:tc>
                <a:extLst>
                  <a:ext uri="{0D108BD9-81ED-4DB2-BD59-A6C34878D82A}">
                    <a16:rowId xmlns:a16="http://schemas.microsoft.com/office/drawing/2014/main" val="3192113353"/>
                  </a:ext>
                </a:extLst>
              </a:tr>
              <a:tr h="766081">
                <a:tc>
                  <a:txBody>
                    <a:bodyPr/>
                    <a:lstStyle/>
                    <a:p>
                      <a:pPr>
                        <a:buNone/>
                      </a:pPr>
                      <a:r>
                        <a:rPr lang="en-IN" sz="1200">
                          <a:solidFill>
                            <a:srgbClr val="000000"/>
                          </a:solidFill>
                          <a:effectLst/>
                        </a:rPr>
                        <a:t>Tokenization</a:t>
                      </a:r>
                    </a:p>
                  </a:txBody>
                  <a:tcPr marL="30643" marR="30643" marT="15322" marB="15322">
                    <a:lnL w="9525" cap="flat" cmpd="sng" algn="ctr">
                      <a:solidFill>
                        <a:srgbClr val="D0B243"/>
                      </a:solidFill>
                      <a:prstDash val="solid"/>
                      <a:round/>
                      <a:headEnd type="none" w="med" len="med"/>
                      <a:tailEnd type="none" w="med" len="med"/>
                    </a:lnL>
                    <a:lnR w="9525" cap="flat" cmpd="sng" algn="ctr">
                      <a:solidFill>
                        <a:srgbClr val="90BF43"/>
                      </a:solidFill>
                      <a:prstDash val="solid"/>
                      <a:round/>
                      <a:headEnd type="none" w="med" len="med"/>
                      <a:tailEnd type="none" w="med" len="med"/>
                    </a:lnR>
                    <a:lnT w="9525" cap="flat" cmpd="sng" algn="ctr">
                      <a:solidFill>
                        <a:srgbClr val="D0B243"/>
                      </a:solidFill>
                      <a:prstDash val="solid"/>
                      <a:round/>
                      <a:headEnd type="none" w="med" len="med"/>
                      <a:tailEnd type="none" w="med" len="med"/>
                    </a:lnT>
                    <a:lnB w="9525" cap="flat" cmpd="sng" algn="ctr">
                      <a:solidFill>
                        <a:srgbClr val="A0B943"/>
                      </a:solidFill>
                      <a:prstDash val="solid"/>
                      <a:round/>
                      <a:headEnd type="none" w="med" len="med"/>
                      <a:tailEnd type="none" w="med" len="med"/>
                    </a:lnB>
                    <a:solidFill>
                      <a:srgbClr val="FFFFFF"/>
                    </a:solidFill>
                  </a:tcPr>
                </a:tc>
                <a:tc>
                  <a:txBody>
                    <a:bodyPr/>
                    <a:lstStyle/>
                    <a:p>
                      <a:pPr>
                        <a:buNone/>
                      </a:pPr>
                      <a:r>
                        <a:rPr lang="en-IN" sz="1200" dirty="0">
                          <a:solidFill>
                            <a:srgbClr val="000000"/>
                          </a:solidFill>
                          <a:effectLst/>
                        </a:rPr>
                        <a:t>Text data needs to be broken down into smaller units, such as words or phrases, for analysis. Tokenization divides text into meaningful units, facilitating subsequent processing steps like feature extraction.</a:t>
                      </a:r>
                    </a:p>
                  </a:txBody>
                  <a:tcPr marL="30643" marR="30643" marT="15322" marB="15322">
                    <a:lnL w="9525" cap="flat" cmpd="sng" algn="ctr">
                      <a:solidFill>
                        <a:srgbClr val="90BF43"/>
                      </a:solidFill>
                      <a:prstDash val="solid"/>
                      <a:round/>
                      <a:headEnd type="none" w="med" len="med"/>
                      <a:tailEnd type="none" w="med" len="med"/>
                    </a:lnL>
                    <a:lnR w="9525" cap="flat" cmpd="sng" algn="ctr">
                      <a:solidFill>
                        <a:srgbClr val="90BF43"/>
                      </a:solidFill>
                      <a:prstDash val="solid"/>
                      <a:round/>
                      <a:headEnd type="none" w="med" len="med"/>
                      <a:tailEnd type="none" w="med" len="med"/>
                    </a:lnR>
                    <a:lnT w="9525" cap="flat" cmpd="sng" algn="ctr">
                      <a:solidFill>
                        <a:srgbClr val="90BF43"/>
                      </a:solidFill>
                      <a:prstDash val="solid"/>
                      <a:round/>
                      <a:headEnd type="none" w="med" len="med"/>
                      <a:tailEnd type="none" w="med" len="med"/>
                    </a:lnT>
                    <a:lnB w="9525" cap="flat" cmpd="sng" algn="ctr">
                      <a:solidFill>
                        <a:srgbClr val="90AD43"/>
                      </a:solidFill>
                      <a:prstDash val="solid"/>
                      <a:round/>
                      <a:headEnd type="none" w="med" len="med"/>
                      <a:tailEnd type="none" w="med" len="med"/>
                    </a:lnB>
                    <a:solidFill>
                      <a:srgbClr val="FFFFFF"/>
                    </a:solidFill>
                  </a:tcPr>
                </a:tc>
                <a:extLst>
                  <a:ext uri="{0D108BD9-81ED-4DB2-BD59-A6C34878D82A}">
                    <a16:rowId xmlns:a16="http://schemas.microsoft.com/office/drawing/2014/main" val="2260770478"/>
                  </a:ext>
                </a:extLst>
              </a:tr>
              <a:tr h="674151">
                <a:tc>
                  <a:txBody>
                    <a:bodyPr/>
                    <a:lstStyle/>
                    <a:p>
                      <a:pPr>
                        <a:buNone/>
                      </a:pPr>
                      <a:r>
                        <a:rPr lang="en-IN" sz="1200">
                          <a:solidFill>
                            <a:srgbClr val="000000"/>
                          </a:solidFill>
                          <a:effectLst/>
                        </a:rPr>
                        <a:t>Stopword Removal</a:t>
                      </a:r>
                    </a:p>
                  </a:txBody>
                  <a:tcPr marL="30643" marR="30643" marT="15322" marB="15322">
                    <a:lnL w="9525" cap="flat" cmpd="sng" algn="ctr">
                      <a:solidFill>
                        <a:srgbClr val="A0B943"/>
                      </a:solidFill>
                      <a:prstDash val="solid"/>
                      <a:round/>
                      <a:headEnd type="none" w="med" len="med"/>
                      <a:tailEnd type="none" w="med" len="med"/>
                    </a:lnL>
                    <a:lnR w="9525" cap="flat" cmpd="sng" algn="ctr">
                      <a:solidFill>
                        <a:srgbClr val="90AD43"/>
                      </a:solidFill>
                      <a:prstDash val="solid"/>
                      <a:round/>
                      <a:headEnd type="none" w="med" len="med"/>
                      <a:tailEnd type="none" w="med" len="med"/>
                    </a:lnR>
                    <a:lnT w="9525" cap="flat" cmpd="sng" algn="ctr">
                      <a:solidFill>
                        <a:srgbClr val="A0B943"/>
                      </a:solidFill>
                      <a:prstDash val="solid"/>
                      <a:round/>
                      <a:headEnd type="none" w="med" len="med"/>
                      <a:tailEnd type="none" w="med" len="med"/>
                    </a:lnT>
                    <a:lnB w="9525" cap="flat" cmpd="sng" algn="ctr">
                      <a:solidFill>
                        <a:srgbClr val="A0B143"/>
                      </a:solidFill>
                      <a:prstDash val="solid"/>
                      <a:round/>
                      <a:headEnd type="none" w="med" len="med"/>
                      <a:tailEnd type="none" w="med" len="med"/>
                    </a:lnB>
                    <a:solidFill>
                      <a:srgbClr val="FFFFFF"/>
                    </a:solidFill>
                  </a:tcPr>
                </a:tc>
                <a:tc>
                  <a:txBody>
                    <a:bodyPr/>
                    <a:lstStyle/>
                    <a:p>
                      <a:pPr>
                        <a:buNone/>
                      </a:pPr>
                      <a:r>
                        <a:rPr lang="en-IN" sz="1200" dirty="0" err="1">
                          <a:solidFill>
                            <a:srgbClr val="000000"/>
                          </a:solidFill>
                          <a:effectLst/>
                        </a:rPr>
                        <a:t>Stopwords</a:t>
                      </a:r>
                      <a:r>
                        <a:rPr lang="en-IN" sz="1200" dirty="0">
                          <a:solidFill>
                            <a:srgbClr val="000000"/>
                          </a:solidFill>
                          <a:effectLst/>
                        </a:rPr>
                        <a:t> are common words like “the,” “is,” and “and” that often occur frequently but convey little semantic meaning. Removing </a:t>
                      </a:r>
                      <a:r>
                        <a:rPr lang="en-IN" sz="1200" dirty="0" err="1">
                          <a:solidFill>
                            <a:srgbClr val="000000"/>
                          </a:solidFill>
                          <a:effectLst/>
                        </a:rPr>
                        <a:t>stopwords</a:t>
                      </a:r>
                      <a:r>
                        <a:rPr lang="en-IN" sz="1200" dirty="0">
                          <a:solidFill>
                            <a:srgbClr val="000000"/>
                          </a:solidFill>
                          <a:effectLst/>
                        </a:rPr>
                        <a:t> can improve the efficiency of text analysis by reducing noise.</a:t>
                      </a:r>
                    </a:p>
                  </a:txBody>
                  <a:tcPr marL="30643" marR="30643" marT="15322" marB="15322">
                    <a:lnL w="9525" cap="flat" cmpd="sng" algn="ctr">
                      <a:solidFill>
                        <a:srgbClr val="90AD43"/>
                      </a:solidFill>
                      <a:prstDash val="solid"/>
                      <a:round/>
                      <a:headEnd type="none" w="med" len="med"/>
                      <a:tailEnd type="none" w="med" len="med"/>
                    </a:lnL>
                    <a:lnR w="9525" cap="flat" cmpd="sng" algn="ctr">
                      <a:solidFill>
                        <a:srgbClr val="90AD43"/>
                      </a:solidFill>
                      <a:prstDash val="solid"/>
                      <a:round/>
                      <a:headEnd type="none" w="med" len="med"/>
                      <a:tailEnd type="none" w="med" len="med"/>
                    </a:lnR>
                    <a:lnT w="9525" cap="flat" cmpd="sng" algn="ctr">
                      <a:solidFill>
                        <a:srgbClr val="90AD43"/>
                      </a:solidFill>
                      <a:prstDash val="solid"/>
                      <a:round/>
                      <a:headEnd type="none" w="med" len="med"/>
                      <a:tailEnd type="none" w="med" len="med"/>
                    </a:lnT>
                    <a:lnB w="9525" cap="flat" cmpd="sng" algn="ctr">
                      <a:solidFill>
                        <a:srgbClr val="30B443"/>
                      </a:solidFill>
                      <a:prstDash val="solid"/>
                      <a:round/>
                      <a:headEnd type="none" w="med" len="med"/>
                      <a:tailEnd type="none" w="med" len="med"/>
                    </a:lnB>
                    <a:solidFill>
                      <a:srgbClr val="FFFFFF"/>
                    </a:solidFill>
                  </a:tcPr>
                </a:tc>
                <a:extLst>
                  <a:ext uri="{0D108BD9-81ED-4DB2-BD59-A6C34878D82A}">
                    <a16:rowId xmlns:a16="http://schemas.microsoft.com/office/drawing/2014/main" val="1352332063"/>
                  </a:ext>
                </a:extLst>
              </a:tr>
              <a:tr h="582221">
                <a:tc>
                  <a:txBody>
                    <a:bodyPr/>
                    <a:lstStyle/>
                    <a:p>
                      <a:pPr>
                        <a:buNone/>
                      </a:pPr>
                      <a:r>
                        <a:rPr lang="en-IN" sz="1200">
                          <a:solidFill>
                            <a:srgbClr val="000000"/>
                          </a:solidFill>
                          <a:effectLst/>
                        </a:rPr>
                        <a:t>Feature Extraction</a:t>
                      </a:r>
                    </a:p>
                  </a:txBody>
                  <a:tcPr marL="30643" marR="30643" marT="15322" marB="15322">
                    <a:lnL w="9525" cap="flat" cmpd="sng" algn="ctr">
                      <a:solidFill>
                        <a:srgbClr val="A0B143"/>
                      </a:solidFill>
                      <a:prstDash val="solid"/>
                      <a:round/>
                      <a:headEnd type="none" w="med" len="med"/>
                      <a:tailEnd type="none" w="med" len="med"/>
                    </a:lnL>
                    <a:lnR w="9525" cap="flat" cmpd="sng" algn="ctr">
                      <a:solidFill>
                        <a:srgbClr val="30B443"/>
                      </a:solidFill>
                      <a:prstDash val="solid"/>
                      <a:round/>
                      <a:headEnd type="none" w="med" len="med"/>
                      <a:tailEnd type="none" w="med" len="med"/>
                    </a:lnR>
                    <a:lnT w="9525" cap="flat" cmpd="sng" algn="ctr">
                      <a:solidFill>
                        <a:srgbClr val="A0B143"/>
                      </a:solidFill>
                      <a:prstDash val="solid"/>
                      <a:round/>
                      <a:headEnd type="none" w="med" len="med"/>
                      <a:tailEnd type="none" w="med" len="med"/>
                    </a:lnT>
                    <a:lnB w="9525" cap="flat" cmpd="sng" algn="ctr">
                      <a:solidFill>
                        <a:srgbClr val="40AC43"/>
                      </a:solidFill>
                      <a:prstDash val="solid"/>
                      <a:round/>
                      <a:headEnd type="none" w="med" len="med"/>
                      <a:tailEnd type="none" w="med" len="med"/>
                    </a:lnB>
                    <a:solidFill>
                      <a:srgbClr val="FFFFFF"/>
                    </a:solidFill>
                  </a:tcPr>
                </a:tc>
                <a:tc>
                  <a:txBody>
                    <a:bodyPr/>
                    <a:lstStyle/>
                    <a:p>
                      <a:pPr>
                        <a:buNone/>
                      </a:pPr>
                      <a:r>
                        <a:rPr lang="en-IN" sz="1200" dirty="0">
                          <a:solidFill>
                            <a:srgbClr val="000000"/>
                          </a:solidFill>
                          <a:effectLst/>
                        </a:rPr>
                        <a:t>Preprocessing can involve extracting features from text, such as word frequencies, n-grams, or word embeddings, which are essential for building machine learning models.</a:t>
                      </a:r>
                    </a:p>
                  </a:txBody>
                  <a:tcPr marL="30643" marR="30643" marT="15322" marB="15322">
                    <a:lnL w="9525" cap="flat" cmpd="sng" algn="ctr">
                      <a:solidFill>
                        <a:srgbClr val="30B443"/>
                      </a:solidFill>
                      <a:prstDash val="solid"/>
                      <a:round/>
                      <a:headEnd type="none" w="med" len="med"/>
                      <a:tailEnd type="none" w="med" len="med"/>
                    </a:lnL>
                    <a:lnR w="9525" cap="flat" cmpd="sng" algn="ctr">
                      <a:solidFill>
                        <a:srgbClr val="30B443"/>
                      </a:solidFill>
                      <a:prstDash val="solid"/>
                      <a:round/>
                      <a:headEnd type="none" w="med" len="med"/>
                      <a:tailEnd type="none" w="med" len="med"/>
                    </a:lnR>
                    <a:lnT w="9525" cap="flat" cmpd="sng" algn="ctr">
                      <a:solidFill>
                        <a:srgbClr val="30B443"/>
                      </a:solidFill>
                      <a:prstDash val="solid"/>
                      <a:round/>
                      <a:headEnd type="none" w="med" len="med"/>
                      <a:tailEnd type="none" w="med" len="med"/>
                    </a:lnT>
                    <a:lnB w="9525" cap="flat" cmpd="sng" algn="ctr">
                      <a:solidFill>
                        <a:srgbClr val="00A743"/>
                      </a:solidFill>
                      <a:prstDash val="solid"/>
                      <a:round/>
                      <a:headEnd type="none" w="med" len="med"/>
                      <a:tailEnd type="none" w="med" len="med"/>
                    </a:lnB>
                    <a:solidFill>
                      <a:srgbClr val="FFFFFF"/>
                    </a:solidFill>
                  </a:tcPr>
                </a:tc>
                <a:extLst>
                  <a:ext uri="{0D108BD9-81ED-4DB2-BD59-A6C34878D82A}">
                    <a16:rowId xmlns:a16="http://schemas.microsoft.com/office/drawing/2014/main" val="3164837005"/>
                  </a:ext>
                </a:extLst>
              </a:tr>
              <a:tr h="766081">
                <a:tc>
                  <a:txBody>
                    <a:bodyPr/>
                    <a:lstStyle/>
                    <a:p>
                      <a:pPr>
                        <a:buNone/>
                      </a:pPr>
                      <a:r>
                        <a:rPr lang="en-IN" sz="1200">
                          <a:solidFill>
                            <a:srgbClr val="000000"/>
                          </a:solidFill>
                          <a:effectLst/>
                        </a:rPr>
                        <a:t>Dimensionality Reduction</a:t>
                      </a:r>
                    </a:p>
                  </a:txBody>
                  <a:tcPr marL="30643" marR="30643" marT="15322" marB="15322">
                    <a:lnL w="9525" cap="flat" cmpd="sng" algn="ctr">
                      <a:solidFill>
                        <a:srgbClr val="40AC43"/>
                      </a:solidFill>
                      <a:prstDash val="solid"/>
                      <a:round/>
                      <a:headEnd type="none" w="med" len="med"/>
                      <a:tailEnd type="none" w="med" len="med"/>
                    </a:lnL>
                    <a:lnR w="9525" cap="flat" cmpd="sng" algn="ctr">
                      <a:solidFill>
                        <a:srgbClr val="00A743"/>
                      </a:solidFill>
                      <a:prstDash val="solid"/>
                      <a:round/>
                      <a:headEnd type="none" w="med" len="med"/>
                      <a:tailEnd type="none" w="med" len="med"/>
                    </a:lnR>
                    <a:lnT w="9525" cap="flat" cmpd="sng" algn="ctr">
                      <a:solidFill>
                        <a:srgbClr val="40AC43"/>
                      </a:solidFill>
                      <a:prstDash val="solid"/>
                      <a:round/>
                      <a:headEnd type="none" w="med" len="med"/>
                      <a:tailEnd type="none" w="med" len="med"/>
                    </a:lnT>
                    <a:lnB w="9525" cap="flat" cmpd="sng" algn="ctr">
                      <a:solidFill>
                        <a:srgbClr val="40AC43"/>
                      </a:solidFill>
                      <a:prstDash val="solid"/>
                      <a:round/>
                      <a:headEnd type="none" w="med" len="med"/>
                      <a:tailEnd type="none" w="med" len="med"/>
                    </a:lnB>
                    <a:solidFill>
                      <a:srgbClr val="FFFFFF"/>
                    </a:solidFill>
                  </a:tcPr>
                </a:tc>
                <a:tc>
                  <a:txBody>
                    <a:bodyPr/>
                    <a:lstStyle/>
                    <a:p>
                      <a:pPr>
                        <a:buNone/>
                      </a:pPr>
                      <a:r>
                        <a:rPr lang="en-IN" sz="1200" dirty="0">
                          <a:solidFill>
                            <a:srgbClr val="000000"/>
                          </a:solidFill>
                          <a:effectLst/>
                        </a:rPr>
                        <a:t>Text data often has a high dimensionality due to the presence of a large vocabulary. Preprocessing techniques like term frequency-inverse document frequency (TF-IDF) or dimensionality reduction methods can help.</a:t>
                      </a:r>
                    </a:p>
                  </a:txBody>
                  <a:tcPr marL="30643" marR="30643" marT="15322" marB="15322">
                    <a:lnL w="9525" cap="flat" cmpd="sng" algn="ctr">
                      <a:solidFill>
                        <a:srgbClr val="00A743"/>
                      </a:solidFill>
                      <a:prstDash val="solid"/>
                      <a:round/>
                      <a:headEnd type="none" w="med" len="med"/>
                      <a:tailEnd type="none" w="med" len="med"/>
                    </a:lnL>
                    <a:lnR w="9525" cap="flat" cmpd="sng" algn="ctr">
                      <a:solidFill>
                        <a:srgbClr val="00A743"/>
                      </a:solidFill>
                      <a:prstDash val="solid"/>
                      <a:round/>
                      <a:headEnd type="none" w="med" len="med"/>
                      <a:tailEnd type="none" w="med" len="med"/>
                    </a:lnR>
                    <a:lnT w="9525" cap="flat" cmpd="sng" algn="ctr">
                      <a:solidFill>
                        <a:srgbClr val="00A743"/>
                      </a:solidFill>
                      <a:prstDash val="solid"/>
                      <a:round/>
                      <a:headEnd type="none" w="med" len="med"/>
                      <a:tailEnd type="none" w="med" len="med"/>
                    </a:lnT>
                    <a:lnB w="9525" cap="flat" cmpd="sng" algn="ctr">
                      <a:solidFill>
                        <a:srgbClr val="00A743"/>
                      </a:solidFill>
                      <a:prstDash val="solid"/>
                      <a:round/>
                      <a:headEnd type="none" w="med" len="med"/>
                      <a:tailEnd type="none" w="med" len="med"/>
                    </a:lnB>
                    <a:solidFill>
                      <a:srgbClr val="FFFFFF"/>
                    </a:solidFill>
                  </a:tcPr>
                </a:tc>
                <a:extLst>
                  <a:ext uri="{0D108BD9-81ED-4DB2-BD59-A6C34878D82A}">
                    <a16:rowId xmlns:a16="http://schemas.microsoft.com/office/drawing/2014/main" val="1177967581"/>
                  </a:ext>
                </a:extLst>
              </a:tr>
            </a:tbl>
          </a:graphicData>
        </a:graphic>
      </p:graphicFrame>
    </p:spTree>
    <p:extLst>
      <p:ext uri="{BB962C8B-B14F-4D97-AF65-F5344CB8AC3E}">
        <p14:creationId xmlns:p14="http://schemas.microsoft.com/office/powerpoint/2010/main" val="1284181921"/>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9517BF6-11A0-A595-E5D3-B8BABE85A7B1}"/>
              </a:ext>
            </a:extLst>
          </p:cNvPr>
          <p:cNvSpPr>
            <a:spLocks noGrp="1"/>
          </p:cNvSpPr>
          <p:nvPr>
            <p:ph type="title"/>
          </p:nvPr>
        </p:nvSpPr>
        <p:spPr>
          <a:xfrm>
            <a:off x="228600" y="32941"/>
            <a:ext cx="10515600" cy="1325563"/>
          </a:xfrm>
        </p:spPr>
        <p:txBody>
          <a:bodyPr/>
          <a:lstStyle/>
          <a:p>
            <a:r>
              <a:rPr lang="en-US" dirty="0"/>
              <a:t>Text Preprocessing</a:t>
            </a:r>
          </a:p>
        </p:txBody>
      </p:sp>
      <p:sp>
        <p:nvSpPr>
          <p:cNvPr id="3" name="Content Placeholder 2">
            <a:extLst>
              <a:ext uri="{FF2B5EF4-FFF2-40B4-BE49-F238E27FC236}">
                <a16:creationId xmlns:a16="http://schemas.microsoft.com/office/drawing/2014/main" id="{D6A0BD5A-CB98-1EDD-DFC9-987A59CAF510}"/>
              </a:ext>
            </a:extLst>
          </p:cNvPr>
          <p:cNvSpPr>
            <a:spLocks noGrp="1"/>
          </p:cNvSpPr>
          <p:nvPr>
            <p:ph idx="1"/>
          </p:nvPr>
        </p:nvSpPr>
        <p:spPr>
          <a:xfrm>
            <a:off x="0" y="1063625"/>
            <a:ext cx="7348537" cy="5791200"/>
          </a:xfrm>
        </p:spPr>
        <p:txBody>
          <a:bodyPr>
            <a:noAutofit/>
          </a:bodyPr>
          <a:lstStyle/>
          <a:p>
            <a:pPr algn="just">
              <a:lnSpc>
                <a:spcPct val="70000"/>
              </a:lnSpc>
            </a:pPr>
            <a:r>
              <a:rPr lang="en-IN" sz="1700" dirty="0"/>
              <a:t>Much of the text preparation and preprocessing methods have their roots in natural language processing. </a:t>
            </a:r>
          </a:p>
          <a:p>
            <a:pPr algn="just">
              <a:lnSpc>
                <a:spcPct val="70000"/>
              </a:lnSpc>
            </a:pPr>
            <a:r>
              <a:rPr lang="en-IN" sz="1700" dirty="0"/>
              <a:t>Text preprocessing takes an input of raw text and returns cleansed tokens.</a:t>
            </a:r>
          </a:p>
          <a:p>
            <a:pPr algn="just">
              <a:lnSpc>
                <a:spcPct val="70000"/>
              </a:lnSpc>
            </a:pPr>
            <a:r>
              <a:rPr lang="en-IN" sz="1700" dirty="0">
                <a:solidFill>
                  <a:srgbClr val="FF0000"/>
                </a:solidFill>
              </a:rPr>
              <a:t>Tokens are single words or groups of words that are tallied by their frequency and serve as the features of the analysis. </a:t>
            </a:r>
          </a:p>
          <a:p>
            <a:pPr algn="just">
              <a:lnSpc>
                <a:spcPct val="70000"/>
              </a:lnSpc>
            </a:pPr>
            <a:r>
              <a:rPr lang="en-IN" sz="1700" dirty="0"/>
              <a:t>The preprocessing process includes</a:t>
            </a:r>
          </a:p>
          <a:p>
            <a:pPr marL="0" indent="0" algn="just">
              <a:lnSpc>
                <a:spcPct val="70000"/>
              </a:lnSpc>
              <a:buNone/>
            </a:pPr>
            <a:r>
              <a:rPr lang="en-IN" sz="1700" dirty="0"/>
              <a:t>	(1) unitization and tokenization, </a:t>
            </a:r>
          </a:p>
          <a:p>
            <a:pPr marL="0" indent="0" algn="just">
              <a:lnSpc>
                <a:spcPct val="70000"/>
              </a:lnSpc>
              <a:buNone/>
            </a:pPr>
            <a:r>
              <a:rPr lang="en-IN" sz="1700" dirty="0"/>
              <a:t>	(2) standardization and cleansing or text data cleansing, </a:t>
            </a:r>
          </a:p>
          <a:p>
            <a:pPr marL="0" indent="0" algn="just">
              <a:lnSpc>
                <a:spcPct val="70000"/>
              </a:lnSpc>
              <a:buNone/>
            </a:pPr>
            <a:r>
              <a:rPr lang="en-IN" sz="1700" dirty="0"/>
              <a:t>	(3) stop word removal, and </a:t>
            </a:r>
          </a:p>
          <a:p>
            <a:pPr marL="0" indent="0" algn="just">
              <a:lnSpc>
                <a:spcPct val="70000"/>
              </a:lnSpc>
              <a:buNone/>
            </a:pPr>
            <a:r>
              <a:rPr lang="en-IN" sz="1700" dirty="0"/>
              <a:t>	(4) stemming or lemmatization. </a:t>
            </a:r>
          </a:p>
          <a:p>
            <a:pPr marL="0" indent="0" algn="just">
              <a:lnSpc>
                <a:spcPct val="70000"/>
              </a:lnSpc>
              <a:buNone/>
            </a:pPr>
            <a:r>
              <a:rPr lang="en-IN" sz="1700" dirty="0"/>
              <a:t>This process is depicted in Figure. </a:t>
            </a:r>
          </a:p>
          <a:p>
            <a:pPr algn="just">
              <a:lnSpc>
                <a:spcPct val="70000"/>
              </a:lnSpc>
            </a:pPr>
            <a:r>
              <a:rPr lang="en-IN" sz="1700" dirty="0"/>
              <a:t>Each step removes unnecessary information from the original text.</a:t>
            </a:r>
          </a:p>
          <a:p>
            <a:pPr marL="0" indent="0" algn="just">
              <a:lnSpc>
                <a:spcPct val="70000"/>
              </a:lnSpc>
              <a:buNone/>
            </a:pPr>
            <a:r>
              <a:rPr lang="en-IN" sz="1700" b="1" dirty="0"/>
              <a:t>NEED of PREPROCESSING</a:t>
            </a:r>
          </a:p>
          <a:p>
            <a:pPr algn="just">
              <a:lnSpc>
                <a:spcPct val="70000"/>
              </a:lnSpc>
            </a:pPr>
            <a:r>
              <a:rPr lang="en-IN" sz="1700" dirty="0"/>
              <a:t> Proper preprocessing of text data sets up the analysis for success. In text analysis, far more time is spent in preparing and preprocessing the text data than in the analysis itself (Dumais et al. 1998). </a:t>
            </a:r>
          </a:p>
          <a:p>
            <a:pPr algn="just">
              <a:lnSpc>
                <a:spcPct val="70000"/>
              </a:lnSpc>
            </a:pPr>
            <a:r>
              <a:rPr lang="en-IN" sz="1700" dirty="0"/>
              <a:t>Diligent and detailed work in cleansing and preprocessing makes the analysis process smoother.</a:t>
            </a:r>
          </a:p>
          <a:p>
            <a:pPr algn="just">
              <a:lnSpc>
                <a:spcPct val="70000"/>
              </a:lnSpc>
            </a:pPr>
            <a:r>
              <a:rPr lang="en-IN" sz="1700" dirty="0"/>
              <a:t>The stages along the pipeline standardize the data, thereby reducing the number of dimensions in the text dataset. There is a balance between retained information and reduced complexity in the choices made during the process.</a:t>
            </a:r>
            <a:endParaRPr lang="en-US" sz="1700" dirty="0"/>
          </a:p>
        </p:txBody>
      </p:sp>
      <p:pic>
        <p:nvPicPr>
          <p:cNvPr id="4" name="Picture 3">
            <a:extLst>
              <a:ext uri="{FF2B5EF4-FFF2-40B4-BE49-F238E27FC236}">
                <a16:creationId xmlns:a16="http://schemas.microsoft.com/office/drawing/2014/main" id="{C73A6F20-CDDC-CE3A-11D8-5D70678CA407}"/>
              </a:ext>
            </a:extLst>
          </p:cNvPr>
          <p:cNvPicPr>
            <a:picLocks noChangeAspect="1"/>
          </p:cNvPicPr>
          <p:nvPr/>
        </p:nvPicPr>
        <p:blipFill>
          <a:blip r:embed="rId3"/>
          <a:stretch>
            <a:fillRect/>
          </a:stretch>
        </p:blipFill>
        <p:spPr>
          <a:xfrm>
            <a:off x="7239000" y="1366044"/>
            <a:ext cx="4953000" cy="5270500"/>
          </a:xfrm>
          <a:prstGeom prst="rect">
            <a:avLst/>
          </a:prstGeom>
        </p:spPr>
      </p:pic>
    </p:spTree>
    <p:extLst>
      <p:ext uri="{BB962C8B-B14F-4D97-AF65-F5344CB8AC3E}">
        <p14:creationId xmlns:p14="http://schemas.microsoft.com/office/powerpoint/2010/main" val="933872757"/>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6FB3B20-9F9F-C9EE-0768-1C346BDF2ADE}"/>
              </a:ext>
            </a:extLst>
          </p:cNvPr>
          <p:cNvSpPr>
            <a:spLocks noGrp="1"/>
          </p:cNvSpPr>
          <p:nvPr>
            <p:ph type="title"/>
          </p:nvPr>
        </p:nvSpPr>
        <p:spPr/>
        <p:txBody>
          <a:bodyPr/>
          <a:lstStyle/>
          <a:p>
            <a:r>
              <a:rPr lang="en-IN" dirty="0"/>
              <a:t>N-grams</a:t>
            </a:r>
            <a:endParaRPr lang="en-US" dirty="0"/>
          </a:p>
        </p:txBody>
      </p:sp>
      <p:sp>
        <p:nvSpPr>
          <p:cNvPr id="3" name="Content Placeholder 2">
            <a:extLst>
              <a:ext uri="{FF2B5EF4-FFF2-40B4-BE49-F238E27FC236}">
                <a16:creationId xmlns:a16="http://schemas.microsoft.com/office/drawing/2014/main" id="{978BBB20-2A0E-6FC1-BBE3-B4B38C6AEEC1}"/>
              </a:ext>
            </a:extLst>
          </p:cNvPr>
          <p:cNvSpPr>
            <a:spLocks noGrp="1"/>
          </p:cNvSpPr>
          <p:nvPr>
            <p:ph idx="1"/>
          </p:nvPr>
        </p:nvSpPr>
        <p:spPr>
          <a:xfrm>
            <a:off x="838199" y="1825625"/>
            <a:ext cx="10918371" cy="3421289"/>
          </a:xfrm>
        </p:spPr>
        <p:txBody>
          <a:bodyPr>
            <a:normAutofit fontScale="85000" lnSpcReduction="20000"/>
          </a:bodyPr>
          <a:lstStyle/>
          <a:p>
            <a:pPr algn="just"/>
            <a:r>
              <a:rPr lang="en-IN" dirty="0"/>
              <a:t>N-grams are an alternative to single words in the tokenization process.</a:t>
            </a:r>
          </a:p>
          <a:p>
            <a:pPr algn="just"/>
            <a:r>
              <a:rPr lang="en-IN" dirty="0"/>
              <a:t>N-grams are tokens; they are consecutive word sequences with length n. </a:t>
            </a:r>
          </a:p>
          <a:p>
            <a:pPr algn="just"/>
            <a:r>
              <a:rPr lang="en-IN" dirty="0"/>
              <a:t>For instance, bigrams are tokens composed of two side-by-side words; a single word is known as a unigram. </a:t>
            </a:r>
          </a:p>
          <a:p>
            <a:pPr algn="just"/>
            <a:r>
              <a:rPr lang="en-IN" dirty="0"/>
              <a:t>N-grams retain information about the co-occurrence of words, because they group adjacent words into the same token. </a:t>
            </a:r>
          </a:p>
          <a:p>
            <a:pPr algn="just"/>
            <a:r>
              <a:rPr lang="en-IN" dirty="0"/>
              <a:t>Visualize the process as a picture frame that contains n words. Initially, the frame rests over the first n words. This counts as a token. The frame then moves over one word resulting in the exclusion of the first word. This is the second token. This process repeats for the length of the text (</a:t>
            </a:r>
            <a:r>
              <a:rPr lang="en-IN" dirty="0" err="1"/>
              <a:t>Struhl</a:t>
            </a:r>
            <a:r>
              <a:rPr lang="en-IN" dirty="0"/>
              <a:t> 2015). </a:t>
            </a:r>
            <a:endParaRPr lang="en-US" dirty="0"/>
          </a:p>
        </p:txBody>
      </p:sp>
      <p:pic>
        <p:nvPicPr>
          <p:cNvPr id="4" name="Picture 3">
            <a:extLst>
              <a:ext uri="{FF2B5EF4-FFF2-40B4-BE49-F238E27FC236}">
                <a16:creationId xmlns:a16="http://schemas.microsoft.com/office/drawing/2014/main" id="{BCF197AE-A1C4-ACA7-E35B-AE6BC8C839E6}"/>
              </a:ext>
            </a:extLst>
          </p:cNvPr>
          <p:cNvPicPr>
            <a:picLocks noChangeAspect="1"/>
          </p:cNvPicPr>
          <p:nvPr/>
        </p:nvPicPr>
        <p:blipFill>
          <a:blip r:embed="rId2"/>
          <a:stretch>
            <a:fillRect/>
          </a:stretch>
        </p:blipFill>
        <p:spPr>
          <a:xfrm>
            <a:off x="5167086" y="5003800"/>
            <a:ext cx="3606800" cy="1854200"/>
          </a:xfrm>
          <a:prstGeom prst="rect">
            <a:avLst/>
          </a:prstGeom>
        </p:spPr>
      </p:pic>
    </p:spTree>
    <p:extLst>
      <p:ext uri="{BB962C8B-B14F-4D97-AF65-F5344CB8AC3E}">
        <p14:creationId xmlns:p14="http://schemas.microsoft.com/office/powerpoint/2010/main" val="3822802412"/>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9A8A232-F2BB-B341-EAA8-DC245AE60934}"/>
              </a:ext>
            </a:extLst>
          </p:cNvPr>
          <p:cNvSpPr>
            <a:spLocks noGrp="1"/>
          </p:cNvSpPr>
          <p:nvPr>
            <p:ph type="title"/>
          </p:nvPr>
        </p:nvSpPr>
        <p:spPr/>
        <p:txBody>
          <a:bodyPr/>
          <a:lstStyle/>
          <a:p>
            <a:r>
              <a:rPr lang="en-IN" dirty="0"/>
              <a:t>Standardization and Cleaning</a:t>
            </a:r>
            <a:endParaRPr lang="en-US" dirty="0"/>
          </a:p>
        </p:txBody>
      </p:sp>
      <p:sp>
        <p:nvSpPr>
          <p:cNvPr id="3" name="Content Placeholder 2">
            <a:extLst>
              <a:ext uri="{FF2B5EF4-FFF2-40B4-BE49-F238E27FC236}">
                <a16:creationId xmlns:a16="http://schemas.microsoft.com/office/drawing/2014/main" id="{86FAC49A-B32B-E46E-5DE2-7E30340F5728}"/>
              </a:ext>
            </a:extLst>
          </p:cNvPr>
          <p:cNvSpPr>
            <a:spLocks noGrp="1"/>
          </p:cNvSpPr>
          <p:nvPr>
            <p:ph idx="1"/>
          </p:nvPr>
        </p:nvSpPr>
        <p:spPr/>
        <p:txBody>
          <a:bodyPr>
            <a:normAutofit fontScale="92500" lnSpcReduction="20000"/>
          </a:bodyPr>
          <a:lstStyle/>
          <a:p>
            <a:pPr algn="just"/>
            <a:r>
              <a:rPr lang="en-IN" dirty="0"/>
              <a:t>First, we want to standardize and clean the tokens. These transformations level the playing field by making the terms in each of the documents comparable. For instance, we do not want character, character, and Character to be considered separate items just because one has a comma, and another has an upper case C. This standardization and cleaning prevents this possibility from occurring.</a:t>
            </a:r>
          </a:p>
          <a:p>
            <a:pPr algn="just"/>
            <a:r>
              <a:rPr lang="en-IN" dirty="0"/>
              <a:t> Our first step is to convert the terms in the text to lower case. In this step, any capital letters are converted to lower case. </a:t>
            </a:r>
          </a:p>
          <a:p>
            <a:pPr algn="just"/>
            <a:r>
              <a:rPr lang="en-IN" dirty="0"/>
              <a:t>Following this conversion, we want to remove numbers, punctuation, and special characters. In real-world text data, there may be additional characters and tokens to clean. For instance, in some text documents, there may be extra spaces, such as white space. These are also eliminated at this stage. </a:t>
            </a:r>
            <a:endParaRPr lang="en-US" dirty="0"/>
          </a:p>
        </p:txBody>
      </p:sp>
    </p:spTree>
    <p:extLst>
      <p:ext uri="{BB962C8B-B14F-4D97-AF65-F5344CB8AC3E}">
        <p14:creationId xmlns:p14="http://schemas.microsoft.com/office/powerpoint/2010/main" val="3573447845"/>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BA41807-ABC0-1484-78FE-D7CDD900153C}"/>
              </a:ext>
            </a:extLst>
          </p:cNvPr>
          <p:cNvSpPr>
            <a:spLocks noGrp="1"/>
          </p:cNvSpPr>
          <p:nvPr>
            <p:ph type="title"/>
          </p:nvPr>
        </p:nvSpPr>
        <p:spPr/>
        <p:txBody>
          <a:bodyPr/>
          <a:lstStyle/>
          <a:p>
            <a:r>
              <a:rPr lang="en-IN" dirty="0"/>
              <a:t>Stop Word Removal</a:t>
            </a:r>
            <a:endParaRPr lang="en-US" dirty="0"/>
          </a:p>
        </p:txBody>
      </p:sp>
      <p:sp>
        <p:nvSpPr>
          <p:cNvPr id="3" name="Content Placeholder 2">
            <a:extLst>
              <a:ext uri="{FF2B5EF4-FFF2-40B4-BE49-F238E27FC236}">
                <a16:creationId xmlns:a16="http://schemas.microsoft.com/office/drawing/2014/main" id="{96FCA020-60AA-FD99-1FD7-0709A834F772}"/>
              </a:ext>
            </a:extLst>
          </p:cNvPr>
          <p:cNvSpPr>
            <a:spLocks noGrp="1"/>
          </p:cNvSpPr>
          <p:nvPr>
            <p:ph idx="1"/>
          </p:nvPr>
        </p:nvSpPr>
        <p:spPr/>
        <p:txBody>
          <a:bodyPr>
            <a:normAutofit fontScale="92500" lnSpcReduction="20000"/>
          </a:bodyPr>
          <a:lstStyle/>
          <a:p>
            <a:r>
              <a:rPr lang="en-IN" dirty="0"/>
              <a:t>Next, we want to drop frequently used filler words, or stop words, which add no value to the analysis. According to the Oxford English Dictionary, and, the, be, to, and of are the most common words in the English language.</a:t>
            </a:r>
          </a:p>
          <a:p>
            <a:r>
              <a:rPr lang="en-IN" dirty="0"/>
              <a:t> In the case of text analysis, we remove common terms because, although common terms such as these serve a grammatical purpose, they provide little information in terms of content (Salton 1989; Wilbur and Sirotkin 1992).</a:t>
            </a:r>
          </a:p>
          <a:p>
            <a:r>
              <a:rPr lang="en-IN" dirty="0"/>
              <a:t> A collection of stop words is known as a stop list. Alternatively, this collection of words can be known as a dictionary. These lists include many different languages and methods.2 The SMART information retrieval system, introduced by Salton (1971), has a popular stop word list containing 571 words.</a:t>
            </a:r>
            <a:endParaRPr lang="en-US" dirty="0"/>
          </a:p>
        </p:txBody>
      </p:sp>
    </p:spTree>
    <p:extLst>
      <p:ext uri="{BB962C8B-B14F-4D97-AF65-F5344CB8AC3E}">
        <p14:creationId xmlns:p14="http://schemas.microsoft.com/office/powerpoint/2010/main" val="1367967817"/>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F3CA68-5FE5-0C30-B696-E61E72A0145C}"/>
              </a:ext>
            </a:extLst>
          </p:cNvPr>
          <p:cNvSpPr>
            <a:spLocks noGrp="1"/>
          </p:cNvSpPr>
          <p:nvPr>
            <p:ph type="title"/>
          </p:nvPr>
        </p:nvSpPr>
        <p:spPr/>
        <p:txBody>
          <a:bodyPr/>
          <a:lstStyle/>
          <a:p>
            <a:r>
              <a:rPr lang="en-IN" dirty="0"/>
              <a:t>Custom Stop Word Dictionaries</a:t>
            </a:r>
            <a:endParaRPr lang="en-US" dirty="0"/>
          </a:p>
        </p:txBody>
      </p:sp>
      <p:sp>
        <p:nvSpPr>
          <p:cNvPr id="3" name="Content Placeholder 2">
            <a:extLst>
              <a:ext uri="{FF2B5EF4-FFF2-40B4-BE49-F238E27FC236}">
                <a16:creationId xmlns:a16="http://schemas.microsoft.com/office/drawing/2014/main" id="{B752A274-4D9E-4F2E-C75E-9BE9D0B10E74}"/>
              </a:ext>
            </a:extLst>
          </p:cNvPr>
          <p:cNvSpPr>
            <a:spLocks noGrp="1"/>
          </p:cNvSpPr>
          <p:nvPr>
            <p:ph idx="1"/>
          </p:nvPr>
        </p:nvSpPr>
        <p:spPr/>
        <p:txBody>
          <a:bodyPr>
            <a:normAutofit fontScale="70000" lnSpcReduction="20000"/>
          </a:bodyPr>
          <a:lstStyle/>
          <a:p>
            <a:pPr algn="just"/>
            <a:r>
              <a:rPr lang="en-IN" dirty="0"/>
              <a:t>Standard stop word dictionaries eliminate many of the most common words in a given language, but sometimes we also want to drop domain- or project-specific words or tokens.</a:t>
            </a:r>
          </a:p>
          <a:p>
            <a:pPr algn="just"/>
            <a:r>
              <a:rPr lang="en-IN" dirty="0"/>
              <a:t> In this case we can build a custom dictionary to complete this task. Often, projects will have topic-specific words that occur frequently but add little value. </a:t>
            </a:r>
          </a:p>
          <a:p>
            <a:pPr algn="just"/>
            <a:r>
              <a:rPr lang="en-IN" dirty="0"/>
              <a:t>To identify these words, we can also look at term frequencies. Words that have high frequencies across all documents in our collection but do not provide informational content are good candidates for removal. After making these choices, we can select a subset of the data with the term in it and read it. </a:t>
            </a:r>
          </a:p>
          <a:p>
            <a:pPr algn="just"/>
            <a:r>
              <a:rPr lang="en-IN" dirty="0"/>
              <a:t>While reading, we want to ensure that the term does not provide information that is relevant to the analysis question. In the creation of a custom stop word dictionary, the process should be repeated, creating subsets for reading several times to check for multiple uses of the term (Inmon 2017). </a:t>
            </a:r>
          </a:p>
          <a:p>
            <a:pPr algn="just"/>
            <a:r>
              <a:rPr lang="en-IN" dirty="0"/>
              <a:t>Custom dictionaries can be used in many text analysis projects and not exclusively to filter stop words. Custom dictionaries are created in information retrieval to find keywords in context (KWIC). Instead of finding tokens for removal, these keywords are used as search terms. </a:t>
            </a:r>
            <a:endParaRPr lang="en-US" dirty="0"/>
          </a:p>
        </p:txBody>
      </p:sp>
    </p:spTree>
    <p:extLst>
      <p:ext uri="{BB962C8B-B14F-4D97-AF65-F5344CB8AC3E}">
        <p14:creationId xmlns:p14="http://schemas.microsoft.com/office/powerpoint/2010/main" val="1827030955"/>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5D51694-6798-5618-9DEB-B6404A220FB7}"/>
              </a:ext>
            </a:extLst>
          </p:cNvPr>
          <p:cNvSpPr>
            <a:spLocks noGrp="1"/>
          </p:cNvSpPr>
          <p:nvPr>
            <p:ph type="title"/>
          </p:nvPr>
        </p:nvSpPr>
        <p:spPr/>
        <p:txBody>
          <a:bodyPr/>
          <a:lstStyle/>
          <a:p>
            <a:r>
              <a:rPr lang="en-IN" dirty="0"/>
              <a:t>Stemming and Lemmatization</a:t>
            </a:r>
            <a:endParaRPr lang="en-US" dirty="0"/>
          </a:p>
        </p:txBody>
      </p:sp>
      <p:sp>
        <p:nvSpPr>
          <p:cNvPr id="3" name="Content Placeholder 2">
            <a:extLst>
              <a:ext uri="{FF2B5EF4-FFF2-40B4-BE49-F238E27FC236}">
                <a16:creationId xmlns:a16="http://schemas.microsoft.com/office/drawing/2014/main" id="{43225F02-EAD8-AF6B-276C-2A1DC23A2978}"/>
              </a:ext>
            </a:extLst>
          </p:cNvPr>
          <p:cNvSpPr>
            <a:spLocks noGrp="1"/>
          </p:cNvSpPr>
          <p:nvPr>
            <p:ph idx="1"/>
          </p:nvPr>
        </p:nvSpPr>
        <p:spPr/>
        <p:txBody>
          <a:bodyPr>
            <a:normAutofit fontScale="55000" lnSpcReduction="20000"/>
          </a:bodyPr>
          <a:lstStyle/>
          <a:p>
            <a:r>
              <a:rPr lang="en-IN" dirty="0"/>
              <a:t>The final stage is to perform either stemming or lemmatization on the documents.</a:t>
            </a:r>
          </a:p>
          <a:p>
            <a:r>
              <a:rPr lang="en-IN" dirty="0"/>
              <a:t> Stemming and lemmatization involve breaking words down to their root word.</a:t>
            </a:r>
          </a:p>
          <a:p>
            <a:r>
              <a:rPr lang="en-IN" dirty="0"/>
              <a:t> Stemming involves the removal of a word’s suffix to reduce the size of the vocabulary (Porter 1980). </a:t>
            </a:r>
          </a:p>
          <a:p>
            <a:r>
              <a:rPr lang="en-IN" dirty="0"/>
              <a:t>Lemmatization is similar to stemming, except it incorporates information about the term’s part of speech (Yatsko 2011).</a:t>
            </a:r>
          </a:p>
          <a:p>
            <a:r>
              <a:rPr lang="en-IN" dirty="0"/>
              <a:t>Both methods combine words that contain the same root into a single token to reduce the number of unique tokens within the analysis set. </a:t>
            </a:r>
          </a:p>
          <a:p>
            <a:r>
              <a:rPr lang="en-IN" dirty="0"/>
              <a:t>Words with a common root often share a similar meaning.</a:t>
            </a:r>
          </a:p>
          <a:p>
            <a:r>
              <a:rPr lang="en-IN" dirty="0"/>
              <a:t> These words are then grouped into one token (Manning et al. 2008). There are exceptions to the roots of words sharing the same meaning, but the added reduction in complexity is often worth the price of incorrectly categorizing a few words. </a:t>
            </a:r>
          </a:p>
          <a:p>
            <a:r>
              <a:rPr lang="en-IN" dirty="0"/>
              <a:t>As an example, let’s use the root train. Train has several forms, including: </a:t>
            </a:r>
          </a:p>
          <a:p>
            <a:pPr marL="457200" lvl="1" indent="0">
              <a:buNone/>
            </a:pPr>
            <a:r>
              <a:rPr lang="en-IN" dirty="0"/>
              <a:t>– Train</a:t>
            </a:r>
          </a:p>
          <a:p>
            <a:pPr marL="457200" lvl="1" indent="0">
              <a:buNone/>
            </a:pPr>
            <a:r>
              <a:rPr lang="en-IN" dirty="0"/>
              <a:t> – Trains</a:t>
            </a:r>
          </a:p>
          <a:p>
            <a:pPr marL="457200" lvl="1" indent="0">
              <a:buNone/>
            </a:pPr>
            <a:r>
              <a:rPr lang="en-IN" dirty="0"/>
              <a:t> – Trained</a:t>
            </a:r>
          </a:p>
          <a:p>
            <a:pPr marL="457200" lvl="1" indent="0">
              <a:buNone/>
            </a:pPr>
            <a:r>
              <a:rPr lang="en-IN" dirty="0"/>
              <a:t> – Training</a:t>
            </a:r>
          </a:p>
          <a:p>
            <a:pPr marL="457200" lvl="1" indent="0">
              <a:buNone/>
            </a:pPr>
            <a:r>
              <a:rPr lang="en-IN" dirty="0"/>
              <a:t> – Trainer</a:t>
            </a:r>
          </a:p>
        </p:txBody>
      </p:sp>
    </p:spTree>
    <p:extLst>
      <p:ext uri="{BB962C8B-B14F-4D97-AF65-F5344CB8AC3E}">
        <p14:creationId xmlns:p14="http://schemas.microsoft.com/office/powerpoint/2010/main" val="2513216769"/>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BAD05B7-0C99-E8E2-82DF-B3F283E9E441}"/>
              </a:ext>
            </a:extLst>
          </p:cNvPr>
          <p:cNvSpPr>
            <a:spLocks noGrp="1"/>
          </p:cNvSpPr>
          <p:nvPr>
            <p:ph type="title"/>
          </p:nvPr>
        </p:nvSpPr>
        <p:spPr/>
        <p:txBody>
          <a:bodyPr/>
          <a:lstStyle/>
          <a:p>
            <a:r>
              <a:rPr lang="en-IN" dirty="0"/>
              <a:t>Lemmatization</a:t>
            </a:r>
            <a:endParaRPr lang="en-US" dirty="0"/>
          </a:p>
        </p:txBody>
      </p:sp>
      <p:sp>
        <p:nvSpPr>
          <p:cNvPr id="3" name="Content Placeholder 2">
            <a:extLst>
              <a:ext uri="{FF2B5EF4-FFF2-40B4-BE49-F238E27FC236}">
                <a16:creationId xmlns:a16="http://schemas.microsoft.com/office/drawing/2014/main" id="{E33AB215-1397-14EE-982D-A38F9A499FF3}"/>
              </a:ext>
            </a:extLst>
          </p:cNvPr>
          <p:cNvSpPr>
            <a:spLocks noGrp="1"/>
          </p:cNvSpPr>
          <p:nvPr>
            <p:ph idx="1"/>
          </p:nvPr>
        </p:nvSpPr>
        <p:spPr/>
        <p:txBody>
          <a:bodyPr>
            <a:normAutofit/>
          </a:bodyPr>
          <a:lstStyle/>
          <a:p>
            <a:r>
              <a:rPr lang="en-IN" dirty="0"/>
              <a:t>One difficulty encountered with stemming (and text analytics in general) is that a single word could have multiple meanings depending on the word’s context or part of speech. </a:t>
            </a:r>
          </a:p>
          <a:p>
            <a:r>
              <a:rPr lang="en-IN" dirty="0"/>
              <a:t>Lemmatization deals with this problem by including the part of speech in the rules grouping word roots. This inclusion allows for separate rules for words with multiple meanings depending on the part of speech (Manning et al. 2008).</a:t>
            </a:r>
          </a:p>
          <a:p>
            <a:r>
              <a:rPr lang="en-IN" dirty="0"/>
              <a:t> This method helps improve the algorithm by correctly grouping tokens at the cost of added complexity. </a:t>
            </a:r>
            <a:endParaRPr lang="en-US" dirty="0"/>
          </a:p>
        </p:txBody>
      </p:sp>
    </p:spTree>
    <p:extLst>
      <p:ext uri="{BB962C8B-B14F-4D97-AF65-F5344CB8AC3E}">
        <p14:creationId xmlns:p14="http://schemas.microsoft.com/office/powerpoint/2010/main" val="1617680671"/>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B78D52F-8D88-B9A2-9F46-0F2FDC9F33AF}"/>
              </a:ext>
            </a:extLst>
          </p:cNvPr>
          <p:cNvSpPr>
            <a:spLocks noGrp="1"/>
          </p:cNvSpPr>
          <p:nvPr>
            <p:ph type="title"/>
          </p:nvPr>
        </p:nvSpPr>
        <p:spPr/>
        <p:txBody>
          <a:bodyPr/>
          <a:lstStyle/>
          <a:p>
            <a:r>
              <a:rPr lang="en-US" dirty="0"/>
              <a:t>Python Lab 2</a:t>
            </a:r>
          </a:p>
        </p:txBody>
      </p:sp>
      <p:sp>
        <p:nvSpPr>
          <p:cNvPr id="3" name="Content Placeholder 2">
            <a:extLst>
              <a:ext uri="{FF2B5EF4-FFF2-40B4-BE49-F238E27FC236}">
                <a16:creationId xmlns:a16="http://schemas.microsoft.com/office/drawing/2014/main" id="{73941385-4425-B8AA-992C-0067443964F7}"/>
              </a:ext>
            </a:extLst>
          </p:cNvPr>
          <p:cNvSpPr>
            <a:spLocks noGrp="1"/>
          </p:cNvSpPr>
          <p:nvPr>
            <p:ph idx="1"/>
          </p:nvPr>
        </p:nvSpPr>
        <p:spPr/>
        <p:txBody>
          <a:bodyPr/>
          <a:lstStyle/>
          <a:p>
            <a:r>
              <a:rPr lang="en-US" dirty="0">
                <a:hlinkClick r:id="rId2"/>
              </a:rPr>
              <a:t>https://colab.research.google.com/drive/1lrSkIRz-2cpsUftgc5Ma7iLxOWx2Cdm3?usp=sharing</a:t>
            </a:r>
            <a:endParaRPr lang="en-US" dirty="0"/>
          </a:p>
          <a:p>
            <a:r>
              <a:rPr lang="en-US" dirty="0">
                <a:hlinkClick r:id="rId3"/>
              </a:rPr>
              <a:t>https://www.kaggle.com/datasets/uciml/sms-spam-collection-dataset?resource=download</a:t>
            </a:r>
            <a:endParaRPr lang="en-US" dirty="0"/>
          </a:p>
          <a:p>
            <a:endParaRPr lang="en-US" dirty="0"/>
          </a:p>
          <a:p>
            <a:r>
              <a:rPr lang="en-US" dirty="0"/>
              <a:t>Perform all the Data Preprocessing Steps on any Textual Dataset</a:t>
            </a:r>
          </a:p>
          <a:p>
            <a:endParaRPr lang="en-US" dirty="0"/>
          </a:p>
        </p:txBody>
      </p:sp>
    </p:spTree>
    <p:extLst>
      <p:ext uri="{BB962C8B-B14F-4D97-AF65-F5344CB8AC3E}">
        <p14:creationId xmlns:p14="http://schemas.microsoft.com/office/powerpoint/2010/main" val="3405568575"/>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5EBF0E2-3956-F071-CE16-BE77282EBFD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05DF0F8-82EC-F278-246D-3BB892F63A22}"/>
              </a:ext>
            </a:extLst>
          </p:cNvPr>
          <p:cNvSpPr>
            <a:spLocks noGrp="1"/>
          </p:cNvSpPr>
          <p:nvPr>
            <p:ph type="title"/>
          </p:nvPr>
        </p:nvSpPr>
        <p:spPr/>
        <p:txBody>
          <a:bodyPr/>
          <a:lstStyle/>
          <a:p>
            <a:r>
              <a:rPr lang="en-US" dirty="0"/>
              <a:t>Unit 1: Vector Space Model of Retrieval</a:t>
            </a:r>
          </a:p>
        </p:txBody>
      </p:sp>
      <p:sp>
        <p:nvSpPr>
          <p:cNvPr id="3" name="Content Placeholder 2">
            <a:extLst>
              <a:ext uri="{FF2B5EF4-FFF2-40B4-BE49-F238E27FC236}">
                <a16:creationId xmlns:a16="http://schemas.microsoft.com/office/drawing/2014/main" id="{B6412B1A-8F14-EFC4-E603-333F958FAD24}"/>
              </a:ext>
            </a:extLst>
          </p:cNvPr>
          <p:cNvSpPr>
            <a:spLocks noGrp="1"/>
          </p:cNvSpPr>
          <p:nvPr>
            <p:ph idx="1"/>
          </p:nvPr>
        </p:nvSpPr>
        <p:spPr/>
        <p:txBody>
          <a:bodyPr>
            <a:normAutofit fontScale="55000" lnSpcReduction="20000"/>
          </a:bodyPr>
          <a:lstStyle/>
          <a:p>
            <a:r>
              <a:rPr lang="en-US" strike="sngStrike" dirty="0"/>
              <a:t>Word Statistics</a:t>
            </a:r>
          </a:p>
          <a:p>
            <a:r>
              <a:rPr lang="en-US" strike="sngStrike" dirty="0"/>
              <a:t>Text preprocessing</a:t>
            </a:r>
          </a:p>
          <a:p>
            <a:r>
              <a:rPr lang="en-US" dirty="0"/>
              <a:t>Term Weighting</a:t>
            </a:r>
          </a:p>
          <a:p>
            <a:r>
              <a:rPr lang="en-US" dirty="0"/>
              <a:t>Similarity Function</a:t>
            </a:r>
          </a:p>
          <a:p>
            <a:r>
              <a:rPr lang="en-US" dirty="0"/>
              <a:t>Indexing</a:t>
            </a:r>
          </a:p>
          <a:p>
            <a:r>
              <a:rPr lang="en-US" dirty="0"/>
              <a:t>Relevance Feedback</a:t>
            </a:r>
          </a:p>
          <a:p>
            <a:r>
              <a:rPr lang="en-US" dirty="0"/>
              <a:t>Query Expansion(With Local Analysis from External Resources)</a:t>
            </a:r>
          </a:p>
          <a:p>
            <a:r>
              <a:rPr lang="en-US" dirty="0"/>
              <a:t>The impact of Document Normalization</a:t>
            </a:r>
          </a:p>
          <a:p>
            <a:r>
              <a:rPr lang="en-US" dirty="0"/>
              <a:t>Multi-Field Retrieval</a:t>
            </a:r>
          </a:p>
          <a:p>
            <a:r>
              <a:rPr lang="en-US" dirty="0"/>
              <a:t>Evaluation of Retrieval</a:t>
            </a:r>
          </a:p>
          <a:p>
            <a:r>
              <a:rPr lang="en-US" dirty="0"/>
              <a:t>Applications</a:t>
            </a:r>
          </a:p>
          <a:p>
            <a:r>
              <a:rPr lang="en-US" dirty="0"/>
              <a:t>Disadvantages</a:t>
            </a:r>
          </a:p>
          <a:p>
            <a:r>
              <a:rPr lang="en-US" dirty="0"/>
              <a:t>Incentives for Engaging in Electronic Commerce</a:t>
            </a:r>
          </a:p>
          <a:p>
            <a:r>
              <a:rPr lang="en-US" dirty="0"/>
              <a:t>Forces behind E-</a:t>
            </a:r>
            <a:r>
              <a:rPr lang="en-US" dirty="0" err="1"/>
              <a:t>commerece</a:t>
            </a:r>
            <a:endParaRPr lang="en-US" dirty="0"/>
          </a:p>
        </p:txBody>
      </p:sp>
    </p:spTree>
    <p:extLst>
      <p:ext uri="{BB962C8B-B14F-4D97-AF65-F5344CB8AC3E}">
        <p14:creationId xmlns:p14="http://schemas.microsoft.com/office/powerpoint/2010/main" val="163419391"/>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24DE83B-D529-174B-634C-69887CC3147C}"/>
              </a:ext>
            </a:extLst>
          </p:cNvPr>
          <p:cNvSpPr>
            <a:spLocks noGrp="1"/>
          </p:cNvSpPr>
          <p:nvPr>
            <p:ph type="title"/>
          </p:nvPr>
        </p:nvSpPr>
        <p:spPr/>
        <p:txBody>
          <a:bodyPr/>
          <a:lstStyle/>
          <a:p>
            <a:r>
              <a:rPr lang="en-US" dirty="0"/>
              <a:t>Term Weighting</a:t>
            </a:r>
          </a:p>
        </p:txBody>
      </p:sp>
      <p:pic>
        <p:nvPicPr>
          <p:cNvPr id="4" name="Content Placeholder 3">
            <a:extLst>
              <a:ext uri="{FF2B5EF4-FFF2-40B4-BE49-F238E27FC236}">
                <a16:creationId xmlns:a16="http://schemas.microsoft.com/office/drawing/2014/main" id="{9231B3BF-4322-42E1-A17C-262691945502}"/>
              </a:ext>
            </a:extLst>
          </p:cNvPr>
          <p:cNvPicPr>
            <a:picLocks noGrp="1" noChangeAspect="1"/>
          </p:cNvPicPr>
          <p:nvPr>
            <p:ph idx="1"/>
          </p:nvPr>
        </p:nvPicPr>
        <p:blipFill>
          <a:blip r:embed="rId2"/>
          <a:srcRect l="2487" t="5076" r="4478" b="5362"/>
          <a:stretch>
            <a:fillRect/>
          </a:stretch>
        </p:blipFill>
        <p:spPr>
          <a:xfrm>
            <a:off x="838200" y="1502229"/>
            <a:ext cx="7282543" cy="5239856"/>
          </a:xfrm>
          <a:prstGeom prst="rect">
            <a:avLst/>
          </a:prstGeom>
        </p:spPr>
      </p:pic>
      <p:sp>
        <p:nvSpPr>
          <p:cNvPr id="5" name="TextBox 4">
            <a:extLst>
              <a:ext uri="{FF2B5EF4-FFF2-40B4-BE49-F238E27FC236}">
                <a16:creationId xmlns:a16="http://schemas.microsoft.com/office/drawing/2014/main" id="{6B24F7C6-210D-3B36-8197-6693445EC6CF}"/>
              </a:ext>
            </a:extLst>
          </p:cNvPr>
          <p:cNvSpPr txBox="1"/>
          <p:nvPr/>
        </p:nvSpPr>
        <p:spPr>
          <a:xfrm>
            <a:off x="7815943" y="2416629"/>
            <a:ext cx="4027714" cy="3970318"/>
          </a:xfrm>
          <a:prstGeom prst="rect">
            <a:avLst/>
          </a:prstGeom>
          <a:noFill/>
        </p:spPr>
        <p:txBody>
          <a:bodyPr wrap="square" rtlCol="0">
            <a:spAutoFit/>
          </a:bodyPr>
          <a:lstStyle/>
          <a:p>
            <a:r>
              <a:rPr lang="en-US" dirty="0"/>
              <a:t>Query 1: No of times a term is appearing in the document</a:t>
            </a:r>
          </a:p>
          <a:p>
            <a:r>
              <a:rPr lang="en-US" dirty="0"/>
              <a:t>d1:5</a:t>
            </a:r>
          </a:p>
          <a:p>
            <a:r>
              <a:rPr lang="en-US" dirty="0"/>
              <a:t>d2:2</a:t>
            </a:r>
          </a:p>
          <a:p>
            <a:r>
              <a:rPr lang="en-US" dirty="0"/>
              <a:t>d3:3</a:t>
            </a:r>
          </a:p>
          <a:p>
            <a:r>
              <a:rPr lang="en-US" dirty="0"/>
              <a:t>d4:6</a:t>
            </a:r>
          </a:p>
          <a:p>
            <a:r>
              <a:rPr lang="en-US" dirty="0"/>
              <a:t>d5:4</a:t>
            </a:r>
          </a:p>
          <a:p>
            <a:r>
              <a:rPr lang="en-US" dirty="0"/>
              <a:t>Query 2: Whether the query term is appearing or not</a:t>
            </a:r>
          </a:p>
          <a:p>
            <a:r>
              <a:rPr lang="en-US" dirty="0"/>
              <a:t>d1:2</a:t>
            </a:r>
          </a:p>
          <a:p>
            <a:r>
              <a:rPr lang="en-US" dirty="0"/>
              <a:t>d2:1</a:t>
            </a:r>
          </a:p>
          <a:p>
            <a:r>
              <a:rPr lang="en-US" dirty="0"/>
              <a:t>d3:2</a:t>
            </a:r>
          </a:p>
          <a:p>
            <a:r>
              <a:rPr lang="en-US" dirty="0"/>
              <a:t>d4:3</a:t>
            </a:r>
          </a:p>
          <a:p>
            <a:r>
              <a:rPr lang="en-US" dirty="0"/>
              <a:t>d5:3</a:t>
            </a:r>
          </a:p>
        </p:txBody>
      </p:sp>
    </p:spTree>
    <p:extLst>
      <p:ext uri="{BB962C8B-B14F-4D97-AF65-F5344CB8AC3E}">
        <p14:creationId xmlns:p14="http://schemas.microsoft.com/office/powerpoint/2010/main" val="706598223"/>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433962A-E927-FC53-7E4A-95F1D42F6915}"/>
              </a:ext>
            </a:extLst>
          </p:cNvPr>
          <p:cNvSpPr>
            <a:spLocks noGrp="1"/>
          </p:cNvSpPr>
          <p:nvPr>
            <p:ph type="title"/>
          </p:nvPr>
        </p:nvSpPr>
        <p:spPr/>
        <p:txBody>
          <a:bodyPr/>
          <a:lstStyle/>
          <a:p>
            <a:r>
              <a:rPr lang="en-IN" dirty="0"/>
              <a:t>Introduction to Term Weighting (Ranked Retrieval)</a:t>
            </a:r>
            <a:endParaRPr lang="en-US" dirty="0"/>
          </a:p>
        </p:txBody>
      </p:sp>
      <p:sp>
        <p:nvSpPr>
          <p:cNvPr id="4" name="Rectangle 1">
            <a:extLst>
              <a:ext uri="{FF2B5EF4-FFF2-40B4-BE49-F238E27FC236}">
                <a16:creationId xmlns:a16="http://schemas.microsoft.com/office/drawing/2014/main" id="{0E0C399D-7CDA-168E-71A7-3990731043A7}"/>
              </a:ext>
            </a:extLst>
          </p:cNvPr>
          <p:cNvSpPr>
            <a:spLocks noGrp="1" noChangeArrowheads="1"/>
          </p:cNvSpPr>
          <p:nvPr>
            <p:ph idx="1"/>
          </p:nvPr>
        </p:nvSpPr>
        <p:spPr bwMode="auto">
          <a:xfrm>
            <a:off x="1028602" y="1934764"/>
            <a:ext cx="10477598" cy="440120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indent="0" algn="just" eaLnBrk="0" fontAlgn="base" hangingPunct="0">
              <a:lnSpc>
                <a:spcPct val="100000"/>
              </a:lnSpc>
              <a:spcBef>
                <a:spcPct val="0"/>
              </a:spcBef>
              <a:spcAft>
                <a:spcPct val="0"/>
              </a:spcAft>
              <a:buFontTx/>
              <a:buChar char="•"/>
            </a:pPr>
            <a:r>
              <a:rPr kumimoji="0" lang="en-US" altLang="en-US" b="0" i="0" u="none" strike="noStrike" cap="none" normalizeH="0" baseline="0" dirty="0">
                <a:ln>
                  <a:noFill/>
                </a:ln>
                <a:solidFill>
                  <a:schemeClr val="tx1"/>
                </a:solidFill>
                <a:effectLst/>
                <a:latin typeface="Arial" panose="020B0604020202020204" pitchFamily="34" charset="0"/>
              </a:rPr>
              <a:t>Information Retrieval </a:t>
            </a:r>
            <a:r>
              <a:rPr lang="en-US" altLang="en-US" dirty="0">
                <a:latin typeface="Arial" panose="020B0604020202020204" pitchFamily="34" charset="0"/>
              </a:rPr>
              <a:t>→ finding relevant documents for a user’s query</a:t>
            </a:r>
            <a:endParaRPr kumimoji="0" lang="en-US" altLang="en-US" b="0" i="0" u="none" strike="noStrike" cap="none" normalizeH="0" baseline="0" dirty="0">
              <a:ln>
                <a:noFill/>
              </a:ln>
              <a:solidFill>
                <a:schemeClr val="tx1"/>
              </a:solidFill>
              <a:effectLst/>
              <a:latin typeface="Arial" panose="020B0604020202020204" pitchFamily="34" charset="0"/>
            </a:endParaRPr>
          </a:p>
          <a:p>
            <a:pPr marL="0" marR="0" lvl="0" indent="0" algn="just" defTabSz="914400" rtl="0" eaLnBrk="0" fontAlgn="base" latinLnBrk="0" hangingPunct="0">
              <a:lnSpc>
                <a:spcPct val="100000"/>
              </a:lnSpc>
              <a:spcBef>
                <a:spcPct val="0"/>
              </a:spcBef>
              <a:spcAft>
                <a:spcPct val="0"/>
              </a:spcAft>
              <a:buClrTx/>
              <a:buSzTx/>
              <a:buFontTx/>
              <a:buChar char="•"/>
              <a:tabLst/>
            </a:pPr>
            <a:r>
              <a:rPr kumimoji="0" lang="en-US" altLang="en-US" b="0" i="0" u="none" strike="noStrike" cap="none" normalizeH="0" baseline="0" dirty="0">
                <a:ln>
                  <a:noFill/>
                </a:ln>
                <a:solidFill>
                  <a:schemeClr val="tx1"/>
                </a:solidFill>
                <a:effectLst/>
                <a:latin typeface="Arial" panose="020B0604020202020204" pitchFamily="34" charset="0"/>
              </a:rPr>
              <a:t>Earlier: </a:t>
            </a:r>
            <a:r>
              <a:rPr kumimoji="0" lang="en-US" altLang="en-US" b="1" i="0" u="none" strike="noStrike" cap="none" normalizeH="0" baseline="0" dirty="0">
                <a:ln>
                  <a:noFill/>
                </a:ln>
                <a:solidFill>
                  <a:schemeClr val="tx1"/>
                </a:solidFill>
                <a:effectLst/>
                <a:latin typeface="Arial" panose="020B0604020202020204" pitchFamily="34" charset="0"/>
              </a:rPr>
              <a:t>Boolean model</a:t>
            </a:r>
            <a:r>
              <a:rPr kumimoji="0" lang="en-US" altLang="en-US" b="0" i="0" u="none" strike="noStrike" cap="none" normalizeH="0" baseline="0" dirty="0">
                <a:ln>
                  <a:noFill/>
                </a:ln>
                <a:solidFill>
                  <a:schemeClr val="tx1"/>
                </a:solidFill>
                <a:effectLst/>
                <a:latin typeface="Arial" panose="020B0604020202020204" pitchFamily="34" charset="0"/>
              </a:rPr>
              <a:t> → document is </a:t>
            </a:r>
            <a:r>
              <a:rPr kumimoji="0" lang="en-US" altLang="en-US" b="0" i="1" u="none" strike="noStrike" cap="none" normalizeH="0" baseline="0" dirty="0">
                <a:ln>
                  <a:noFill/>
                </a:ln>
                <a:solidFill>
                  <a:schemeClr val="tx1"/>
                </a:solidFill>
                <a:effectLst/>
                <a:latin typeface="Arial" panose="020B0604020202020204" pitchFamily="34" charset="0"/>
              </a:rPr>
              <a:t>relevant or not</a:t>
            </a:r>
            <a:r>
              <a:rPr kumimoji="0" lang="en-US" altLang="en-US" b="0" i="0" u="none" strike="noStrike" cap="none" normalizeH="0" baseline="0" dirty="0">
                <a:ln>
                  <a:noFill/>
                </a:ln>
                <a:solidFill>
                  <a:schemeClr val="tx1"/>
                </a:solidFill>
                <a:effectLst/>
                <a:latin typeface="Arial" panose="020B0604020202020204" pitchFamily="34" charset="0"/>
              </a:rPr>
              <a:t>, no ranking</a:t>
            </a:r>
          </a:p>
          <a:p>
            <a:pPr marL="0" marR="0" lvl="0" indent="0" algn="just" defTabSz="914400" rtl="0" eaLnBrk="0" fontAlgn="base" latinLnBrk="0" hangingPunct="0">
              <a:lnSpc>
                <a:spcPct val="100000"/>
              </a:lnSpc>
              <a:spcBef>
                <a:spcPct val="0"/>
              </a:spcBef>
              <a:spcAft>
                <a:spcPct val="0"/>
              </a:spcAft>
              <a:buClrTx/>
              <a:buSzTx/>
              <a:buFontTx/>
              <a:buChar char="•"/>
              <a:tabLst/>
            </a:pPr>
            <a:r>
              <a:rPr kumimoji="0" lang="en-US" altLang="en-US" b="0" i="0" u="none" strike="noStrike" cap="none" normalizeH="0" baseline="0" dirty="0">
                <a:ln>
                  <a:noFill/>
                </a:ln>
                <a:solidFill>
                  <a:schemeClr val="tx1"/>
                </a:solidFill>
                <a:effectLst/>
                <a:latin typeface="Arial" panose="020B0604020202020204" pitchFamily="34" charset="0"/>
              </a:rPr>
              <a:t>Now: </a:t>
            </a:r>
            <a:r>
              <a:rPr kumimoji="0" lang="en-US" altLang="en-US" b="1" i="0" u="none" strike="noStrike" cap="none" normalizeH="0" baseline="0" dirty="0">
                <a:ln>
                  <a:noFill/>
                </a:ln>
                <a:solidFill>
                  <a:schemeClr val="tx1"/>
                </a:solidFill>
                <a:effectLst/>
                <a:latin typeface="Arial" panose="020B0604020202020204" pitchFamily="34" charset="0"/>
              </a:rPr>
              <a:t>Ranked retrieval</a:t>
            </a:r>
            <a:r>
              <a:rPr kumimoji="0" lang="en-US" altLang="en-US" b="0" i="0" u="none" strike="noStrike" cap="none" normalizeH="0" baseline="0" dirty="0">
                <a:ln>
                  <a:noFill/>
                </a:ln>
                <a:solidFill>
                  <a:schemeClr val="tx1"/>
                </a:solidFill>
                <a:effectLst/>
                <a:latin typeface="Arial" panose="020B0604020202020204" pitchFamily="34" charset="0"/>
              </a:rPr>
              <a:t> → some documents are </a:t>
            </a:r>
            <a:r>
              <a:rPr kumimoji="0" lang="en-US" altLang="en-US" b="1" i="0" u="none" strike="noStrike" cap="none" normalizeH="0" baseline="0" dirty="0">
                <a:ln>
                  <a:noFill/>
                </a:ln>
                <a:solidFill>
                  <a:schemeClr val="tx1"/>
                </a:solidFill>
                <a:effectLst/>
                <a:latin typeface="Arial" panose="020B0604020202020204" pitchFamily="34" charset="0"/>
              </a:rPr>
              <a:t>more relevant</a:t>
            </a:r>
            <a:r>
              <a:rPr kumimoji="0" lang="en-US" altLang="en-US" b="0" i="0" u="none" strike="noStrike" cap="none" normalizeH="0" baseline="0" dirty="0">
                <a:ln>
                  <a:noFill/>
                </a:ln>
                <a:solidFill>
                  <a:schemeClr val="tx1"/>
                </a:solidFill>
                <a:effectLst/>
                <a:latin typeface="Arial" panose="020B0604020202020204" pitchFamily="34" charset="0"/>
              </a:rPr>
              <a:t> than others</a:t>
            </a:r>
          </a:p>
          <a:p>
            <a:pPr marL="0" marR="0" lvl="0" indent="0" algn="just" defTabSz="914400" rtl="0" eaLnBrk="0" fontAlgn="base" latinLnBrk="0" hangingPunct="0">
              <a:lnSpc>
                <a:spcPct val="100000"/>
              </a:lnSpc>
              <a:spcBef>
                <a:spcPct val="0"/>
              </a:spcBef>
              <a:spcAft>
                <a:spcPct val="0"/>
              </a:spcAft>
              <a:buClrTx/>
              <a:buSzTx/>
              <a:buFontTx/>
              <a:buChar char="•"/>
              <a:tabLst/>
            </a:pPr>
            <a:r>
              <a:rPr kumimoji="0" lang="en-US" altLang="en-US" b="0" i="0" u="none" strike="noStrike" cap="none" normalizeH="0" baseline="0" dirty="0">
                <a:ln>
                  <a:noFill/>
                </a:ln>
                <a:solidFill>
                  <a:schemeClr val="tx1"/>
                </a:solidFill>
                <a:effectLst/>
                <a:latin typeface="Arial" panose="020B0604020202020204" pitchFamily="34" charset="0"/>
              </a:rPr>
              <a:t>Goal: assign a </a:t>
            </a:r>
            <a:r>
              <a:rPr kumimoji="0" lang="en-US" altLang="en-US" b="1" i="0" u="none" strike="noStrike" cap="none" normalizeH="0" baseline="0" dirty="0">
                <a:ln>
                  <a:noFill/>
                </a:ln>
                <a:solidFill>
                  <a:schemeClr val="tx1"/>
                </a:solidFill>
                <a:effectLst/>
                <a:latin typeface="Arial" panose="020B0604020202020204" pitchFamily="34" charset="0"/>
              </a:rPr>
              <a:t>score</a:t>
            </a:r>
            <a:r>
              <a:rPr kumimoji="0" lang="en-US" altLang="en-US" b="0" i="0" u="none" strike="noStrike" cap="none" normalizeH="0" baseline="0" dirty="0">
                <a:ln>
                  <a:noFill/>
                </a:ln>
                <a:solidFill>
                  <a:schemeClr val="tx1"/>
                </a:solidFill>
                <a:effectLst/>
                <a:latin typeface="Arial" panose="020B0604020202020204" pitchFamily="34" charset="0"/>
              </a:rPr>
              <a:t> to each document for a query, and rank by score</a:t>
            </a:r>
          </a:p>
          <a:p>
            <a:pPr marL="0" marR="0" lvl="0" indent="0" algn="just" defTabSz="914400" rtl="0" eaLnBrk="0" fontAlgn="base" latinLnBrk="0" hangingPunct="0">
              <a:lnSpc>
                <a:spcPct val="100000"/>
              </a:lnSpc>
              <a:spcBef>
                <a:spcPct val="0"/>
              </a:spcBef>
              <a:spcAft>
                <a:spcPct val="0"/>
              </a:spcAft>
              <a:buClrTx/>
              <a:buSzTx/>
              <a:buFontTx/>
              <a:buChar char="•"/>
              <a:tabLst/>
            </a:pPr>
            <a:r>
              <a:rPr kumimoji="0" lang="en-US" altLang="en-US" b="1" i="0" u="none" strike="noStrike" cap="none" normalizeH="0" baseline="0" dirty="0">
                <a:ln>
                  <a:noFill/>
                </a:ln>
                <a:solidFill>
                  <a:schemeClr val="tx1"/>
                </a:solidFill>
                <a:effectLst/>
                <a:latin typeface="Arial" panose="020B0604020202020204" pitchFamily="34" charset="0"/>
              </a:rPr>
              <a:t>Term weighting</a:t>
            </a:r>
            <a:r>
              <a:rPr kumimoji="0" lang="en-US" altLang="en-US" b="0" i="0" u="none" strike="noStrike" cap="none" normalizeH="0" baseline="0" dirty="0">
                <a:ln>
                  <a:noFill/>
                </a:ln>
                <a:solidFill>
                  <a:schemeClr val="tx1"/>
                </a:solidFill>
                <a:effectLst/>
                <a:latin typeface="Arial" panose="020B0604020202020204" pitchFamily="34" charset="0"/>
              </a:rPr>
              <a:t> = deciding </a:t>
            </a:r>
            <a:r>
              <a:rPr kumimoji="0" lang="en-US" altLang="en-US" b="1" i="0" u="none" strike="noStrike" cap="none" normalizeH="0" baseline="0" dirty="0">
                <a:ln>
                  <a:noFill/>
                </a:ln>
                <a:solidFill>
                  <a:schemeClr val="tx1"/>
                </a:solidFill>
                <a:effectLst/>
                <a:latin typeface="Arial" panose="020B0604020202020204" pitchFamily="34" charset="0"/>
              </a:rPr>
              <a:t>how important each word (term)</a:t>
            </a:r>
            <a:r>
              <a:rPr kumimoji="0" lang="en-US" altLang="en-US" b="0" i="0" u="none" strike="noStrike" cap="none" normalizeH="0" baseline="0" dirty="0">
                <a:ln>
                  <a:noFill/>
                </a:ln>
                <a:solidFill>
                  <a:schemeClr val="tx1"/>
                </a:solidFill>
                <a:effectLst/>
                <a:latin typeface="Arial" panose="020B0604020202020204" pitchFamily="34" charset="0"/>
              </a:rPr>
              <a:t> is in scoring</a:t>
            </a:r>
          </a:p>
        </p:txBody>
      </p:sp>
    </p:spTree>
    <p:extLst>
      <p:ext uri="{BB962C8B-B14F-4D97-AF65-F5344CB8AC3E}">
        <p14:creationId xmlns:p14="http://schemas.microsoft.com/office/powerpoint/2010/main" val="1990922198"/>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E80AF60-DF54-4CB6-1D54-2D61E4C1F93B}"/>
              </a:ext>
            </a:extLst>
          </p:cNvPr>
          <p:cNvSpPr>
            <a:spLocks noGrp="1"/>
          </p:cNvSpPr>
          <p:nvPr>
            <p:ph type="title"/>
          </p:nvPr>
        </p:nvSpPr>
        <p:spPr/>
        <p:txBody>
          <a:bodyPr/>
          <a:lstStyle/>
          <a:p>
            <a:r>
              <a:rPr lang="en-IN" dirty="0"/>
              <a:t>Retrieval Task and Topical Relevance</a:t>
            </a:r>
            <a:endParaRPr lang="en-US" dirty="0"/>
          </a:p>
        </p:txBody>
      </p:sp>
      <p:pic>
        <p:nvPicPr>
          <p:cNvPr id="4" name="Content Placeholder 3">
            <a:extLst>
              <a:ext uri="{FF2B5EF4-FFF2-40B4-BE49-F238E27FC236}">
                <a16:creationId xmlns:a16="http://schemas.microsoft.com/office/drawing/2014/main" id="{1F80562D-1627-E459-CC45-0666319E4303}"/>
              </a:ext>
            </a:extLst>
          </p:cNvPr>
          <p:cNvPicPr>
            <a:picLocks noGrp="1" noChangeAspect="1"/>
          </p:cNvPicPr>
          <p:nvPr>
            <p:ph idx="1"/>
          </p:nvPr>
        </p:nvPicPr>
        <p:blipFill>
          <a:blip r:embed="rId2"/>
          <a:stretch>
            <a:fillRect/>
          </a:stretch>
        </p:blipFill>
        <p:spPr>
          <a:xfrm>
            <a:off x="8108629" y="2051873"/>
            <a:ext cx="3478533" cy="4351338"/>
          </a:xfrm>
          <a:prstGeom prst="rect">
            <a:avLst/>
          </a:prstGeom>
        </p:spPr>
      </p:pic>
      <p:sp>
        <p:nvSpPr>
          <p:cNvPr id="5" name="TextBox 4">
            <a:extLst>
              <a:ext uri="{FF2B5EF4-FFF2-40B4-BE49-F238E27FC236}">
                <a16:creationId xmlns:a16="http://schemas.microsoft.com/office/drawing/2014/main" id="{B06EE329-4422-A65E-CA43-3875AF3D52AC}"/>
              </a:ext>
            </a:extLst>
          </p:cNvPr>
          <p:cNvSpPr txBox="1"/>
          <p:nvPr/>
        </p:nvSpPr>
        <p:spPr>
          <a:xfrm>
            <a:off x="735806" y="1739136"/>
            <a:ext cx="6100762" cy="4524315"/>
          </a:xfrm>
          <a:prstGeom prst="rect">
            <a:avLst/>
          </a:prstGeom>
          <a:noFill/>
        </p:spPr>
        <p:txBody>
          <a:bodyPr wrap="square">
            <a:spAutoFit/>
          </a:bodyPr>
          <a:lstStyle/>
          <a:p>
            <a:pPr>
              <a:buFont typeface="Arial" panose="020B0604020202020204" pitchFamily="34" charset="0"/>
              <a:buChar char="•"/>
            </a:pPr>
            <a:r>
              <a:rPr lang="en-IN" b="1" dirty="0"/>
              <a:t>Input</a:t>
            </a:r>
            <a:r>
              <a:rPr lang="en-IN" dirty="0"/>
              <a:t> to retrieval model:</a:t>
            </a:r>
          </a:p>
          <a:p>
            <a:pPr marL="742950" lvl="1" indent="-285750">
              <a:buFont typeface="Arial" panose="020B0604020202020204" pitchFamily="34" charset="0"/>
              <a:buChar char="•"/>
            </a:pPr>
            <a:r>
              <a:rPr lang="en-IN" dirty="0"/>
              <a:t>A </a:t>
            </a:r>
            <a:r>
              <a:rPr lang="en-IN" b="1" dirty="0"/>
              <a:t>collection / corpus</a:t>
            </a:r>
            <a:r>
              <a:rPr lang="en-IN" dirty="0"/>
              <a:t> of documents</a:t>
            </a:r>
          </a:p>
          <a:p>
            <a:pPr marL="742950" lvl="1" indent="-285750">
              <a:buFont typeface="Arial" panose="020B0604020202020204" pitchFamily="34" charset="0"/>
              <a:buChar char="•"/>
            </a:pPr>
            <a:r>
              <a:rPr lang="en-IN" dirty="0"/>
              <a:t>A </a:t>
            </a:r>
            <a:r>
              <a:rPr lang="en-IN" b="1" dirty="0"/>
              <a:t>query</a:t>
            </a:r>
            <a:r>
              <a:rPr lang="en-IN" dirty="0"/>
              <a:t> (few terms: free-text / keyword query)</a:t>
            </a:r>
          </a:p>
          <a:p>
            <a:pPr>
              <a:buFont typeface="Arial" panose="020B0604020202020204" pitchFamily="34" charset="0"/>
              <a:buChar char="•"/>
            </a:pPr>
            <a:r>
              <a:rPr lang="en-IN" b="1" dirty="0"/>
              <a:t>Output:</a:t>
            </a:r>
            <a:endParaRPr lang="en-IN" dirty="0"/>
          </a:p>
          <a:p>
            <a:pPr marL="742950" lvl="1" indent="-285750">
              <a:buFont typeface="Arial" panose="020B0604020202020204" pitchFamily="34" charset="0"/>
              <a:buChar char="•"/>
            </a:pPr>
            <a:r>
              <a:rPr lang="en-IN" dirty="0"/>
              <a:t>Documents that are </a:t>
            </a:r>
            <a:r>
              <a:rPr lang="en-IN" b="1" dirty="0"/>
              <a:t>topically relevant</a:t>
            </a:r>
            <a:r>
              <a:rPr lang="en-IN" dirty="0"/>
              <a:t> to the query</a:t>
            </a:r>
          </a:p>
          <a:p>
            <a:pPr>
              <a:buFont typeface="Arial" panose="020B0604020202020204" pitchFamily="34" charset="0"/>
              <a:buChar char="•"/>
            </a:pPr>
            <a:r>
              <a:rPr lang="en-IN" b="1" dirty="0"/>
              <a:t>Topical relevance:</a:t>
            </a:r>
            <a:endParaRPr lang="en-IN" dirty="0"/>
          </a:p>
          <a:p>
            <a:pPr marL="742950" lvl="1" indent="-285750">
              <a:buFont typeface="Arial" panose="020B0604020202020204" pitchFamily="34" charset="0"/>
              <a:buChar char="•"/>
            </a:pPr>
            <a:r>
              <a:rPr lang="en-IN" dirty="0"/>
              <a:t>Query and document talk about the </a:t>
            </a:r>
            <a:r>
              <a:rPr lang="en-IN" b="1" dirty="0"/>
              <a:t>same topic</a:t>
            </a:r>
            <a:endParaRPr lang="en-IN" dirty="0"/>
          </a:p>
          <a:p>
            <a:pPr marL="742950" lvl="1" indent="-285750">
              <a:buFont typeface="Arial" panose="020B0604020202020204" pitchFamily="34" charset="0"/>
              <a:buChar char="•"/>
            </a:pPr>
            <a:r>
              <a:rPr lang="en-IN" dirty="0"/>
              <a:t>Example: query = </a:t>
            </a:r>
            <a:r>
              <a:rPr lang="en-IN" i="1" dirty="0"/>
              <a:t>“atom bomb”</a:t>
            </a:r>
            <a:r>
              <a:rPr lang="en-IN" dirty="0"/>
              <a:t> → relevant docs discuss atom bombs</a:t>
            </a:r>
          </a:p>
          <a:p>
            <a:pPr>
              <a:buFont typeface="Arial" panose="020B0604020202020204" pitchFamily="34" charset="0"/>
              <a:buChar char="•"/>
            </a:pPr>
            <a:r>
              <a:rPr lang="en-IN" dirty="0"/>
              <a:t>In </a:t>
            </a:r>
            <a:r>
              <a:rPr lang="en-IN" b="1" dirty="0"/>
              <a:t>Boolean retrieval</a:t>
            </a:r>
            <a:r>
              <a:rPr lang="en-IN" dirty="0"/>
              <a:t>:</a:t>
            </a:r>
          </a:p>
          <a:p>
            <a:pPr marL="742950" lvl="1" indent="-285750">
              <a:buFont typeface="Arial" panose="020B0604020202020204" pitchFamily="34" charset="0"/>
              <a:buChar char="•"/>
            </a:pPr>
            <a:r>
              <a:rPr lang="en-IN" dirty="0"/>
              <a:t>Exact match only → relevant / not relevant</a:t>
            </a:r>
          </a:p>
          <a:p>
            <a:pPr marL="742950" lvl="1" indent="-285750">
              <a:buFont typeface="Arial" panose="020B0604020202020204" pitchFamily="34" charset="0"/>
              <a:buChar char="•"/>
            </a:pPr>
            <a:r>
              <a:rPr lang="en-IN" dirty="0"/>
              <a:t>No concept of </a:t>
            </a:r>
            <a:r>
              <a:rPr lang="en-IN" i="1" dirty="0"/>
              <a:t>“more relevant”</a:t>
            </a:r>
            <a:r>
              <a:rPr lang="en-IN" dirty="0"/>
              <a:t> vs </a:t>
            </a:r>
            <a:r>
              <a:rPr lang="en-IN" i="1" dirty="0"/>
              <a:t>“less relevant”</a:t>
            </a:r>
            <a:endParaRPr lang="en-IN" dirty="0"/>
          </a:p>
          <a:p>
            <a:pPr>
              <a:buFont typeface="Arial" panose="020B0604020202020204" pitchFamily="34" charset="0"/>
              <a:buChar char="•"/>
            </a:pPr>
            <a:r>
              <a:rPr lang="en-IN" dirty="0"/>
              <a:t>In </a:t>
            </a:r>
            <a:r>
              <a:rPr lang="en-IN" b="1" dirty="0"/>
              <a:t>Ranked retrieval</a:t>
            </a:r>
            <a:r>
              <a:rPr lang="en-IN" dirty="0"/>
              <a:t>:</a:t>
            </a:r>
          </a:p>
          <a:p>
            <a:pPr marL="742950" lvl="1" indent="-285750">
              <a:buFont typeface="Arial" panose="020B0604020202020204" pitchFamily="34" charset="0"/>
              <a:buChar char="•"/>
            </a:pPr>
            <a:r>
              <a:rPr lang="en-IN" dirty="0"/>
              <a:t>Use a </a:t>
            </a:r>
            <a:r>
              <a:rPr lang="en-IN" b="1" dirty="0"/>
              <a:t>best-match model</a:t>
            </a:r>
            <a:endParaRPr lang="en-IN" dirty="0"/>
          </a:p>
          <a:p>
            <a:pPr marL="742950" lvl="1" indent="-285750">
              <a:buFont typeface="Arial" panose="020B0604020202020204" pitchFamily="34" charset="0"/>
              <a:buChar char="•"/>
            </a:pPr>
            <a:r>
              <a:rPr lang="en-IN" dirty="0"/>
              <a:t>Approximate relevance by </a:t>
            </a:r>
            <a:r>
              <a:rPr lang="en-IN" b="1" dirty="0"/>
              <a:t>similarity(query, document)</a:t>
            </a:r>
            <a:endParaRPr lang="en-IN" dirty="0"/>
          </a:p>
        </p:txBody>
      </p:sp>
    </p:spTree>
    <p:extLst>
      <p:ext uri="{BB962C8B-B14F-4D97-AF65-F5344CB8AC3E}">
        <p14:creationId xmlns:p14="http://schemas.microsoft.com/office/powerpoint/2010/main" val="1714696637"/>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07D1DC4-794E-A443-E7E7-FFC2F754BC3B}"/>
              </a:ext>
            </a:extLst>
          </p:cNvPr>
          <p:cNvSpPr>
            <a:spLocks noGrp="1"/>
          </p:cNvSpPr>
          <p:nvPr>
            <p:ph type="title"/>
          </p:nvPr>
        </p:nvSpPr>
        <p:spPr/>
        <p:txBody>
          <a:bodyPr/>
          <a:lstStyle/>
          <a:p>
            <a:r>
              <a:rPr lang="en-IN" dirty="0"/>
              <a:t>Bag-of-Words &amp; Scoring Documents</a:t>
            </a:r>
            <a:endParaRPr lang="en-US" dirty="0"/>
          </a:p>
        </p:txBody>
      </p:sp>
      <p:sp>
        <p:nvSpPr>
          <p:cNvPr id="4" name="Rectangle 1">
            <a:extLst>
              <a:ext uri="{FF2B5EF4-FFF2-40B4-BE49-F238E27FC236}">
                <a16:creationId xmlns:a16="http://schemas.microsoft.com/office/drawing/2014/main" id="{91677784-A876-0E93-1451-9BE9C10503C7}"/>
              </a:ext>
            </a:extLst>
          </p:cNvPr>
          <p:cNvSpPr>
            <a:spLocks noGrp="1" noChangeArrowheads="1"/>
          </p:cNvSpPr>
          <p:nvPr>
            <p:ph idx="1"/>
          </p:nvPr>
        </p:nvSpPr>
        <p:spPr bwMode="auto">
          <a:xfrm>
            <a:off x="838200" y="2154634"/>
            <a:ext cx="9248775" cy="369331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000" b="0" i="0" u="none" strike="noStrike" cap="none" normalizeH="0" baseline="0" dirty="0">
                <a:ln>
                  <a:noFill/>
                </a:ln>
                <a:solidFill>
                  <a:schemeClr val="tx1"/>
                </a:solidFill>
                <a:effectLst/>
                <a:latin typeface="Arial" panose="020B0604020202020204" pitchFamily="34" charset="0"/>
              </a:rPr>
              <a:t>A document is viewed as a </a:t>
            </a:r>
            <a:r>
              <a:rPr kumimoji="0" lang="en-US" altLang="en-US" sz="2000" b="1" i="0" u="none" strike="noStrike" cap="none" normalizeH="0" baseline="0" dirty="0">
                <a:ln>
                  <a:noFill/>
                </a:ln>
                <a:solidFill>
                  <a:schemeClr val="tx1"/>
                </a:solidFill>
                <a:effectLst/>
                <a:latin typeface="Arial" panose="020B0604020202020204" pitchFamily="34" charset="0"/>
              </a:rPr>
              <a:t>bag of terms</a:t>
            </a:r>
            <a:r>
              <a:rPr kumimoji="0" lang="en-US" altLang="en-US" sz="2000" b="0" i="0" u="none" strike="noStrike" cap="none" normalizeH="0" baseline="0" dirty="0">
                <a:ln>
                  <a:noFill/>
                </a:ln>
                <a:solidFill>
                  <a:schemeClr val="tx1"/>
                </a:solidFill>
                <a:effectLst/>
                <a:latin typeface="Arial" panose="020B0604020202020204" pitchFamily="34" charset="0"/>
              </a:rPr>
              <a:t> (order ignored)</a:t>
            </a:r>
          </a:p>
          <a:p>
            <a:pPr marL="457200" lvl="1" indent="0" eaLnBrk="0" fontAlgn="base" hangingPunct="0">
              <a:lnSpc>
                <a:spcPct val="100000"/>
              </a:lnSpc>
              <a:spcBef>
                <a:spcPct val="0"/>
              </a:spcBef>
              <a:spcAft>
                <a:spcPct val="0"/>
              </a:spcAft>
              <a:buFontTx/>
              <a:buChar char="•"/>
            </a:pPr>
            <a:r>
              <a:rPr kumimoji="0" lang="en-US" altLang="en-US" sz="1400" b="0" i="0" u="none" strike="noStrike" cap="none" normalizeH="0" baseline="0" dirty="0">
                <a:ln>
                  <a:noFill/>
                </a:ln>
                <a:solidFill>
                  <a:schemeClr val="tx1"/>
                </a:solidFill>
                <a:effectLst/>
                <a:latin typeface="Arial" panose="020B0604020202020204" pitchFamily="34" charset="0"/>
              </a:rPr>
              <a:t>“John is quicker than Mary”</a:t>
            </a:r>
          </a:p>
          <a:p>
            <a:pPr marL="457200" lvl="1" indent="0" eaLnBrk="0" fontAlgn="base" hangingPunct="0">
              <a:lnSpc>
                <a:spcPct val="100000"/>
              </a:lnSpc>
              <a:spcBef>
                <a:spcPct val="0"/>
              </a:spcBef>
              <a:spcAft>
                <a:spcPct val="0"/>
              </a:spcAft>
              <a:buFontTx/>
              <a:buChar char="•"/>
            </a:pPr>
            <a:r>
              <a:rPr kumimoji="0" lang="en-US" altLang="en-US" sz="1400" b="0" i="0" u="none" strike="noStrike" cap="none" normalizeH="0" baseline="0" dirty="0">
                <a:ln>
                  <a:noFill/>
                </a:ln>
                <a:solidFill>
                  <a:schemeClr val="tx1"/>
                </a:solidFill>
                <a:effectLst/>
                <a:latin typeface="Arial" panose="020B0604020202020204" pitchFamily="34" charset="0"/>
              </a:rPr>
              <a:t>“Mary is quicker than John”</a:t>
            </a:r>
            <a:br>
              <a:rPr kumimoji="0" lang="en-US" altLang="en-US" sz="1400" b="0" i="0" u="none" strike="noStrike" cap="none" normalizeH="0" baseline="0" dirty="0">
                <a:ln>
                  <a:noFill/>
                </a:ln>
                <a:solidFill>
                  <a:schemeClr val="tx1"/>
                </a:solidFill>
                <a:effectLst/>
                <a:latin typeface="Arial" panose="020B0604020202020204" pitchFamily="34" charset="0"/>
              </a:rPr>
            </a:br>
            <a:r>
              <a:rPr kumimoji="0" lang="en-US" altLang="en-US" sz="1400" b="0" i="0" u="none" strike="noStrike" cap="none" normalizeH="0" baseline="0" dirty="0">
                <a:ln>
                  <a:noFill/>
                </a:ln>
                <a:solidFill>
                  <a:schemeClr val="tx1"/>
                </a:solidFill>
                <a:effectLst/>
                <a:latin typeface="Arial" panose="020B0604020202020204" pitchFamily="34" charset="0"/>
              </a:rPr>
              <a:t>→ Treated as the </a:t>
            </a:r>
            <a:r>
              <a:rPr kumimoji="0" lang="en-US" altLang="en-US" sz="1400" b="1" i="0" u="none" strike="noStrike" cap="none" normalizeH="0" baseline="0" dirty="0">
                <a:ln>
                  <a:noFill/>
                </a:ln>
                <a:solidFill>
                  <a:schemeClr val="tx1"/>
                </a:solidFill>
                <a:effectLst/>
                <a:latin typeface="Arial" panose="020B0604020202020204" pitchFamily="34" charset="0"/>
              </a:rPr>
              <a:t>same bag of words</a:t>
            </a:r>
            <a:endParaRPr kumimoji="0" lang="en-US" altLang="en-US" sz="14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000" b="0" i="0" u="none" strike="noStrike" cap="none" normalizeH="0" baseline="0" dirty="0">
                <a:ln>
                  <a:noFill/>
                </a:ln>
                <a:solidFill>
                  <a:schemeClr val="tx1"/>
                </a:solidFill>
                <a:effectLst/>
                <a:latin typeface="Arial" panose="020B0604020202020204" pitchFamily="34" charset="0"/>
              </a:rPr>
              <a:t>To score a document for a query:</a:t>
            </a:r>
          </a:p>
          <a:p>
            <a:pPr marL="457200" lvl="1" indent="0" eaLnBrk="0" fontAlgn="base" hangingPunct="0">
              <a:lnSpc>
                <a:spcPct val="100000"/>
              </a:lnSpc>
              <a:spcBef>
                <a:spcPct val="0"/>
              </a:spcBef>
              <a:spcAft>
                <a:spcPct val="0"/>
              </a:spcAft>
              <a:buFontTx/>
              <a:buChar char="•"/>
            </a:pPr>
            <a:r>
              <a:rPr kumimoji="0" lang="en-US" altLang="en-US" sz="1400" b="0" i="0" u="none" strike="noStrike" cap="none" normalizeH="0" baseline="0" dirty="0">
                <a:ln>
                  <a:noFill/>
                </a:ln>
                <a:solidFill>
                  <a:schemeClr val="tx1"/>
                </a:solidFill>
                <a:effectLst/>
                <a:latin typeface="Arial" panose="020B0604020202020204" pitchFamily="34" charset="0"/>
              </a:rPr>
              <a:t>Combine scores of </a:t>
            </a:r>
            <a:r>
              <a:rPr kumimoji="0" lang="en-US" altLang="en-US" sz="1400" b="1" i="0" u="none" strike="noStrike" cap="none" normalizeH="0" baseline="0" dirty="0">
                <a:ln>
                  <a:noFill/>
                </a:ln>
                <a:solidFill>
                  <a:schemeClr val="tx1"/>
                </a:solidFill>
                <a:effectLst/>
                <a:latin typeface="Arial" panose="020B0604020202020204" pitchFamily="34" charset="0"/>
              </a:rPr>
              <a:t>individual terms</a:t>
            </a:r>
            <a:r>
              <a:rPr kumimoji="0" lang="en-US" altLang="en-US" sz="1400" b="0" i="0" u="none" strike="noStrike" cap="none" normalizeH="0" baseline="0" dirty="0">
                <a:ln>
                  <a:noFill/>
                </a:ln>
                <a:solidFill>
                  <a:schemeClr val="tx1"/>
                </a:solidFill>
                <a:effectLst/>
                <a:latin typeface="Arial" panose="020B0604020202020204" pitchFamily="34" charset="0"/>
              </a:rPr>
              <a:t> in the document</a:t>
            </a:r>
          </a:p>
          <a:p>
            <a:pPr marL="457200" lvl="1" indent="0" eaLnBrk="0" fontAlgn="base" hangingPunct="0">
              <a:lnSpc>
                <a:spcPct val="100000"/>
              </a:lnSpc>
              <a:spcBef>
                <a:spcPct val="0"/>
              </a:spcBef>
              <a:spcAft>
                <a:spcPct val="0"/>
              </a:spcAft>
              <a:buFontTx/>
              <a:buChar char="•"/>
            </a:pPr>
            <a:r>
              <a:rPr kumimoji="0" lang="en-US" altLang="en-US" sz="1400" b="0" i="0" u="none" strike="noStrike" cap="none" normalizeH="0" baseline="0" dirty="0">
                <a:ln>
                  <a:noFill/>
                </a:ln>
                <a:solidFill>
                  <a:schemeClr val="tx1"/>
                </a:solidFill>
                <a:effectLst/>
                <a:latin typeface="Arial" panose="020B0604020202020204" pitchFamily="34" charset="0"/>
              </a:rPr>
              <a:t>Document score = </a:t>
            </a:r>
            <a:r>
              <a:rPr kumimoji="0" lang="en-US" altLang="en-US" sz="1400" b="1" i="0" u="none" strike="noStrike" cap="none" normalizeH="0" baseline="0" dirty="0">
                <a:ln>
                  <a:noFill/>
                </a:ln>
                <a:solidFill>
                  <a:schemeClr val="tx1"/>
                </a:solidFill>
                <a:effectLst/>
                <a:latin typeface="Arial" panose="020B0604020202020204" pitchFamily="34" charset="0"/>
              </a:rPr>
              <a:t>sum or product</a:t>
            </a:r>
            <a:r>
              <a:rPr kumimoji="0" lang="en-US" altLang="en-US" sz="1400" b="0" i="0" u="none" strike="noStrike" cap="none" normalizeH="0" baseline="0" dirty="0">
                <a:ln>
                  <a:noFill/>
                </a:ln>
                <a:solidFill>
                  <a:schemeClr val="tx1"/>
                </a:solidFill>
                <a:effectLst/>
                <a:latin typeface="Arial" panose="020B0604020202020204" pitchFamily="34" charset="0"/>
              </a:rPr>
              <a:t> of term scores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Important simplification:</a:t>
            </a:r>
          </a:p>
          <a:p>
            <a:pPr marL="457200" lvl="1" indent="0" eaLnBrk="0" fontAlgn="base" hangingPunct="0">
              <a:lnSpc>
                <a:spcPct val="100000"/>
              </a:lnSpc>
              <a:spcBef>
                <a:spcPct val="0"/>
              </a:spcBef>
              <a:spcAft>
                <a:spcPct val="0"/>
              </a:spcAft>
              <a:buFontTx/>
              <a:buChar char="•"/>
            </a:pPr>
            <a:r>
              <a:rPr kumimoji="0" lang="en-US" altLang="en-US" sz="1400" b="0" i="0" u="none" strike="noStrike" cap="none" normalizeH="0" baseline="0" dirty="0">
                <a:ln>
                  <a:noFill/>
                </a:ln>
                <a:solidFill>
                  <a:schemeClr val="tx1"/>
                </a:solidFill>
                <a:effectLst/>
                <a:latin typeface="Arial" panose="020B0604020202020204" pitchFamily="34" charset="0"/>
              </a:rPr>
              <a:t>Only </a:t>
            </a:r>
            <a:r>
              <a:rPr kumimoji="0" lang="en-US" altLang="en-US" sz="1400" b="1" i="0" u="none" strike="noStrike" cap="none" normalizeH="0" baseline="0" dirty="0">
                <a:ln>
                  <a:noFill/>
                </a:ln>
                <a:solidFill>
                  <a:schemeClr val="tx1"/>
                </a:solidFill>
                <a:effectLst/>
                <a:latin typeface="Arial" panose="020B0604020202020204" pitchFamily="34" charset="0"/>
              </a:rPr>
              <a:t>query terms</a:t>
            </a:r>
            <a:r>
              <a:rPr kumimoji="0" lang="en-US" altLang="en-US" sz="1400" b="0" i="0" u="none" strike="noStrike" cap="none" normalizeH="0" baseline="0" dirty="0">
                <a:ln>
                  <a:noFill/>
                </a:ln>
                <a:solidFill>
                  <a:schemeClr val="tx1"/>
                </a:solidFill>
                <a:effectLst/>
                <a:latin typeface="Arial" panose="020B0604020202020204" pitchFamily="34" charset="0"/>
              </a:rPr>
              <a:t> contribute to the score</a:t>
            </a:r>
          </a:p>
          <a:p>
            <a:pPr marL="457200" lvl="1" indent="0" eaLnBrk="0" fontAlgn="base" hangingPunct="0">
              <a:lnSpc>
                <a:spcPct val="100000"/>
              </a:lnSpc>
              <a:spcBef>
                <a:spcPct val="0"/>
              </a:spcBef>
              <a:spcAft>
                <a:spcPct val="0"/>
              </a:spcAft>
              <a:buFontTx/>
              <a:buChar char="•"/>
            </a:pPr>
            <a:r>
              <a:rPr kumimoji="0" lang="en-US" altLang="en-US" sz="1400" b="0" i="0" u="none" strike="noStrike" cap="none" normalizeH="0" baseline="0" dirty="0">
                <a:ln>
                  <a:noFill/>
                </a:ln>
                <a:solidFill>
                  <a:schemeClr val="tx1"/>
                </a:solidFill>
                <a:effectLst/>
                <a:latin typeface="Arial" panose="020B0604020202020204" pitchFamily="34" charset="0"/>
              </a:rPr>
              <a:t>If a query term does </a:t>
            </a:r>
            <a:r>
              <a:rPr kumimoji="0" lang="en-US" altLang="en-US" sz="1400" b="1" i="0" u="none" strike="noStrike" cap="none" normalizeH="0" baseline="0" dirty="0">
                <a:ln>
                  <a:noFill/>
                </a:ln>
                <a:solidFill>
                  <a:schemeClr val="tx1"/>
                </a:solidFill>
                <a:effectLst/>
                <a:latin typeface="Arial" panose="020B0604020202020204" pitchFamily="34" charset="0"/>
              </a:rPr>
              <a:t>not</a:t>
            </a:r>
            <a:r>
              <a:rPr kumimoji="0" lang="en-US" altLang="en-US" sz="1400" b="0" i="0" u="none" strike="noStrike" cap="none" normalizeH="0" baseline="0" dirty="0">
                <a:ln>
                  <a:noFill/>
                </a:ln>
                <a:solidFill>
                  <a:schemeClr val="tx1"/>
                </a:solidFill>
                <a:effectLst/>
                <a:latin typeface="Arial" panose="020B0604020202020204" pitchFamily="34" charset="0"/>
              </a:rPr>
              <a:t> appear in a document → its contribution = 0</a:t>
            </a:r>
          </a:p>
          <a:p>
            <a:pPr marL="457200" lvl="1" indent="0" eaLnBrk="0" fontAlgn="base" hangingPunct="0">
              <a:lnSpc>
                <a:spcPct val="100000"/>
              </a:lnSpc>
              <a:spcBef>
                <a:spcPct val="0"/>
              </a:spcBef>
              <a:spcAft>
                <a:spcPct val="0"/>
              </a:spcAft>
              <a:buFontTx/>
              <a:buChar char="•"/>
            </a:pPr>
            <a:r>
              <a:rPr kumimoji="0" lang="en-US" altLang="en-US" sz="1400" b="0" i="0" u="none" strike="noStrike" cap="none" normalizeH="0" baseline="0" dirty="0">
                <a:ln>
                  <a:noFill/>
                </a:ln>
                <a:solidFill>
                  <a:schemeClr val="tx1"/>
                </a:solidFill>
                <a:effectLst/>
                <a:latin typeface="Arial" panose="020B0604020202020204" pitchFamily="34" charset="0"/>
              </a:rPr>
              <a:t>Non-query terms in the document are </a:t>
            </a:r>
            <a:r>
              <a:rPr kumimoji="0" lang="en-US" altLang="en-US" sz="1400" b="1" i="0" u="none" strike="noStrike" cap="none" normalizeH="0" baseline="0" dirty="0">
                <a:ln>
                  <a:noFill/>
                </a:ln>
                <a:solidFill>
                  <a:schemeClr val="tx1"/>
                </a:solidFill>
                <a:effectLst/>
                <a:latin typeface="Arial" panose="020B0604020202020204" pitchFamily="34" charset="0"/>
              </a:rPr>
              <a:t>ignored</a:t>
            </a:r>
            <a:r>
              <a:rPr kumimoji="0" lang="en-US" altLang="en-US" sz="1400" b="0" i="0" u="none" strike="noStrike" cap="none" normalizeH="0" baseline="0" dirty="0">
                <a:ln>
                  <a:noFill/>
                </a:ln>
                <a:solidFill>
                  <a:schemeClr val="tx1"/>
                </a:solidFill>
                <a:effectLst/>
                <a:latin typeface="Arial" panose="020B0604020202020204" pitchFamily="34" charset="0"/>
              </a:rPr>
              <a:t> for scoring</a:t>
            </a:r>
          </a:p>
          <a:p>
            <a:pPr marL="457200" lvl="1" indent="0" eaLnBrk="0" fontAlgn="base" hangingPunct="0">
              <a:lnSpc>
                <a:spcPct val="100000"/>
              </a:lnSpc>
              <a:spcBef>
                <a:spcPct val="0"/>
              </a:spcBef>
              <a:spcAft>
                <a:spcPct val="0"/>
              </a:spcAft>
              <a:buFontTx/>
              <a:buChar char="•"/>
            </a:pPr>
            <a:r>
              <a:rPr kumimoji="0" lang="en-US" altLang="en-US" sz="1400" b="0" i="0" u="none" strike="noStrike" cap="none" normalizeH="0" baseline="0" dirty="0">
                <a:ln>
                  <a:noFill/>
                </a:ln>
                <a:solidFill>
                  <a:schemeClr val="tx1"/>
                </a:solidFill>
                <a:effectLst/>
                <a:latin typeface="Arial" panose="020B0604020202020204" pitchFamily="34" charset="0"/>
              </a:rPr>
              <a:t>So, for query </a:t>
            </a:r>
            <a:r>
              <a:rPr kumimoji="0" lang="en-US" altLang="en-US" sz="1400" b="1" i="0" u="none" strike="noStrike" cap="none" normalizeH="0" baseline="0" dirty="0">
                <a:ln>
                  <a:noFill/>
                </a:ln>
                <a:solidFill>
                  <a:schemeClr val="tx1"/>
                </a:solidFill>
                <a:effectLst/>
                <a:latin typeface="Arial" panose="020B0604020202020204" pitchFamily="34" charset="0"/>
              </a:rPr>
              <a:t>Q = {q₁, q₂, q₃}</a:t>
            </a:r>
            <a:r>
              <a:rPr kumimoji="0" lang="en-US" altLang="en-US" sz="1400" b="0" i="0" u="none" strike="noStrike" cap="none" normalizeH="0" baseline="0" dirty="0">
                <a:ln>
                  <a:noFill/>
                </a:ln>
                <a:solidFill>
                  <a:schemeClr val="tx1"/>
                </a:solidFill>
                <a:effectLst/>
                <a:latin typeface="Arial" panose="020B0604020202020204" pitchFamily="34" charset="0"/>
              </a:rPr>
              <a:t> and document </a:t>
            </a:r>
            <a:r>
              <a:rPr kumimoji="0" lang="en-US" altLang="en-US" sz="1400" b="1" i="0" u="none" strike="noStrike" cap="none" normalizeH="0" baseline="0" dirty="0">
                <a:ln>
                  <a:noFill/>
                </a:ln>
                <a:solidFill>
                  <a:schemeClr val="tx1"/>
                </a:solidFill>
                <a:effectLst/>
                <a:latin typeface="Arial" panose="020B0604020202020204" pitchFamily="34" charset="0"/>
              </a:rPr>
              <a:t>D</a:t>
            </a:r>
            <a:r>
              <a:rPr kumimoji="0" lang="en-US" altLang="en-US" sz="1400" b="0" i="0" u="none" strike="noStrike" cap="none" normalizeH="0" baseline="0" dirty="0">
                <a:ln>
                  <a:noFill/>
                </a:ln>
                <a:solidFill>
                  <a:schemeClr val="tx1"/>
                </a:solidFill>
                <a:effectLst/>
                <a:latin typeface="Arial" panose="020B0604020202020204" pitchFamily="34" charset="0"/>
              </a:rPr>
              <a:t>:</a:t>
            </a:r>
          </a:p>
          <a:p>
            <a:pPr marL="457200" lvl="1" indent="0" eaLnBrk="0" fontAlgn="base" hangingPunct="0">
              <a:lnSpc>
                <a:spcPct val="100000"/>
              </a:lnSpc>
              <a:spcBef>
                <a:spcPct val="0"/>
              </a:spcBef>
              <a:spcAft>
                <a:spcPct val="0"/>
              </a:spcAft>
              <a:buFontTx/>
              <a:buChar char="•"/>
            </a:pPr>
            <a:r>
              <a:rPr kumimoji="0" lang="en-US" altLang="en-US" sz="1400" b="0" i="0" u="none" strike="noStrike" cap="none" normalizeH="0" baseline="0" dirty="0">
                <a:ln>
                  <a:noFill/>
                </a:ln>
                <a:solidFill>
                  <a:schemeClr val="tx1"/>
                </a:solidFill>
                <a:effectLst/>
                <a:latin typeface="Arial" panose="020B0604020202020204" pitchFamily="34" charset="0"/>
              </a:rPr>
              <a:t>Score(D, Q) = combine weights of q₁ in D, q₂ in D, q₃ in D</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These individual </a:t>
            </a:r>
            <a:r>
              <a:rPr kumimoji="0" lang="en-US" altLang="en-US" sz="1800" b="1" i="0" u="none" strike="noStrike" cap="none" normalizeH="0" baseline="0" dirty="0">
                <a:ln>
                  <a:noFill/>
                </a:ln>
                <a:solidFill>
                  <a:schemeClr val="tx1"/>
                </a:solidFill>
                <a:effectLst/>
                <a:latin typeface="Arial" panose="020B0604020202020204" pitchFamily="34" charset="0"/>
              </a:rPr>
              <a:t>term weights</a:t>
            </a:r>
            <a:r>
              <a:rPr kumimoji="0" lang="en-US" altLang="en-US" sz="1800" b="0" i="0" u="none" strike="noStrike" cap="none" normalizeH="0" baseline="0" dirty="0">
                <a:ln>
                  <a:noFill/>
                </a:ln>
                <a:solidFill>
                  <a:schemeClr val="tx1"/>
                </a:solidFill>
                <a:effectLst/>
                <a:latin typeface="Arial" panose="020B0604020202020204" pitchFamily="34" charset="0"/>
              </a:rPr>
              <a:t> reflect </a:t>
            </a:r>
            <a:r>
              <a:rPr kumimoji="0" lang="en-US" altLang="en-US" sz="1800" b="1" i="0" u="none" strike="noStrike" cap="none" normalizeH="0" baseline="0" dirty="0">
                <a:ln>
                  <a:noFill/>
                </a:ln>
                <a:solidFill>
                  <a:schemeClr val="tx1"/>
                </a:solidFill>
                <a:effectLst/>
                <a:latin typeface="Arial" panose="020B0604020202020204" pitchFamily="34" charset="0"/>
              </a:rPr>
              <a:t>term importance</a:t>
            </a: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24422204"/>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A4E52EC-F31B-9BB7-F93A-99D4EB6ACF96}"/>
              </a:ext>
            </a:extLst>
          </p:cNvPr>
          <p:cNvSpPr>
            <a:spLocks noGrp="1"/>
          </p:cNvSpPr>
          <p:nvPr>
            <p:ph type="title"/>
          </p:nvPr>
        </p:nvSpPr>
        <p:spPr/>
        <p:txBody>
          <a:bodyPr/>
          <a:lstStyle/>
          <a:p>
            <a:r>
              <a:rPr lang="en-IN" dirty="0"/>
              <a:t>Term Frequency as Term Weight</a:t>
            </a:r>
            <a:endParaRPr lang="en-US" dirty="0"/>
          </a:p>
        </p:txBody>
      </p:sp>
      <p:sp>
        <p:nvSpPr>
          <p:cNvPr id="4" name="Rectangle 1">
            <a:extLst>
              <a:ext uri="{FF2B5EF4-FFF2-40B4-BE49-F238E27FC236}">
                <a16:creationId xmlns:a16="http://schemas.microsoft.com/office/drawing/2014/main" id="{E9FACAD0-2D81-3B32-AC2A-333E39E28136}"/>
              </a:ext>
            </a:extLst>
          </p:cNvPr>
          <p:cNvSpPr>
            <a:spLocks noGrp="1" noChangeArrowheads="1"/>
          </p:cNvSpPr>
          <p:nvPr>
            <p:ph idx="1"/>
          </p:nvPr>
        </p:nvSpPr>
        <p:spPr bwMode="auto">
          <a:xfrm>
            <a:off x="838200" y="1185139"/>
            <a:ext cx="6151043" cy="563231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Term Frequency (TF):</a:t>
            </a: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None/>
              <a:tabLst/>
            </a:pPr>
            <a:r>
              <a:rPr kumimoji="0" lang="en-US" altLang="en-US" sz="1800" b="0" i="0" u="none" strike="noStrike" cap="none" normalizeH="0" baseline="0" dirty="0">
                <a:ln>
                  <a:noFill/>
                </a:ln>
                <a:solidFill>
                  <a:schemeClr val="tx1"/>
                </a:solidFill>
                <a:effectLst/>
                <a:latin typeface="Arial" panose="020B0604020202020204" pitchFamily="34" charset="0"/>
              </a:rPr>
              <a:t>TF(t, d) = number of times term </a:t>
            </a:r>
            <a:r>
              <a:rPr kumimoji="0" lang="en-US" altLang="en-US" sz="1800" b="0" i="1" u="none" strike="noStrike" cap="none" normalizeH="0" baseline="0" dirty="0">
                <a:ln>
                  <a:noFill/>
                </a:ln>
                <a:solidFill>
                  <a:schemeClr val="tx1"/>
                </a:solidFill>
                <a:effectLst/>
                <a:latin typeface="Arial" panose="020B0604020202020204" pitchFamily="34" charset="0"/>
              </a:rPr>
              <a:t>t</a:t>
            </a:r>
            <a:r>
              <a:rPr kumimoji="0" lang="en-US" altLang="en-US" sz="1800" b="0" i="0" u="none" strike="noStrike" cap="none" normalizeH="0" baseline="0" dirty="0">
                <a:ln>
                  <a:noFill/>
                </a:ln>
                <a:solidFill>
                  <a:schemeClr val="tx1"/>
                </a:solidFill>
                <a:effectLst/>
                <a:latin typeface="Arial" panose="020B0604020202020204" pitchFamily="34" charset="0"/>
              </a:rPr>
              <a:t> occurs in document </a:t>
            </a:r>
            <a:r>
              <a:rPr kumimoji="0" lang="en-US" altLang="en-US" sz="1800" b="0" i="1" u="none" strike="noStrike" cap="none" normalizeH="0" baseline="0" dirty="0">
                <a:ln>
                  <a:noFill/>
                </a:ln>
                <a:solidFill>
                  <a:schemeClr val="tx1"/>
                </a:solidFill>
                <a:effectLst/>
                <a:latin typeface="Arial" panose="020B0604020202020204" pitchFamily="34" charset="0"/>
              </a:rPr>
              <a:t>d</a:t>
            </a: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None/>
              <a:tabLst/>
            </a:pPr>
            <a:r>
              <a:rPr kumimoji="0" lang="en-US" altLang="en-US" sz="1800" b="0" i="0" u="none" strike="noStrike" cap="none" normalizeH="0" baseline="0" dirty="0">
                <a:ln>
                  <a:noFill/>
                </a:ln>
                <a:solidFill>
                  <a:schemeClr val="tx1"/>
                </a:solidFill>
                <a:effectLst/>
                <a:latin typeface="Arial" panose="020B0604020202020204" pitchFamily="34" charset="0"/>
              </a:rPr>
              <a:t>Used as first measure of </a:t>
            </a:r>
            <a:r>
              <a:rPr kumimoji="0" lang="en-US" altLang="en-US" sz="1800" b="1" i="0" u="none" strike="noStrike" cap="none" normalizeH="0" baseline="0" dirty="0">
                <a:ln>
                  <a:noFill/>
                </a:ln>
                <a:solidFill>
                  <a:schemeClr val="tx1"/>
                </a:solidFill>
                <a:effectLst/>
                <a:latin typeface="Arial" panose="020B0604020202020204" pitchFamily="34" charset="0"/>
              </a:rPr>
              <a:t>term importance</a:t>
            </a:r>
            <a:r>
              <a:rPr kumimoji="0" lang="en-US" altLang="en-US" sz="1800" b="0" i="0" u="none" strike="noStrike" cap="none" normalizeH="0" baseline="0" dirty="0">
                <a:ln>
                  <a:noFill/>
                </a:ln>
                <a:solidFill>
                  <a:schemeClr val="tx1"/>
                </a:solidFill>
                <a:effectLst/>
                <a:latin typeface="Arial" panose="020B0604020202020204" pitchFamily="34" charset="0"/>
              </a:rPr>
              <a:t> in a document</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But </a:t>
            </a:r>
            <a:r>
              <a:rPr kumimoji="0" lang="en-US" altLang="en-US" sz="1800" b="1" i="0" u="none" strike="noStrike" cap="none" normalizeH="0" baseline="0" dirty="0">
                <a:ln>
                  <a:noFill/>
                </a:ln>
                <a:solidFill>
                  <a:schemeClr val="tx1"/>
                </a:solidFill>
                <a:effectLst/>
                <a:latin typeface="Arial" panose="020B0604020202020204" pitchFamily="34" charset="0"/>
              </a:rPr>
              <a:t>raw TF has problems</a:t>
            </a:r>
            <a:r>
              <a:rPr kumimoji="0" lang="en-US" altLang="en-US" sz="1800" b="0" i="0" u="none" strike="noStrike" cap="none" normalizeH="0" baseline="0" dirty="0">
                <a:ln>
                  <a:noFill/>
                </a:ln>
                <a:solidFill>
                  <a:schemeClr val="tx1"/>
                </a:solidFill>
                <a:effectLst/>
                <a:latin typeface="Arial" panose="020B0604020202020204" pitchFamily="34" charset="0"/>
              </a:rPr>
              <a:t>:</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If TF(q, d₁) = 10 and TF(q, d₂) = 100</a:t>
            </a:r>
            <a:br>
              <a:rPr kumimoji="0" lang="en-US" altLang="en-US" sz="1800" b="0" i="0" u="none" strike="noStrike" cap="none" normalizeH="0" baseline="0" dirty="0">
                <a:ln>
                  <a:noFill/>
                </a:ln>
                <a:solidFill>
                  <a:schemeClr val="tx1"/>
                </a:solidFill>
                <a:effectLst/>
                <a:latin typeface="Arial" panose="020B0604020202020204" pitchFamily="34" charset="0"/>
              </a:rPr>
            </a:br>
            <a:r>
              <a:rPr kumimoji="0" lang="en-US" altLang="en-US" sz="1800" b="0" i="0" u="none" strike="noStrike" cap="none" normalizeH="0" baseline="0" dirty="0">
                <a:ln>
                  <a:noFill/>
                </a:ln>
                <a:solidFill>
                  <a:schemeClr val="tx1"/>
                </a:solidFill>
                <a:effectLst/>
                <a:latin typeface="Arial" panose="020B0604020202020204" pitchFamily="34" charset="0"/>
              </a:rPr>
              <a:t>→ d₂ is </a:t>
            </a:r>
            <a:r>
              <a:rPr kumimoji="0" lang="en-US" altLang="en-US" sz="1800" b="1" i="0" u="none" strike="noStrike" cap="none" normalizeH="0" baseline="0" dirty="0">
                <a:ln>
                  <a:noFill/>
                </a:ln>
                <a:solidFill>
                  <a:schemeClr val="tx1"/>
                </a:solidFill>
                <a:effectLst/>
                <a:latin typeface="Arial" panose="020B0604020202020204" pitchFamily="34" charset="0"/>
              </a:rPr>
              <a:t>not really 10× more relevant</a:t>
            </a: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Could just be </a:t>
            </a:r>
            <a:r>
              <a:rPr kumimoji="0" lang="en-US" altLang="en-US" sz="1800" b="1" i="0" u="none" strike="noStrike" cap="none" normalizeH="0" baseline="0" dirty="0">
                <a:ln>
                  <a:noFill/>
                </a:ln>
                <a:solidFill>
                  <a:schemeClr val="tx1"/>
                </a:solidFill>
                <a:effectLst/>
                <a:latin typeface="Arial" panose="020B0604020202020204" pitchFamily="34" charset="0"/>
              </a:rPr>
              <a:t>repetition</a:t>
            </a:r>
            <a:r>
              <a:rPr kumimoji="0" lang="en-US" altLang="en-US" sz="1800" b="0" i="0" u="none" strike="noStrike" cap="none" normalizeH="0" baseline="0" dirty="0">
                <a:ln>
                  <a:noFill/>
                </a:ln>
                <a:solidFill>
                  <a:schemeClr val="tx1"/>
                </a:solidFill>
                <a:effectLst/>
                <a:latin typeface="Arial" panose="020B0604020202020204" pitchFamily="34" charset="0"/>
              </a:rPr>
              <a:t> of the same content</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Relevance does </a:t>
            </a:r>
            <a:r>
              <a:rPr kumimoji="0" lang="en-US" altLang="en-US" sz="1800" b="1" i="0" u="none" strike="noStrike" cap="none" normalizeH="0" baseline="0" dirty="0">
                <a:ln>
                  <a:noFill/>
                </a:ln>
                <a:solidFill>
                  <a:schemeClr val="tx1"/>
                </a:solidFill>
                <a:effectLst/>
                <a:latin typeface="Arial" panose="020B0604020202020204" pitchFamily="34" charset="0"/>
              </a:rPr>
              <a:t>not</a:t>
            </a:r>
            <a:r>
              <a:rPr kumimoji="0" lang="en-US" altLang="en-US" sz="1800" b="0" i="0" u="none" strike="noStrike" cap="none" normalizeH="0" baseline="0" dirty="0">
                <a:ln>
                  <a:noFill/>
                </a:ln>
                <a:solidFill>
                  <a:schemeClr val="tx1"/>
                </a:solidFill>
                <a:effectLst/>
                <a:latin typeface="Arial" panose="020B0604020202020204" pitchFamily="34" charset="0"/>
              </a:rPr>
              <a:t> grow linearly with TF</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Solution: </a:t>
            </a:r>
            <a:r>
              <a:rPr kumimoji="0" lang="en-US" altLang="en-US" sz="1800" b="1" i="0" u="none" strike="noStrike" cap="none" normalizeH="0" baseline="0" dirty="0">
                <a:ln>
                  <a:noFill/>
                </a:ln>
                <a:solidFill>
                  <a:schemeClr val="tx1"/>
                </a:solidFill>
                <a:effectLst/>
                <a:latin typeface="Arial" panose="020B0604020202020204" pitchFamily="34" charset="0"/>
              </a:rPr>
              <a:t>log-frequency weighting</a:t>
            </a:r>
            <a:r>
              <a:rPr kumimoji="0" lang="en-US" altLang="en-US" sz="1800" b="0" i="0" u="none" strike="noStrike" cap="none" normalizeH="0" baseline="0" dirty="0">
                <a:ln>
                  <a:noFill/>
                </a:ln>
                <a:solidFill>
                  <a:schemeClr val="tx1"/>
                </a:solidFill>
                <a:effectLst/>
                <a:latin typeface="Arial" panose="020B0604020202020204" pitchFamily="34" charset="0"/>
              </a:rPr>
              <a:t> (damping TF)</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If TF(t, d) &gt; 0:</a:t>
            </a:r>
          </a:p>
          <a:p>
            <a:pPr marL="457200" marR="0" lvl="1"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weight(t, d) = 1 + log₁₀(TF(t, d))</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If TF(t, d) = 0:</a:t>
            </a:r>
          </a:p>
          <a:p>
            <a:pPr marL="457200" marR="0" lvl="1"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weight(t, d) = 0</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Effect:</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TF = 1 → weight ≈ 1</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TF = 2 → ≈ 1.3</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TF = 10 → 2</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TF = 1000 → 4</a:t>
            </a:r>
            <a:br>
              <a:rPr kumimoji="0" lang="en-US" altLang="en-US" sz="1800" b="0" i="0" u="none" strike="noStrike" cap="none" normalizeH="0" baseline="0" dirty="0">
                <a:ln>
                  <a:noFill/>
                </a:ln>
                <a:solidFill>
                  <a:schemeClr val="tx1"/>
                </a:solidFill>
                <a:effectLst/>
                <a:latin typeface="Arial" panose="020B0604020202020204" pitchFamily="34" charset="0"/>
              </a:rPr>
            </a:br>
            <a:r>
              <a:rPr kumimoji="0" lang="en-US" altLang="en-US" sz="1800" b="0" i="0" u="none" strike="noStrike" cap="none" normalizeH="0" baseline="0" dirty="0">
                <a:ln>
                  <a:noFill/>
                </a:ln>
                <a:solidFill>
                  <a:schemeClr val="tx1"/>
                </a:solidFill>
                <a:effectLst/>
                <a:latin typeface="Arial" panose="020B0604020202020204" pitchFamily="34" charset="0"/>
              </a:rPr>
              <a:t>→ Big TF values no longer explode the score</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1600647432"/>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C7674A8-6556-375B-D1FE-9176E7C03C29}"/>
              </a:ext>
            </a:extLst>
          </p:cNvPr>
          <p:cNvSpPr>
            <a:spLocks noGrp="1"/>
          </p:cNvSpPr>
          <p:nvPr>
            <p:ph type="title"/>
          </p:nvPr>
        </p:nvSpPr>
        <p:spPr/>
        <p:txBody>
          <a:bodyPr>
            <a:normAutofit/>
          </a:bodyPr>
          <a:lstStyle/>
          <a:p>
            <a:r>
              <a:rPr lang="en-IN" dirty="0"/>
              <a:t>Rare Terms, Document Frequency &amp; IDF (Preview)</a:t>
            </a:r>
            <a:endParaRPr lang="en-US" dirty="0"/>
          </a:p>
        </p:txBody>
      </p:sp>
      <p:sp>
        <p:nvSpPr>
          <p:cNvPr id="4" name="Rectangle 1">
            <a:extLst>
              <a:ext uri="{FF2B5EF4-FFF2-40B4-BE49-F238E27FC236}">
                <a16:creationId xmlns:a16="http://schemas.microsoft.com/office/drawing/2014/main" id="{14C68CAE-F671-67D0-86F7-25F899EB9AA0}"/>
              </a:ext>
            </a:extLst>
          </p:cNvPr>
          <p:cNvSpPr>
            <a:spLocks noGrp="1" noChangeArrowheads="1"/>
          </p:cNvSpPr>
          <p:nvPr>
            <p:ph idx="1"/>
          </p:nvPr>
        </p:nvSpPr>
        <p:spPr bwMode="auto">
          <a:xfrm>
            <a:off x="838200" y="2293133"/>
            <a:ext cx="10515600" cy="34163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Not all terms are equally useful for retrieval:</a:t>
            </a:r>
          </a:p>
          <a:p>
            <a:pPr marL="457200" lvl="1" indent="0" eaLnBrk="0" fontAlgn="base" hangingPunct="0">
              <a:lnSpc>
                <a:spcPct val="100000"/>
              </a:lnSpc>
              <a:spcBef>
                <a:spcPct val="0"/>
              </a:spcBef>
              <a:spcAft>
                <a:spcPct val="0"/>
              </a:spcAft>
              <a:buFontTx/>
              <a:buChar char="•"/>
            </a:pPr>
            <a:r>
              <a:rPr kumimoji="0" lang="en-US" altLang="en-US" sz="1400" b="0" i="0" u="none" strike="noStrike" cap="none" normalizeH="0" baseline="0" dirty="0">
                <a:ln>
                  <a:noFill/>
                </a:ln>
                <a:solidFill>
                  <a:schemeClr val="tx1"/>
                </a:solidFill>
                <a:effectLst/>
                <a:latin typeface="Arial" panose="020B0604020202020204" pitchFamily="34" charset="0"/>
              </a:rPr>
              <a:t>Common words (e.g., </a:t>
            </a:r>
            <a:r>
              <a:rPr kumimoji="0" lang="en-US" altLang="en-US" sz="1400" b="0" i="1" u="none" strike="noStrike" cap="none" normalizeH="0" baseline="0" dirty="0">
                <a:ln>
                  <a:noFill/>
                </a:ln>
                <a:solidFill>
                  <a:schemeClr val="tx1"/>
                </a:solidFill>
                <a:effectLst/>
                <a:latin typeface="Arial" panose="020B0604020202020204" pitchFamily="34" charset="0"/>
              </a:rPr>
              <a:t>“the”, “is”, “person”</a:t>
            </a:r>
            <a:r>
              <a:rPr kumimoji="0" lang="en-US" altLang="en-US" sz="1400" b="0" i="0" u="none" strike="noStrike" cap="none" normalizeH="0" baseline="0" dirty="0">
                <a:ln>
                  <a:noFill/>
                </a:ln>
                <a:solidFill>
                  <a:schemeClr val="tx1"/>
                </a:solidFill>
                <a:effectLst/>
                <a:latin typeface="Arial" panose="020B0604020202020204" pitchFamily="34" charset="0"/>
              </a:rPr>
              <a:t>) appear in many documents</a:t>
            </a:r>
          </a:p>
          <a:p>
            <a:pPr marL="457200" lvl="1" indent="0" eaLnBrk="0" fontAlgn="base" hangingPunct="0">
              <a:lnSpc>
                <a:spcPct val="100000"/>
              </a:lnSpc>
              <a:spcBef>
                <a:spcPct val="0"/>
              </a:spcBef>
              <a:spcAft>
                <a:spcPct val="0"/>
              </a:spcAft>
              <a:buFontTx/>
              <a:buChar char="•"/>
            </a:pPr>
            <a:r>
              <a:rPr kumimoji="0" lang="en-US" altLang="en-US" sz="1400" b="0" i="0" u="none" strike="noStrike" cap="none" normalizeH="0" baseline="0" dirty="0">
                <a:ln>
                  <a:noFill/>
                </a:ln>
                <a:solidFill>
                  <a:schemeClr val="tx1"/>
                </a:solidFill>
                <a:effectLst/>
                <a:latin typeface="Arial" panose="020B0604020202020204" pitchFamily="34" charset="0"/>
              </a:rPr>
              <a:t>Rare words (e.g., </a:t>
            </a:r>
            <a:r>
              <a:rPr kumimoji="0" lang="en-US" altLang="en-US" sz="1400" b="0" i="1" u="none" strike="noStrike" cap="none" normalizeH="0" baseline="0" dirty="0">
                <a:ln>
                  <a:noFill/>
                </a:ln>
                <a:solidFill>
                  <a:schemeClr val="tx1"/>
                </a:solidFill>
                <a:effectLst/>
                <a:latin typeface="Arial" panose="020B0604020202020204" pitchFamily="34" charset="0"/>
              </a:rPr>
              <a:t>“capricious”</a:t>
            </a:r>
            <a:r>
              <a:rPr kumimoji="0" lang="en-US" altLang="en-US" sz="1400" b="0" i="0" u="none" strike="noStrike" cap="none" normalizeH="0" baseline="0" dirty="0">
                <a:ln>
                  <a:noFill/>
                </a:ln>
                <a:solidFill>
                  <a:schemeClr val="tx1"/>
                </a:solidFill>
                <a:effectLst/>
                <a:latin typeface="Arial" panose="020B0604020202020204" pitchFamily="34" charset="0"/>
              </a:rPr>
              <a:t>) are more </a:t>
            </a:r>
            <a:r>
              <a:rPr kumimoji="0" lang="en-US" altLang="en-US" sz="1400" b="1" i="0" u="none" strike="noStrike" cap="none" normalizeH="0" baseline="0" dirty="0">
                <a:ln>
                  <a:noFill/>
                </a:ln>
                <a:solidFill>
                  <a:schemeClr val="tx1"/>
                </a:solidFill>
                <a:effectLst/>
                <a:latin typeface="Arial" panose="020B0604020202020204" pitchFamily="34" charset="0"/>
              </a:rPr>
              <a:t>discriminative</a:t>
            </a:r>
            <a:endParaRPr kumimoji="0" lang="en-US" altLang="en-US" sz="14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Document Frequency (DF):</a:t>
            </a: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457200" lvl="1" indent="0" eaLnBrk="0" fontAlgn="base" hangingPunct="0">
              <a:lnSpc>
                <a:spcPct val="100000"/>
              </a:lnSpc>
              <a:spcBef>
                <a:spcPct val="0"/>
              </a:spcBef>
              <a:spcAft>
                <a:spcPct val="0"/>
              </a:spcAft>
              <a:buFontTx/>
              <a:buChar char="•"/>
            </a:pPr>
            <a:r>
              <a:rPr kumimoji="0" lang="en-US" altLang="en-US" sz="1400" b="0" i="0" u="none" strike="noStrike" cap="none" normalizeH="0" baseline="0" dirty="0">
                <a:ln>
                  <a:noFill/>
                </a:ln>
                <a:solidFill>
                  <a:schemeClr val="tx1"/>
                </a:solidFill>
                <a:effectLst/>
                <a:latin typeface="Arial" panose="020B0604020202020204" pitchFamily="34" charset="0"/>
              </a:rPr>
              <a:t>DF(t) = number of documents in which term </a:t>
            </a:r>
            <a:r>
              <a:rPr kumimoji="0" lang="en-US" altLang="en-US" sz="1400" b="0" i="1" u="none" strike="noStrike" cap="none" normalizeH="0" baseline="0" dirty="0">
                <a:ln>
                  <a:noFill/>
                </a:ln>
                <a:solidFill>
                  <a:schemeClr val="tx1"/>
                </a:solidFill>
                <a:effectLst/>
                <a:latin typeface="Arial" panose="020B0604020202020204" pitchFamily="34" charset="0"/>
              </a:rPr>
              <a:t>t</a:t>
            </a:r>
            <a:r>
              <a:rPr kumimoji="0" lang="en-US" altLang="en-US" sz="1400" b="0" i="0" u="none" strike="noStrike" cap="none" normalizeH="0" baseline="0" dirty="0">
                <a:ln>
                  <a:noFill/>
                </a:ln>
                <a:solidFill>
                  <a:schemeClr val="tx1"/>
                </a:solidFill>
                <a:effectLst/>
                <a:latin typeface="Arial" panose="020B0604020202020204" pitchFamily="34" charset="0"/>
              </a:rPr>
              <a:t> appears at least once</a:t>
            </a:r>
          </a:p>
          <a:p>
            <a:pPr marL="457200" lvl="1" indent="0" eaLnBrk="0" fontAlgn="base" hangingPunct="0">
              <a:lnSpc>
                <a:spcPct val="100000"/>
              </a:lnSpc>
              <a:spcBef>
                <a:spcPct val="0"/>
              </a:spcBef>
              <a:spcAft>
                <a:spcPct val="0"/>
              </a:spcAft>
              <a:buFontTx/>
              <a:buChar char="•"/>
            </a:pPr>
            <a:r>
              <a:rPr kumimoji="0" lang="en-US" altLang="en-US" sz="1400" b="0" i="0" u="none" strike="noStrike" cap="none" normalizeH="0" baseline="0" dirty="0">
                <a:ln>
                  <a:noFill/>
                </a:ln>
                <a:solidFill>
                  <a:schemeClr val="tx1"/>
                </a:solidFill>
                <a:effectLst/>
                <a:latin typeface="Arial" panose="020B0604020202020204" pitchFamily="34" charset="0"/>
              </a:rPr>
              <a:t>High DF → very common term</a:t>
            </a:r>
          </a:p>
          <a:p>
            <a:pPr marL="457200" lvl="1" indent="0" eaLnBrk="0" fontAlgn="base" hangingPunct="0">
              <a:lnSpc>
                <a:spcPct val="100000"/>
              </a:lnSpc>
              <a:spcBef>
                <a:spcPct val="0"/>
              </a:spcBef>
              <a:spcAft>
                <a:spcPct val="0"/>
              </a:spcAft>
              <a:buFontTx/>
              <a:buChar char="•"/>
            </a:pPr>
            <a:r>
              <a:rPr kumimoji="0" lang="en-US" altLang="en-US" sz="1400" b="0" i="0" u="none" strike="noStrike" cap="none" normalizeH="0" baseline="0" dirty="0">
                <a:ln>
                  <a:noFill/>
                </a:ln>
                <a:solidFill>
                  <a:schemeClr val="tx1"/>
                </a:solidFill>
                <a:effectLst/>
                <a:latin typeface="Arial" panose="020B0604020202020204" pitchFamily="34" charset="0"/>
              </a:rPr>
              <a:t>Low DF → rare term</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We want rare terms to get higher weight</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Idea: </a:t>
            </a:r>
            <a:r>
              <a:rPr kumimoji="0" lang="en-US" altLang="en-US" sz="1800" b="1" i="0" u="none" strike="noStrike" cap="none" normalizeH="0" baseline="0" dirty="0">
                <a:ln>
                  <a:noFill/>
                </a:ln>
                <a:solidFill>
                  <a:schemeClr val="tx1"/>
                </a:solidFill>
                <a:effectLst/>
                <a:latin typeface="Arial" panose="020B0604020202020204" pitchFamily="34" charset="0"/>
              </a:rPr>
              <a:t>Inverse Document Frequency (IDF)</a:t>
            </a: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457200" lvl="1" indent="0" eaLnBrk="0" fontAlgn="base" hangingPunct="0">
              <a:lnSpc>
                <a:spcPct val="100000"/>
              </a:lnSpc>
              <a:spcBef>
                <a:spcPct val="0"/>
              </a:spcBef>
              <a:spcAft>
                <a:spcPct val="0"/>
              </a:spcAft>
              <a:buFontTx/>
              <a:buChar char="•"/>
            </a:pPr>
            <a:r>
              <a:rPr kumimoji="0" lang="en-US" altLang="en-US" sz="1400" b="0" i="0" u="none" strike="noStrike" cap="none" normalizeH="0" baseline="0" dirty="0">
                <a:ln>
                  <a:noFill/>
                </a:ln>
                <a:solidFill>
                  <a:schemeClr val="tx1"/>
                </a:solidFill>
                <a:effectLst/>
                <a:latin typeface="Arial" panose="020B0604020202020204" pitchFamily="34" charset="0"/>
              </a:rPr>
              <a:t>IDF(t) ≈ log(N / DF(t)), where N = total number of documents</a:t>
            </a:r>
          </a:p>
          <a:p>
            <a:pPr marL="457200" lvl="1" indent="0" eaLnBrk="0" fontAlgn="base" hangingPunct="0">
              <a:lnSpc>
                <a:spcPct val="100000"/>
              </a:lnSpc>
              <a:spcBef>
                <a:spcPct val="0"/>
              </a:spcBef>
              <a:spcAft>
                <a:spcPct val="0"/>
              </a:spcAft>
              <a:buFontTx/>
              <a:buChar char="•"/>
            </a:pPr>
            <a:r>
              <a:rPr kumimoji="0" lang="en-US" altLang="en-US" sz="1400" b="0" i="0" u="none" strike="noStrike" cap="none" normalizeH="0" baseline="0" dirty="0">
                <a:ln>
                  <a:noFill/>
                </a:ln>
                <a:solidFill>
                  <a:schemeClr val="tx1"/>
                </a:solidFill>
                <a:effectLst/>
                <a:latin typeface="Arial" panose="020B0604020202020204" pitchFamily="34" charset="0"/>
              </a:rPr>
              <a:t>Common terms (high DF) → low IDF</a:t>
            </a:r>
          </a:p>
          <a:p>
            <a:pPr marL="457200" lvl="1" indent="0" eaLnBrk="0" fontAlgn="base" hangingPunct="0">
              <a:lnSpc>
                <a:spcPct val="100000"/>
              </a:lnSpc>
              <a:spcBef>
                <a:spcPct val="0"/>
              </a:spcBef>
              <a:spcAft>
                <a:spcPct val="0"/>
              </a:spcAft>
              <a:buFontTx/>
              <a:buChar char="•"/>
            </a:pPr>
            <a:r>
              <a:rPr kumimoji="0" lang="en-US" altLang="en-US" sz="1400" b="0" i="0" u="none" strike="noStrike" cap="none" normalizeH="0" baseline="0" dirty="0">
                <a:ln>
                  <a:noFill/>
                </a:ln>
                <a:solidFill>
                  <a:schemeClr val="tx1"/>
                </a:solidFill>
                <a:effectLst/>
                <a:latin typeface="Arial" panose="020B0604020202020204" pitchFamily="34" charset="0"/>
              </a:rPr>
              <a:t>Rare terms (low DF) → high IDF</a:t>
            </a:r>
          </a:p>
          <a:p>
            <a:pPr marL="457200" lvl="1" indent="0" eaLnBrk="0" fontAlgn="base" hangingPunct="0">
              <a:lnSpc>
                <a:spcPct val="100000"/>
              </a:lnSpc>
              <a:spcBef>
                <a:spcPct val="0"/>
              </a:spcBef>
              <a:spcAft>
                <a:spcPct val="0"/>
              </a:spcAft>
              <a:buFontTx/>
              <a:buChar char="•"/>
            </a:pPr>
            <a:r>
              <a:rPr kumimoji="0" lang="en-US" altLang="en-US" sz="1400" b="0" i="0" u="none" strike="noStrike" cap="none" normalizeH="0" baseline="0" dirty="0">
                <a:ln>
                  <a:noFill/>
                </a:ln>
                <a:solidFill>
                  <a:schemeClr val="tx1"/>
                </a:solidFill>
                <a:effectLst/>
                <a:latin typeface="Arial" panose="020B0604020202020204" pitchFamily="34" charset="0"/>
              </a:rPr>
              <a:t>Together with TF (and log TF), IDF leads to </a:t>
            </a:r>
            <a:r>
              <a:rPr kumimoji="0" lang="en-US" altLang="en-US" sz="1400" b="1" i="0" u="none" strike="noStrike" cap="none" normalizeH="0" baseline="0" dirty="0">
                <a:ln>
                  <a:noFill/>
                </a:ln>
                <a:solidFill>
                  <a:schemeClr val="tx1"/>
                </a:solidFill>
                <a:effectLst/>
                <a:latin typeface="Arial" panose="020B0604020202020204" pitchFamily="34" charset="0"/>
              </a:rPr>
              <a:t>TF–IDF weighting</a:t>
            </a:r>
            <a:r>
              <a:rPr kumimoji="0" lang="en-US" altLang="en-US" sz="1400" b="0" i="0" u="none" strike="noStrike" cap="none" normalizeH="0" baseline="0" dirty="0">
                <a:ln>
                  <a:noFill/>
                </a:ln>
                <a:solidFill>
                  <a:schemeClr val="tx1"/>
                </a:solidFill>
                <a:effectLst/>
                <a:latin typeface="Arial" panose="020B0604020202020204" pitchFamily="34" charset="0"/>
              </a:rPr>
              <a:t>,</a:t>
            </a:r>
            <a:br>
              <a:rPr kumimoji="0" lang="en-US" altLang="en-US" sz="1400" b="0" i="0" u="none" strike="noStrike" cap="none" normalizeH="0" baseline="0" dirty="0">
                <a:ln>
                  <a:noFill/>
                </a:ln>
                <a:solidFill>
                  <a:schemeClr val="tx1"/>
                </a:solidFill>
                <a:effectLst/>
                <a:latin typeface="Arial" panose="020B0604020202020204" pitchFamily="34" charset="0"/>
              </a:rPr>
            </a:br>
            <a:r>
              <a:rPr kumimoji="0" lang="en-US" altLang="en-US" sz="1400" b="0" i="0" u="none" strike="noStrike" cap="none" normalizeH="0" baseline="0" dirty="0">
                <a:ln>
                  <a:noFill/>
                </a:ln>
                <a:solidFill>
                  <a:schemeClr val="tx1"/>
                </a:solidFill>
                <a:effectLst/>
                <a:latin typeface="Arial" panose="020B0604020202020204" pitchFamily="34" charset="0"/>
              </a:rPr>
              <a:t>which is the foundation of many </a:t>
            </a:r>
            <a:r>
              <a:rPr kumimoji="0" lang="en-US" altLang="en-US" sz="1400" b="1" i="0" u="none" strike="noStrike" cap="none" normalizeH="0" baseline="0" dirty="0">
                <a:ln>
                  <a:noFill/>
                </a:ln>
                <a:solidFill>
                  <a:schemeClr val="tx1"/>
                </a:solidFill>
                <a:effectLst/>
                <a:latin typeface="Arial" panose="020B0604020202020204" pitchFamily="34" charset="0"/>
              </a:rPr>
              <a:t>ranked retrieval models</a:t>
            </a:r>
            <a:endParaRPr kumimoji="0" lang="en-US" altLang="en-US" sz="14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292467126"/>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BDA3056-5465-992D-0523-CC20CF775660}"/>
              </a:ext>
            </a:extLst>
          </p:cNvPr>
          <p:cNvSpPr>
            <a:spLocks noGrp="1"/>
          </p:cNvSpPr>
          <p:nvPr>
            <p:ph type="title"/>
          </p:nvPr>
        </p:nvSpPr>
        <p:spPr/>
        <p:txBody>
          <a:bodyPr/>
          <a:lstStyle/>
          <a:p>
            <a:r>
              <a:rPr lang="en-IN" dirty="0"/>
              <a:t>Recap: Why Term Weighting?</a:t>
            </a:r>
            <a:endParaRPr lang="en-US" dirty="0"/>
          </a:p>
        </p:txBody>
      </p:sp>
      <p:sp>
        <p:nvSpPr>
          <p:cNvPr id="3" name="Content Placeholder 2">
            <a:extLst>
              <a:ext uri="{FF2B5EF4-FFF2-40B4-BE49-F238E27FC236}">
                <a16:creationId xmlns:a16="http://schemas.microsoft.com/office/drawing/2014/main" id="{2F200B69-93B8-D8EC-5DBA-3AA17A36BCB1}"/>
              </a:ext>
            </a:extLst>
          </p:cNvPr>
          <p:cNvSpPr>
            <a:spLocks noGrp="1"/>
          </p:cNvSpPr>
          <p:nvPr>
            <p:ph idx="1"/>
          </p:nvPr>
        </p:nvSpPr>
        <p:spPr/>
        <p:txBody>
          <a:bodyPr/>
          <a:lstStyle/>
          <a:p>
            <a:r>
              <a:rPr lang="en-IN" dirty="0"/>
              <a:t>Retrieval ranks documents based on </a:t>
            </a:r>
            <a:r>
              <a:rPr lang="en-IN" b="1" dirty="0"/>
              <a:t>relevance to a query</a:t>
            </a:r>
            <a:endParaRPr lang="en-IN" dirty="0"/>
          </a:p>
          <a:p>
            <a:r>
              <a:rPr lang="en-IN" dirty="0"/>
              <a:t>Early idea: Binary model</a:t>
            </a:r>
          </a:p>
          <a:p>
            <a:pPr lvl="1"/>
            <a:r>
              <a:rPr lang="en-IN" dirty="0"/>
              <a:t>1 → term present</a:t>
            </a:r>
          </a:p>
          <a:p>
            <a:pPr lvl="1"/>
            <a:r>
              <a:rPr lang="en-IN" dirty="0"/>
              <a:t>0 → term absent</a:t>
            </a:r>
          </a:p>
          <a:p>
            <a:r>
              <a:rPr lang="en-IN" dirty="0"/>
              <a:t>Improved idea: Use </a:t>
            </a:r>
            <a:r>
              <a:rPr lang="en-IN" b="1" dirty="0"/>
              <a:t>term frequency</a:t>
            </a:r>
            <a:r>
              <a:rPr lang="en-IN" dirty="0"/>
              <a:t> (TF) instead of binary match</a:t>
            </a:r>
          </a:p>
          <a:p>
            <a:r>
              <a:rPr lang="en-IN" dirty="0"/>
              <a:t>Term weights act as a </a:t>
            </a:r>
            <a:r>
              <a:rPr lang="en-IN" b="1" dirty="0"/>
              <a:t>signal for relevance</a:t>
            </a:r>
            <a:endParaRPr lang="en-IN" dirty="0"/>
          </a:p>
          <a:p>
            <a:r>
              <a:rPr lang="en-IN" dirty="0"/>
              <a:t>Goal: Assign appropriate weight so rarer &amp; meaningful terms influence ranking more</a:t>
            </a:r>
          </a:p>
          <a:p>
            <a:endParaRPr lang="en-US" dirty="0"/>
          </a:p>
        </p:txBody>
      </p:sp>
    </p:spTree>
    <p:extLst>
      <p:ext uri="{BB962C8B-B14F-4D97-AF65-F5344CB8AC3E}">
        <p14:creationId xmlns:p14="http://schemas.microsoft.com/office/powerpoint/2010/main" val="3960246340"/>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34311C0-96CC-8F4C-F891-622F9FF91B72}"/>
              </a:ext>
            </a:extLst>
          </p:cNvPr>
          <p:cNvSpPr>
            <a:spLocks noGrp="1"/>
          </p:cNvSpPr>
          <p:nvPr>
            <p:ph type="title"/>
          </p:nvPr>
        </p:nvSpPr>
        <p:spPr/>
        <p:txBody>
          <a:bodyPr>
            <a:normAutofit/>
          </a:bodyPr>
          <a:lstStyle/>
          <a:p>
            <a:r>
              <a:rPr lang="en-US" dirty="0"/>
              <a:t>From Binary Presence → Term Incidence Vector</a:t>
            </a:r>
          </a:p>
        </p:txBody>
      </p:sp>
      <p:sp>
        <p:nvSpPr>
          <p:cNvPr id="3" name="Content Placeholder 2">
            <a:extLst>
              <a:ext uri="{FF2B5EF4-FFF2-40B4-BE49-F238E27FC236}">
                <a16:creationId xmlns:a16="http://schemas.microsoft.com/office/drawing/2014/main" id="{1819A262-97D0-A3C7-4A8B-880AF9B38234}"/>
              </a:ext>
            </a:extLst>
          </p:cNvPr>
          <p:cNvSpPr>
            <a:spLocks noGrp="1"/>
          </p:cNvSpPr>
          <p:nvPr>
            <p:ph idx="1"/>
          </p:nvPr>
        </p:nvSpPr>
        <p:spPr/>
        <p:txBody>
          <a:bodyPr/>
          <a:lstStyle/>
          <a:p>
            <a:r>
              <a:rPr lang="en-IN" dirty="0"/>
              <a:t>For each term (e.g., “</a:t>
            </a:r>
            <a:r>
              <a:rPr lang="en-IN" dirty="0" err="1"/>
              <a:t>india</a:t>
            </a:r>
            <a:r>
              <a:rPr lang="en-IN" dirty="0"/>
              <a:t>”) build a vector over all documents</a:t>
            </a:r>
          </a:p>
          <a:p>
            <a:r>
              <a:rPr lang="en-IN" dirty="0"/>
              <a:t>Document index </a:t>
            </a:r>
            <a:r>
              <a:rPr lang="en-IN" dirty="0" err="1"/>
              <a:t>i</a:t>
            </a:r>
            <a:r>
              <a:rPr lang="en-IN" dirty="0"/>
              <a:t> contains:</a:t>
            </a:r>
          </a:p>
          <a:p>
            <a:pPr lvl="1"/>
            <a:r>
              <a:rPr lang="en-IN" dirty="0"/>
              <a:t>1 → term appears in doc </a:t>
            </a:r>
            <a:r>
              <a:rPr lang="en-IN" dirty="0" err="1"/>
              <a:t>i</a:t>
            </a:r>
            <a:endParaRPr lang="en-IN" dirty="0"/>
          </a:p>
          <a:p>
            <a:pPr lvl="1"/>
            <a:r>
              <a:rPr lang="en-IN" dirty="0"/>
              <a:t>0 → term absent in doc </a:t>
            </a:r>
            <a:r>
              <a:rPr lang="en-IN" dirty="0" err="1"/>
              <a:t>i</a:t>
            </a:r>
            <a:endParaRPr lang="en-IN" dirty="0"/>
          </a:p>
          <a:p>
            <a:r>
              <a:rPr lang="en-IN" dirty="0"/>
              <a:t>Vector length = number of documents (</a:t>
            </a:r>
            <a:r>
              <a:rPr lang="en-IN" b="1" dirty="0"/>
              <a:t>M</a:t>
            </a:r>
            <a:r>
              <a:rPr lang="en-IN" dirty="0"/>
              <a:t>)</a:t>
            </a:r>
          </a:p>
          <a:p>
            <a:r>
              <a:rPr lang="en-IN" dirty="0"/>
              <a:t>Forms basis for </a:t>
            </a:r>
            <a:r>
              <a:rPr lang="en-IN" b="1" dirty="0"/>
              <a:t>Boolean Retrieval Model</a:t>
            </a:r>
            <a:endParaRPr lang="en-IN" dirty="0"/>
          </a:p>
          <a:p>
            <a:r>
              <a:rPr lang="en-IN" dirty="0"/>
              <a:t>But Boolean retrieval doesn’t differentiate </a:t>
            </a:r>
            <a:r>
              <a:rPr lang="en-IN" b="1" dirty="0"/>
              <a:t>more relevant vs less relevant</a:t>
            </a:r>
            <a:endParaRPr lang="en-IN" dirty="0"/>
          </a:p>
          <a:p>
            <a:endParaRPr lang="en-US" dirty="0"/>
          </a:p>
        </p:txBody>
      </p:sp>
    </p:spTree>
    <p:extLst>
      <p:ext uri="{BB962C8B-B14F-4D97-AF65-F5344CB8AC3E}">
        <p14:creationId xmlns:p14="http://schemas.microsoft.com/office/powerpoint/2010/main" val="3224305378"/>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EA9C3EB-DE79-822C-DF4A-F6E9801215AA}"/>
              </a:ext>
            </a:extLst>
          </p:cNvPr>
          <p:cNvSpPr>
            <a:spLocks noGrp="1"/>
          </p:cNvSpPr>
          <p:nvPr>
            <p:ph type="title"/>
          </p:nvPr>
        </p:nvSpPr>
        <p:spPr/>
        <p:txBody>
          <a:bodyPr/>
          <a:lstStyle/>
          <a:p>
            <a:r>
              <a:rPr lang="en-IN" dirty="0"/>
              <a:t>Term Frequency (TF) + Log Damping</a:t>
            </a:r>
            <a:endParaRPr lang="en-US" dirty="0"/>
          </a:p>
        </p:txBody>
      </p:sp>
      <p:sp>
        <p:nvSpPr>
          <p:cNvPr id="3" name="Content Placeholder 2">
            <a:extLst>
              <a:ext uri="{FF2B5EF4-FFF2-40B4-BE49-F238E27FC236}">
                <a16:creationId xmlns:a16="http://schemas.microsoft.com/office/drawing/2014/main" id="{AA3AD444-63E7-CDAD-E0E1-E4F1F78DB132}"/>
              </a:ext>
            </a:extLst>
          </p:cNvPr>
          <p:cNvSpPr>
            <a:spLocks noGrp="1"/>
          </p:cNvSpPr>
          <p:nvPr>
            <p:ph idx="1"/>
          </p:nvPr>
        </p:nvSpPr>
        <p:spPr/>
        <p:txBody>
          <a:bodyPr>
            <a:normAutofit fontScale="77500" lnSpcReduction="20000"/>
          </a:bodyPr>
          <a:lstStyle/>
          <a:p>
            <a:r>
              <a:rPr lang="en-IN" dirty="0"/>
              <a:t>Store </a:t>
            </a:r>
            <a:r>
              <a:rPr lang="en-IN" b="1" dirty="0"/>
              <a:t>counts</a:t>
            </a:r>
            <a:r>
              <a:rPr lang="en-IN" dirty="0"/>
              <a:t> instead of just presence = TF(</a:t>
            </a:r>
            <a:r>
              <a:rPr lang="en-IN" dirty="0" err="1"/>
              <a:t>t,d</a:t>
            </a:r>
            <a:r>
              <a:rPr lang="en-IN" dirty="0"/>
              <a:t>)</a:t>
            </a:r>
          </a:p>
          <a:p>
            <a:r>
              <a:rPr lang="en-IN" dirty="0"/>
              <a:t>Problem: raw TF increases </a:t>
            </a:r>
            <a:r>
              <a:rPr lang="en-IN" b="1" dirty="0"/>
              <a:t>linearly</a:t>
            </a:r>
            <a:r>
              <a:rPr lang="en-IN" dirty="0"/>
              <a:t>, but relevance does not</a:t>
            </a:r>
          </a:p>
          <a:p>
            <a:r>
              <a:rPr lang="en-IN" dirty="0"/>
              <a:t>Solution: </a:t>
            </a:r>
            <a:r>
              <a:rPr lang="en-IN" b="1" dirty="0"/>
              <a:t>Sublinear scaling using log</a:t>
            </a:r>
            <a:endParaRPr lang="en-IN" dirty="0"/>
          </a:p>
          <a:p>
            <a:r>
              <a:rPr lang="en-IN" dirty="0"/>
              <a:t>If TF &gt; 0:</a:t>
            </a:r>
            <a:br>
              <a:rPr lang="en-IN" dirty="0"/>
            </a:br>
            <a:r>
              <a:rPr lang="en-IN" dirty="0"/>
              <a:t>→ weight(</a:t>
            </a:r>
            <a:r>
              <a:rPr lang="en-IN" dirty="0" err="1"/>
              <a:t>t,d</a:t>
            </a:r>
            <a:r>
              <a:rPr lang="en-IN" dirty="0"/>
              <a:t>) = 1 + log₁₀(TF(</a:t>
            </a:r>
            <a:r>
              <a:rPr lang="en-IN" dirty="0" err="1"/>
              <a:t>t,d</a:t>
            </a:r>
            <a:r>
              <a:rPr lang="en-IN" dirty="0"/>
              <a:t>))</a:t>
            </a:r>
            <a:br>
              <a:rPr lang="en-IN" dirty="0"/>
            </a:br>
            <a:r>
              <a:rPr lang="en-IN" dirty="0"/>
              <a:t>Else:</a:t>
            </a:r>
            <a:br>
              <a:rPr lang="en-IN" dirty="0"/>
            </a:br>
            <a:r>
              <a:rPr lang="en-IN" dirty="0"/>
              <a:t>→ 0</a:t>
            </a:r>
          </a:p>
          <a:p>
            <a:r>
              <a:rPr lang="en-IN" b="1" dirty="0"/>
              <a:t>Effect Example:</a:t>
            </a:r>
            <a:endParaRPr lang="en-IN" dirty="0"/>
          </a:p>
          <a:p>
            <a:r>
              <a:rPr lang="en-IN" dirty="0"/>
              <a:t>TF=1 → weight=1</a:t>
            </a:r>
          </a:p>
          <a:p>
            <a:r>
              <a:rPr lang="en-IN" dirty="0"/>
              <a:t>TF=2 → 1.3</a:t>
            </a:r>
          </a:p>
          <a:p>
            <a:r>
              <a:rPr lang="en-IN" dirty="0"/>
              <a:t>TF=10 → 2</a:t>
            </a:r>
          </a:p>
          <a:p>
            <a:r>
              <a:rPr lang="en-IN" dirty="0"/>
              <a:t>TF=1000 → 4</a:t>
            </a:r>
            <a:br>
              <a:rPr lang="en-IN" dirty="0"/>
            </a:br>
            <a:r>
              <a:rPr lang="en-IN" dirty="0"/>
              <a:t>→ Big TF doesn’t explode score</a:t>
            </a:r>
          </a:p>
          <a:p>
            <a:endParaRPr lang="en-US" dirty="0"/>
          </a:p>
        </p:txBody>
      </p:sp>
    </p:spTree>
    <p:extLst>
      <p:ext uri="{BB962C8B-B14F-4D97-AF65-F5344CB8AC3E}">
        <p14:creationId xmlns:p14="http://schemas.microsoft.com/office/powerpoint/2010/main" val="1084903471"/>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AE9DBC5-B4B0-9AF1-28BE-D8D4ED5E32FF}"/>
              </a:ext>
            </a:extLst>
          </p:cNvPr>
          <p:cNvSpPr>
            <a:spLocks noGrp="1"/>
          </p:cNvSpPr>
          <p:nvPr>
            <p:ph type="title"/>
          </p:nvPr>
        </p:nvSpPr>
        <p:spPr/>
        <p:txBody>
          <a:bodyPr/>
          <a:lstStyle/>
          <a:p>
            <a:r>
              <a:rPr lang="en-US" dirty="0"/>
              <a:t>Why Rare Terms Matter (Intuition)</a:t>
            </a:r>
          </a:p>
        </p:txBody>
      </p:sp>
      <p:sp>
        <p:nvSpPr>
          <p:cNvPr id="4" name="Rectangle 1">
            <a:extLst>
              <a:ext uri="{FF2B5EF4-FFF2-40B4-BE49-F238E27FC236}">
                <a16:creationId xmlns:a16="http://schemas.microsoft.com/office/drawing/2014/main" id="{FCF43381-3F22-9AD1-7C03-DC70CF7502A9}"/>
              </a:ext>
            </a:extLst>
          </p:cNvPr>
          <p:cNvSpPr>
            <a:spLocks noGrp="1" noChangeArrowheads="1"/>
          </p:cNvSpPr>
          <p:nvPr>
            <p:ph idx="1"/>
          </p:nvPr>
        </p:nvSpPr>
        <p:spPr bwMode="auto">
          <a:xfrm>
            <a:off x="938213" y="1690688"/>
            <a:ext cx="10525638" cy="267765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b="0" i="0" u="none" strike="noStrike" cap="none" normalizeH="0" baseline="0" dirty="0">
                <a:ln>
                  <a:noFill/>
                </a:ln>
                <a:solidFill>
                  <a:schemeClr val="tx1"/>
                </a:solidFill>
                <a:effectLst/>
                <a:latin typeface="Arial" panose="020B0604020202020204" pitchFamily="34" charset="0"/>
              </a:rPr>
              <a:t>Rare terms are </a:t>
            </a:r>
            <a:r>
              <a:rPr kumimoji="0" lang="en-US" altLang="en-US" b="1" i="0" u="none" strike="noStrike" cap="none" normalizeH="0" baseline="0" dirty="0">
                <a:ln>
                  <a:noFill/>
                </a:ln>
                <a:solidFill>
                  <a:schemeClr val="tx1"/>
                </a:solidFill>
                <a:effectLst/>
                <a:latin typeface="Arial" panose="020B0604020202020204" pitchFamily="34" charset="0"/>
              </a:rPr>
              <a:t>more informative</a:t>
            </a:r>
            <a:r>
              <a:rPr kumimoji="0" lang="en-US" altLang="en-US" b="0" i="0" u="none" strike="noStrike" cap="none" normalizeH="0" baseline="0" dirty="0">
                <a:ln>
                  <a:noFill/>
                </a:ln>
                <a:solidFill>
                  <a:schemeClr val="tx1"/>
                </a:solidFill>
                <a:effectLst/>
                <a:latin typeface="Arial" panose="020B0604020202020204" pitchFamily="34" charset="0"/>
              </a:rPr>
              <a:t> than common terms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b="0" i="0" u="none" strike="noStrike" cap="none" normalizeH="0" baseline="0" dirty="0">
                <a:ln>
                  <a:noFill/>
                </a:ln>
                <a:solidFill>
                  <a:schemeClr val="tx1"/>
                </a:solidFill>
                <a:effectLst/>
                <a:latin typeface="Arial" panose="020B0604020202020204" pitchFamily="34" charset="0"/>
              </a:rPr>
              <a:t>Example query: </a:t>
            </a:r>
            <a:r>
              <a:rPr kumimoji="0" lang="en-US" altLang="en-US" b="0" i="1" u="none" strike="noStrike" cap="none" normalizeH="0" baseline="0" dirty="0">
                <a:ln>
                  <a:noFill/>
                </a:ln>
                <a:solidFill>
                  <a:schemeClr val="tx1"/>
                </a:solidFill>
                <a:effectLst/>
                <a:latin typeface="Arial" panose="020B0604020202020204" pitchFamily="34" charset="0"/>
              </a:rPr>
              <a:t>“diseases caused by smoking”</a:t>
            </a:r>
            <a:endParaRPr kumimoji="0" lang="en-US" altLang="en-US"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b="0" i="0" u="none" strike="noStrike" cap="none" normalizeH="0" baseline="0" dirty="0">
                <a:ln>
                  <a:noFill/>
                </a:ln>
                <a:solidFill>
                  <a:schemeClr val="tx1"/>
                </a:solidFill>
                <a:effectLst/>
                <a:latin typeface="Arial" panose="020B0604020202020204" pitchFamily="34" charset="0"/>
              </a:rPr>
              <a:t>Relevant info mostly in </a:t>
            </a:r>
            <a:r>
              <a:rPr kumimoji="0" lang="en-US" altLang="en-US" b="1" i="0" u="none" strike="noStrike" cap="none" normalizeH="0" baseline="0" dirty="0">
                <a:ln>
                  <a:noFill/>
                </a:ln>
                <a:solidFill>
                  <a:schemeClr val="tx1"/>
                </a:solidFill>
                <a:effectLst/>
                <a:latin typeface="Arial" panose="020B0604020202020204" pitchFamily="34" charset="0"/>
              </a:rPr>
              <a:t>“diseases”</a:t>
            </a:r>
            <a:r>
              <a:rPr kumimoji="0" lang="en-US" altLang="en-US" b="0" i="0" u="none" strike="noStrike" cap="none" normalizeH="0" baseline="0" dirty="0">
                <a:ln>
                  <a:noFill/>
                </a:ln>
                <a:solidFill>
                  <a:schemeClr val="tx1"/>
                </a:solidFill>
                <a:effectLst/>
                <a:latin typeface="Arial" panose="020B0604020202020204" pitchFamily="34" charset="0"/>
              </a:rPr>
              <a:t> + </a:t>
            </a:r>
            <a:r>
              <a:rPr kumimoji="0" lang="en-US" altLang="en-US" b="1" i="0" u="none" strike="noStrike" cap="none" normalizeH="0" baseline="0" dirty="0">
                <a:ln>
                  <a:noFill/>
                </a:ln>
                <a:solidFill>
                  <a:schemeClr val="tx1"/>
                </a:solidFill>
                <a:effectLst/>
                <a:latin typeface="Arial" panose="020B0604020202020204" pitchFamily="34" charset="0"/>
              </a:rPr>
              <a:t>“smoking”</a:t>
            </a:r>
            <a:endParaRPr kumimoji="0" lang="en-US" altLang="en-US"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b="0" i="0" u="none" strike="noStrike" cap="none" normalizeH="0" baseline="0" dirty="0">
                <a:ln>
                  <a:noFill/>
                </a:ln>
                <a:solidFill>
                  <a:schemeClr val="tx1"/>
                </a:solidFill>
                <a:effectLst/>
                <a:latin typeface="Arial" panose="020B0604020202020204" pitchFamily="34" charset="0"/>
              </a:rPr>
              <a:t>Term </a:t>
            </a:r>
            <a:r>
              <a:rPr kumimoji="0" lang="en-US" altLang="en-US" b="1" i="0" u="none" strike="noStrike" cap="none" normalizeH="0" baseline="0" dirty="0">
                <a:ln>
                  <a:noFill/>
                </a:ln>
                <a:solidFill>
                  <a:schemeClr val="tx1"/>
                </a:solidFill>
                <a:effectLst/>
                <a:latin typeface="Arial" panose="020B0604020202020204" pitchFamily="34" charset="0"/>
              </a:rPr>
              <a:t>“cause/caused”</a:t>
            </a:r>
            <a:r>
              <a:rPr kumimoji="0" lang="en-US" altLang="en-US" b="0" i="0" u="none" strike="noStrike" cap="none" normalizeH="0" baseline="0" dirty="0">
                <a:ln>
                  <a:noFill/>
                </a:ln>
                <a:solidFill>
                  <a:schemeClr val="tx1"/>
                </a:solidFill>
                <a:effectLst/>
                <a:latin typeface="Arial" panose="020B0604020202020204" pitchFamily="34" charset="0"/>
              </a:rPr>
              <a:t> is too generic → less useful for retrieval</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b="0" i="0" u="none" strike="noStrike" cap="none" normalizeH="0" baseline="0" dirty="0">
                <a:ln>
                  <a:noFill/>
                </a:ln>
                <a:solidFill>
                  <a:schemeClr val="tx1"/>
                </a:solidFill>
                <a:effectLst/>
                <a:latin typeface="Arial" panose="020B0604020202020204" pitchFamily="34" charset="0"/>
              </a:rPr>
              <a:t>Rarity depends on </a:t>
            </a:r>
            <a:r>
              <a:rPr kumimoji="0" lang="en-US" altLang="en-US" b="1" i="0" u="none" strike="noStrike" cap="none" normalizeH="0" baseline="0" dirty="0">
                <a:ln>
                  <a:noFill/>
                </a:ln>
                <a:solidFill>
                  <a:schemeClr val="tx1"/>
                </a:solidFill>
                <a:effectLst/>
                <a:latin typeface="Arial" panose="020B0604020202020204" pitchFamily="34" charset="0"/>
              </a:rPr>
              <a:t>collection</a:t>
            </a:r>
            <a:r>
              <a:rPr kumimoji="0" lang="en-US" altLang="en-US" b="0" i="0" u="none" strike="noStrike" cap="none" normalizeH="0" baseline="0" dirty="0">
                <a:ln>
                  <a:noFill/>
                </a:ln>
                <a:solidFill>
                  <a:schemeClr val="tx1"/>
                </a:solidFill>
                <a:effectLst/>
                <a:latin typeface="Arial" panose="020B0604020202020204" pitchFamily="34" charset="0"/>
              </a:rPr>
              <a:t>, not dictionary</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b="0" i="0" u="none" strike="noStrike" cap="none" normalizeH="0" baseline="0" dirty="0">
                <a:ln>
                  <a:noFill/>
                </a:ln>
                <a:solidFill>
                  <a:schemeClr val="tx1"/>
                </a:solidFill>
                <a:effectLst/>
                <a:latin typeface="Arial" panose="020B0604020202020204" pitchFamily="34" charset="0"/>
              </a:rPr>
              <a:t>Stop words removed, but many non-</a:t>
            </a:r>
            <a:r>
              <a:rPr kumimoji="0" lang="en-US" altLang="en-US" b="0" i="0" u="none" strike="noStrike" cap="none" normalizeH="0" baseline="0" dirty="0" err="1">
                <a:ln>
                  <a:noFill/>
                </a:ln>
                <a:solidFill>
                  <a:schemeClr val="tx1"/>
                </a:solidFill>
                <a:effectLst/>
                <a:latin typeface="Arial" panose="020B0604020202020204" pitchFamily="34" charset="0"/>
              </a:rPr>
              <a:t>stopwords</a:t>
            </a:r>
            <a:r>
              <a:rPr kumimoji="0" lang="en-US" altLang="en-US" b="0" i="0" u="none" strike="noStrike" cap="none" normalizeH="0" baseline="0" dirty="0">
                <a:ln>
                  <a:noFill/>
                </a:ln>
                <a:solidFill>
                  <a:schemeClr val="tx1"/>
                </a:solidFill>
                <a:effectLst/>
                <a:latin typeface="Arial" panose="020B0604020202020204" pitchFamily="34" charset="0"/>
              </a:rPr>
              <a:t> are still </a:t>
            </a:r>
            <a:r>
              <a:rPr kumimoji="0" lang="en-US" altLang="en-US" b="1" i="0" u="none" strike="noStrike" cap="none" normalizeH="0" baseline="0" dirty="0">
                <a:ln>
                  <a:noFill/>
                </a:ln>
                <a:solidFill>
                  <a:schemeClr val="tx1"/>
                </a:solidFill>
                <a:effectLst/>
                <a:latin typeface="Arial" panose="020B0604020202020204" pitchFamily="34" charset="0"/>
              </a:rPr>
              <a:t>frequent</a:t>
            </a: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2309326512"/>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609DFE8-4562-8923-7645-E8F5305FA99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09F2976-ACA9-7552-8588-D43F1CD5BCBB}"/>
              </a:ext>
            </a:extLst>
          </p:cNvPr>
          <p:cNvSpPr>
            <a:spLocks noGrp="1"/>
          </p:cNvSpPr>
          <p:nvPr>
            <p:ph type="title"/>
          </p:nvPr>
        </p:nvSpPr>
        <p:spPr/>
        <p:txBody>
          <a:bodyPr/>
          <a:lstStyle/>
          <a:p>
            <a:r>
              <a:rPr lang="en-US" dirty="0"/>
              <a:t>Unit 1: Vector Space Model of Retrieval</a:t>
            </a:r>
          </a:p>
        </p:txBody>
      </p:sp>
      <p:sp>
        <p:nvSpPr>
          <p:cNvPr id="3" name="Content Placeholder 2">
            <a:extLst>
              <a:ext uri="{FF2B5EF4-FFF2-40B4-BE49-F238E27FC236}">
                <a16:creationId xmlns:a16="http://schemas.microsoft.com/office/drawing/2014/main" id="{61C313C3-CDB4-CFCB-36FB-E86756708C53}"/>
              </a:ext>
            </a:extLst>
          </p:cNvPr>
          <p:cNvSpPr>
            <a:spLocks noGrp="1"/>
          </p:cNvSpPr>
          <p:nvPr>
            <p:ph idx="1"/>
          </p:nvPr>
        </p:nvSpPr>
        <p:spPr/>
        <p:txBody>
          <a:bodyPr>
            <a:normAutofit fontScale="55000" lnSpcReduction="20000"/>
          </a:bodyPr>
          <a:lstStyle/>
          <a:p>
            <a:r>
              <a:rPr lang="en-US" strike="sngStrike" dirty="0"/>
              <a:t>Word Statistics</a:t>
            </a:r>
          </a:p>
          <a:p>
            <a:r>
              <a:rPr lang="en-US" strike="sngStrike" dirty="0"/>
              <a:t>Text preprocessing</a:t>
            </a:r>
          </a:p>
          <a:p>
            <a:r>
              <a:rPr lang="en-US" strike="sngStrike" dirty="0"/>
              <a:t>Term Weighing</a:t>
            </a:r>
          </a:p>
          <a:p>
            <a:r>
              <a:rPr lang="en-US" dirty="0"/>
              <a:t>Similarity Function</a:t>
            </a:r>
          </a:p>
          <a:p>
            <a:r>
              <a:rPr lang="en-US" dirty="0"/>
              <a:t>Indexing</a:t>
            </a:r>
          </a:p>
          <a:p>
            <a:r>
              <a:rPr lang="en-US" dirty="0"/>
              <a:t>Relevance Feedback</a:t>
            </a:r>
          </a:p>
          <a:p>
            <a:r>
              <a:rPr lang="en-US" dirty="0"/>
              <a:t>Query Expansion(With Local Analysis from External Resources)</a:t>
            </a:r>
          </a:p>
          <a:p>
            <a:r>
              <a:rPr lang="en-US" dirty="0"/>
              <a:t>The impact of Document Normalization</a:t>
            </a:r>
          </a:p>
          <a:p>
            <a:r>
              <a:rPr lang="en-US" dirty="0"/>
              <a:t>Multi-Field Retrieval</a:t>
            </a:r>
          </a:p>
          <a:p>
            <a:r>
              <a:rPr lang="en-US" dirty="0"/>
              <a:t>Evaluation of Retrieval</a:t>
            </a:r>
          </a:p>
          <a:p>
            <a:r>
              <a:rPr lang="en-US" dirty="0"/>
              <a:t>Applications</a:t>
            </a:r>
          </a:p>
          <a:p>
            <a:r>
              <a:rPr lang="en-US" dirty="0"/>
              <a:t>Disadvantages</a:t>
            </a:r>
          </a:p>
          <a:p>
            <a:r>
              <a:rPr lang="en-US" dirty="0"/>
              <a:t>Incentives for Engaging in Electronic Commerce</a:t>
            </a:r>
          </a:p>
          <a:p>
            <a:r>
              <a:rPr lang="en-US" dirty="0"/>
              <a:t>Forces behind E-</a:t>
            </a:r>
            <a:r>
              <a:rPr lang="en-US" dirty="0" err="1"/>
              <a:t>commerece</a:t>
            </a:r>
            <a:endParaRPr lang="en-US" dirty="0"/>
          </a:p>
        </p:txBody>
      </p:sp>
    </p:spTree>
    <p:extLst>
      <p:ext uri="{BB962C8B-B14F-4D97-AF65-F5344CB8AC3E}">
        <p14:creationId xmlns:p14="http://schemas.microsoft.com/office/powerpoint/2010/main" val="2468598422"/>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770FB55-B3F2-F0D0-EBD2-0DCF769E72ED}"/>
              </a:ext>
            </a:extLst>
          </p:cNvPr>
          <p:cNvSpPr>
            <a:spLocks noGrp="1"/>
          </p:cNvSpPr>
          <p:nvPr>
            <p:ph type="title"/>
          </p:nvPr>
        </p:nvSpPr>
        <p:spPr/>
        <p:txBody>
          <a:bodyPr/>
          <a:lstStyle/>
          <a:p>
            <a:r>
              <a:rPr lang="en-US" dirty="0"/>
              <a:t>Similarity Function</a:t>
            </a:r>
          </a:p>
        </p:txBody>
      </p:sp>
      <p:sp>
        <p:nvSpPr>
          <p:cNvPr id="5" name="Rectangle 2">
            <a:extLst>
              <a:ext uri="{FF2B5EF4-FFF2-40B4-BE49-F238E27FC236}">
                <a16:creationId xmlns:a16="http://schemas.microsoft.com/office/drawing/2014/main" id="{A299D0FD-0FD3-3EAA-36B5-C608E8ED7CF0}"/>
              </a:ext>
            </a:extLst>
          </p:cNvPr>
          <p:cNvSpPr>
            <a:spLocks noGrp="1" noChangeArrowheads="1"/>
          </p:cNvSpPr>
          <p:nvPr>
            <p:ph idx="1"/>
          </p:nvPr>
        </p:nvSpPr>
        <p:spPr bwMode="auto">
          <a:xfrm>
            <a:off x="838200" y="1600042"/>
            <a:ext cx="10972800" cy="5170646"/>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indent="0">
              <a:lnSpc>
                <a:spcPct val="100000"/>
              </a:lnSpc>
              <a:buFontTx/>
              <a:buChar char="•"/>
            </a:pPr>
            <a:r>
              <a:rPr lang="en-US" altLang="en-US" dirty="0"/>
              <a:t>A similarity function in information retrieval is a mathematical formula that calculates a numerical score indicating how closely a document matches a user query. </a:t>
            </a:r>
          </a:p>
          <a:p>
            <a:pPr marL="0" indent="0">
              <a:lnSpc>
                <a:spcPct val="100000"/>
              </a:lnSpc>
              <a:buFontTx/>
              <a:buChar char="•"/>
            </a:pPr>
            <a:r>
              <a:rPr lang="en-US" altLang="en-US" dirty="0"/>
              <a:t>These functions rank documents by measuring the proximity of vector representations (like term frequency) in a vector space model, with higher scores indicating higher relevance. </a:t>
            </a:r>
          </a:p>
          <a:p>
            <a:pPr marL="0" indent="0">
              <a:lnSpc>
                <a:spcPct val="100000"/>
              </a:lnSpc>
              <a:buFontTx/>
              <a:buChar char="•"/>
            </a:pPr>
            <a:r>
              <a:rPr lang="en-US" altLang="en-US" dirty="0"/>
              <a:t>Common examples include cosine, Jaccard, and Euclidean distance, typically resulting in scores between 0 and 1. </a:t>
            </a:r>
          </a:p>
          <a:p>
            <a:pPr marL="0" indent="0">
              <a:lnSpc>
                <a:spcPct val="100000"/>
              </a:lnSpc>
              <a:buNone/>
            </a:pPr>
            <a:r>
              <a:rPr lang="en-US" altLang="en-US" dirty="0"/>
              <a:t>Key Aspects of Similarity Functions</a:t>
            </a:r>
          </a:p>
          <a:p>
            <a:pPr marL="0" indent="0">
              <a:lnSpc>
                <a:spcPct val="100000"/>
              </a:lnSpc>
              <a:buFontTx/>
              <a:buChar char="•"/>
            </a:pPr>
            <a:r>
              <a:rPr lang="en-US" altLang="en-US" dirty="0"/>
              <a:t>Purpose: To rank documents by relevance, allowing retrieval systems to return the most relevant items first, rather than just exact matches.</a:t>
            </a:r>
          </a:p>
        </p:txBody>
      </p:sp>
    </p:spTree>
    <p:extLst>
      <p:ext uri="{BB962C8B-B14F-4D97-AF65-F5344CB8AC3E}">
        <p14:creationId xmlns:p14="http://schemas.microsoft.com/office/powerpoint/2010/main" val="1116978972"/>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65A5218-0AA1-385D-940C-D9B7444CF722}"/>
              </a:ext>
            </a:extLst>
          </p:cNvPr>
          <p:cNvSpPr>
            <a:spLocks noGrp="1"/>
          </p:cNvSpPr>
          <p:nvPr>
            <p:ph type="title"/>
          </p:nvPr>
        </p:nvSpPr>
        <p:spPr/>
        <p:txBody>
          <a:bodyPr/>
          <a:lstStyle/>
          <a:p>
            <a:r>
              <a:rPr lang="en-US" altLang="en-US" dirty="0"/>
              <a:t>Types of Measures:</a:t>
            </a:r>
            <a:endParaRPr lang="en-US" dirty="0"/>
          </a:p>
        </p:txBody>
      </p:sp>
      <p:sp>
        <p:nvSpPr>
          <p:cNvPr id="3" name="Content Placeholder 2">
            <a:extLst>
              <a:ext uri="{FF2B5EF4-FFF2-40B4-BE49-F238E27FC236}">
                <a16:creationId xmlns:a16="http://schemas.microsoft.com/office/drawing/2014/main" id="{546100AA-041F-A10C-1B84-869A6B71FC84}"/>
              </a:ext>
            </a:extLst>
          </p:cNvPr>
          <p:cNvSpPr>
            <a:spLocks noGrp="1"/>
          </p:cNvSpPr>
          <p:nvPr>
            <p:ph idx="1"/>
          </p:nvPr>
        </p:nvSpPr>
        <p:spPr/>
        <p:txBody>
          <a:bodyPr>
            <a:normAutofit/>
          </a:bodyPr>
          <a:lstStyle/>
          <a:p>
            <a:pPr marL="0" indent="0">
              <a:lnSpc>
                <a:spcPct val="100000"/>
              </a:lnSpc>
              <a:buFontTx/>
              <a:buChar char="•"/>
            </a:pPr>
            <a:r>
              <a:rPr lang="en-US" altLang="en-US" dirty="0">
                <a:hlinkClick r:id="rId2">
                  <a:extLst>
                    <a:ext uri="{A12FA001-AC4F-418D-AE19-62706E023703}">
                      <ahyp:hlinkClr xmlns:ahyp="http://schemas.microsoft.com/office/drawing/2018/hyperlinkcolor" val="tx"/>
                    </a:ext>
                  </a:extLst>
                </a:hlinkClick>
              </a:rPr>
              <a:t>Cosine Similarity</a:t>
            </a:r>
            <a:r>
              <a:rPr lang="en-US" altLang="en-US" dirty="0"/>
              <a:t>: Measures the cosine of the angle between two vectors, focusing on the orientation rather than magnitude, which is effective for varying document lengths.</a:t>
            </a:r>
          </a:p>
          <a:p>
            <a:pPr marL="0" indent="0">
              <a:lnSpc>
                <a:spcPct val="100000"/>
              </a:lnSpc>
              <a:buFontTx/>
              <a:buChar char="•"/>
            </a:pPr>
            <a:r>
              <a:rPr lang="en-US" altLang="en-US" dirty="0">
                <a:hlinkClick r:id="rId3">
                  <a:extLst>
                    <a:ext uri="{A12FA001-AC4F-418D-AE19-62706E023703}">
                      <ahyp:hlinkClr xmlns:ahyp="http://schemas.microsoft.com/office/drawing/2018/hyperlinkcolor" val="tx"/>
                    </a:ext>
                  </a:extLst>
                </a:hlinkClick>
              </a:rPr>
              <a:t>Jaccard Similarity</a:t>
            </a:r>
            <a:r>
              <a:rPr lang="en-US" altLang="en-US" dirty="0"/>
              <a:t>: Calculates the ratio of shared terms (intersection) to the total unique terms (union) between two documents, ranging from 0 to 1.</a:t>
            </a:r>
          </a:p>
          <a:p>
            <a:pPr marL="0" indent="0">
              <a:lnSpc>
                <a:spcPct val="100000"/>
              </a:lnSpc>
              <a:buFontTx/>
              <a:buChar char="•"/>
            </a:pPr>
            <a:r>
              <a:rPr lang="en-US" altLang="en-US" dirty="0">
                <a:hlinkClick r:id="rId4">
                  <a:extLst>
                    <a:ext uri="{A12FA001-AC4F-418D-AE19-62706E023703}">
                      <ahyp:hlinkClr xmlns:ahyp="http://schemas.microsoft.com/office/drawing/2018/hyperlinkcolor" val="tx"/>
                    </a:ext>
                  </a:extLst>
                </a:hlinkClick>
              </a:rPr>
              <a:t>Euclidean Distance</a:t>
            </a:r>
            <a:r>
              <a:rPr lang="en-US" altLang="en-US" dirty="0"/>
              <a:t>: Measures the straight-line distance between two points in vector space; smaller distances indicate higher similarity.</a:t>
            </a:r>
          </a:p>
          <a:p>
            <a:endParaRPr lang="en-US" dirty="0"/>
          </a:p>
        </p:txBody>
      </p:sp>
    </p:spTree>
    <p:extLst>
      <p:ext uri="{BB962C8B-B14F-4D97-AF65-F5344CB8AC3E}">
        <p14:creationId xmlns:p14="http://schemas.microsoft.com/office/powerpoint/2010/main" val="4220402141"/>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D9C9B27-9412-0413-D7C0-6607404C614B}"/>
              </a:ext>
            </a:extLst>
          </p:cNvPr>
          <p:cNvSpPr>
            <a:spLocks noGrp="1"/>
          </p:cNvSpPr>
          <p:nvPr>
            <p:ph type="title"/>
          </p:nvPr>
        </p:nvSpPr>
        <p:spPr/>
        <p:txBody>
          <a:bodyPr/>
          <a:lstStyle/>
          <a:p>
            <a:r>
              <a:rPr lang="en-US" dirty="0"/>
              <a:t>Cosine Similarity</a:t>
            </a:r>
          </a:p>
        </p:txBody>
      </p:sp>
      <p:sp>
        <p:nvSpPr>
          <p:cNvPr id="3" name="Content Placeholder 2">
            <a:extLst>
              <a:ext uri="{FF2B5EF4-FFF2-40B4-BE49-F238E27FC236}">
                <a16:creationId xmlns:a16="http://schemas.microsoft.com/office/drawing/2014/main" id="{590305FE-C4E2-BECD-D71F-E08EBE128A8C}"/>
              </a:ext>
            </a:extLst>
          </p:cNvPr>
          <p:cNvSpPr>
            <a:spLocks noGrp="1"/>
          </p:cNvSpPr>
          <p:nvPr>
            <p:ph idx="1"/>
          </p:nvPr>
        </p:nvSpPr>
        <p:spPr/>
        <p:txBody>
          <a:bodyPr>
            <a:normAutofit/>
          </a:bodyPr>
          <a:lstStyle/>
          <a:p>
            <a:pPr algn="just"/>
            <a:r>
              <a:rPr lang="en-IN" dirty="0"/>
              <a:t>Cosine similarity is a widely used similarity measure that calculates the cosine of the angle between two vectors in a multi-dimensional space. In the context of text documents represented as term frequency vectors, cosine similarity computes the cosine of the angle between the vectors representing the documents.</a:t>
            </a:r>
          </a:p>
          <a:p>
            <a:pPr algn="just"/>
            <a:r>
              <a:rPr lang="en-IN" dirty="0"/>
              <a:t>Cosine similarity ranges from -1 to 1, with 1 indicating perfect similarity, 0 indicating no similarity, and -1 indicating perfect dissimilarity.</a:t>
            </a:r>
          </a:p>
          <a:p>
            <a:endParaRPr lang="en-US" dirty="0"/>
          </a:p>
        </p:txBody>
      </p:sp>
    </p:spTree>
    <p:extLst>
      <p:ext uri="{BB962C8B-B14F-4D97-AF65-F5344CB8AC3E}">
        <p14:creationId xmlns:p14="http://schemas.microsoft.com/office/powerpoint/2010/main" val="1311174035"/>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65413DDF-1297-995A-D27E-41D774E88DAC}"/>
              </a:ext>
            </a:extLst>
          </p:cNvPr>
          <p:cNvSpPr>
            <a:spLocks noGrp="1"/>
          </p:cNvSpPr>
          <p:nvPr>
            <p:ph idx="1"/>
          </p:nvPr>
        </p:nvSpPr>
        <p:spPr>
          <a:xfrm>
            <a:off x="676275" y="957353"/>
            <a:ext cx="4448175" cy="4305300"/>
          </a:xfrm>
        </p:spPr>
        <p:txBody>
          <a:bodyPr>
            <a:normAutofit fontScale="55000" lnSpcReduction="20000"/>
          </a:bodyPr>
          <a:lstStyle/>
          <a:p>
            <a:pPr marL="0" indent="0">
              <a:buNone/>
            </a:pPr>
            <a:r>
              <a:rPr lang="en-IN" b="1" dirty="0"/>
              <a:t>Vocabulary (correct shared order)</a:t>
            </a:r>
          </a:p>
          <a:p>
            <a:r>
              <a:rPr lang="en-IN" dirty="0"/>
              <a:t>Let the vocabulary be:</a:t>
            </a:r>
          </a:p>
          <a:p>
            <a:r>
              <a:rPr lang="en-IN" dirty="0"/>
              <a:t>["cat", "dog"]</a:t>
            </a:r>
          </a:p>
          <a:p>
            <a:r>
              <a:rPr lang="en-IN" b="1" dirty="0"/>
              <a:t>Documents</a:t>
            </a:r>
          </a:p>
          <a:p>
            <a:r>
              <a:rPr lang="en-IN" dirty="0"/>
              <a:t>Doc1: "cat"</a:t>
            </a:r>
          </a:p>
          <a:p>
            <a:r>
              <a:rPr lang="en-IN" dirty="0"/>
              <a:t>Doc2: "dog"</a:t>
            </a:r>
          </a:p>
          <a:p>
            <a:r>
              <a:rPr lang="en-IN" b="1" dirty="0"/>
              <a:t>Correct vectors (same order for both)</a:t>
            </a:r>
          </a:p>
          <a:p>
            <a:r>
              <a:rPr lang="en-IN" dirty="0"/>
              <a:t>Using order ["</a:t>
            </a:r>
            <a:r>
              <a:rPr lang="en-IN" dirty="0" err="1"/>
              <a:t>cat","dog</a:t>
            </a:r>
            <a:r>
              <a:rPr lang="en-IN" dirty="0"/>
              <a:t>"]:</a:t>
            </a:r>
          </a:p>
          <a:p>
            <a:r>
              <a:rPr lang="en-IN" dirty="0"/>
              <a:t>Doc1 → [1, 0]</a:t>
            </a:r>
          </a:p>
          <a:p>
            <a:r>
              <a:rPr lang="en-IN" dirty="0"/>
              <a:t>Doc2 → [0, 1]</a:t>
            </a:r>
          </a:p>
          <a:p>
            <a:r>
              <a:rPr lang="en-IN" dirty="0"/>
              <a:t>Cosine similarity:</a:t>
            </a:r>
          </a:p>
          <a:p>
            <a:r>
              <a:rPr lang="en-IN" dirty="0"/>
              <a:t>dot = 1·0 + 0·1 = 0</a:t>
            </a:r>
          </a:p>
          <a:p>
            <a:r>
              <a:rPr lang="en-IN" dirty="0"/>
              <a:t>magnitudes = 1 and 1</a:t>
            </a:r>
          </a:p>
          <a:p>
            <a:r>
              <a:rPr lang="en-IN" dirty="0"/>
              <a:t>similarity = 0 / (1·1) = </a:t>
            </a:r>
            <a:r>
              <a:rPr lang="en-IN" b="1" dirty="0"/>
              <a:t>0</a:t>
            </a:r>
            <a:r>
              <a:rPr lang="en-IN" dirty="0"/>
              <a:t>  (they share no words)</a:t>
            </a:r>
          </a:p>
          <a:p>
            <a:endParaRPr lang="en-US" dirty="0"/>
          </a:p>
        </p:txBody>
      </p:sp>
      <p:sp>
        <p:nvSpPr>
          <p:cNvPr id="4" name="TextBox 3">
            <a:extLst>
              <a:ext uri="{FF2B5EF4-FFF2-40B4-BE49-F238E27FC236}">
                <a16:creationId xmlns:a16="http://schemas.microsoft.com/office/drawing/2014/main" id="{4D67503C-7A06-B777-3843-930DFD65C0D5}"/>
              </a:ext>
            </a:extLst>
          </p:cNvPr>
          <p:cNvSpPr txBox="1"/>
          <p:nvPr/>
        </p:nvSpPr>
        <p:spPr>
          <a:xfrm>
            <a:off x="6096000" y="896958"/>
            <a:ext cx="5419725" cy="3970318"/>
          </a:xfrm>
          <a:prstGeom prst="rect">
            <a:avLst/>
          </a:prstGeom>
          <a:noFill/>
        </p:spPr>
        <p:txBody>
          <a:bodyPr wrap="square" rtlCol="0">
            <a:spAutoFit/>
          </a:bodyPr>
          <a:lstStyle/>
          <a:p>
            <a:r>
              <a:rPr lang="en-IN" b="1" dirty="0"/>
              <a:t>Wrong case (different order used for Doc2)</a:t>
            </a:r>
          </a:p>
          <a:p>
            <a:r>
              <a:rPr lang="en-IN" dirty="0"/>
              <a:t>Suppose by mistake you build Doc2’s vector using reversed order:</a:t>
            </a:r>
          </a:p>
          <a:p>
            <a:r>
              <a:rPr lang="en-IN" dirty="0"/>
              <a:t>["dog", "cat"]</a:t>
            </a:r>
          </a:p>
          <a:p>
            <a:r>
              <a:rPr lang="en-IN" dirty="0"/>
              <a:t>Then:</a:t>
            </a:r>
          </a:p>
          <a:p>
            <a:r>
              <a:rPr lang="en-IN" dirty="0"/>
              <a:t>Doc1 (still using ["</a:t>
            </a:r>
            <a:r>
              <a:rPr lang="en-IN" dirty="0" err="1"/>
              <a:t>cat","dog</a:t>
            </a:r>
            <a:r>
              <a:rPr lang="en-IN" dirty="0"/>
              <a:t>"]) → [1, 0]</a:t>
            </a:r>
          </a:p>
          <a:p>
            <a:r>
              <a:rPr lang="en-IN" dirty="0"/>
              <a:t>Doc2 (using ["</a:t>
            </a:r>
            <a:r>
              <a:rPr lang="en-IN" dirty="0" err="1"/>
              <a:t>dog","cat</a:t>
            </a:r>
            <a:r>
              <a:rPr lang="en-IN" dirty="0"/>
              <a:t>"]) → [1, 0] ← because “dog” count comes first</a:t>
            </a:r>
          </a:p>
          <a:p>
            <a:r>
              <a:rPr lang="en-IN" dirty="0"/>
              <a:t>Now cosine similarity:</a:t>
            </a:r>
          </a:p>
          <a:p>
            <a:r>
              <a:rPr lang="en-IN" dirty="0"/>
              <a:t>dot = 1·1 + 0·0 = 1</a:t>
            </a:r>
          </a:p>
          <a:p>
            <a:r>
              <a:rPr lang="en-IN" dirty="0"/>
              <a:t>magnitudes = 1 and 1</a:t>
            </a:r>
          </a:p>
          <a:p>
            <a:r>
              <a:rPr lang="en-IN" dirty="0"/>
              <a:t>similarity = 1 / (1·1) = </a:t>
            </a:r>
            <a:r>
              <a:rPr lang="en-IN" b="1" dirty="0"/>
              <a:t>1</a:t>
            </a:r>
            <a:r>
              <a:rPr lang="en-IN" dirty="0"/>
              <a:t> </a:t>
            </a:r>
          </a:p>
          <a:p>
            <a:r>
              <a:rPr lang="en-IN" dirty="0"/>
              <a:t>It falsely says </a:t>
            </a:r>
            <a:r>
              <a:rPr lang="en-IN" b="1" dirty="0"/>
              <a:t>Doc1 and Doc2 are identical</a:t>
            </a:r>
            <a:r>
              <a:rPr lang="en-IN" dirty="0"/>
              <a:t>, even though they share </a:t>
            </a:r>
            <a:r>
              <a:rPr lang="en-IN" b="1" dirty="0"/>
              <a:t>zero</a:t>
            </a:r>
            <a:r>
              <a:rPr lang="en-IN" dirty="0"/>
              <a:t> common words.</a:t>
            </a:r>
          </a:p>
        </p:txBody>
      </p:sp>
      <p:sp>
        <p:nvSpPr>
          <p:cNvPr id="5" name="TextBox 4">
            <a:extLst>
              <a:ext uri="{FF2B5EF4-FFF2-40B4-BE49-F238E27FC236}">
                <a16:creationId xmlns:a16="http://schemas.microsoft.com/office/drawing/2014/main" id="{2FAA271C-3ECF-B35D-ACDF-10438DFA934A}"/>
              </a:ext>
            </a:extLst>
          </p:cNvPr>
          <p:cNvSpPr txBox="1"/>
          <p:nvPr/>
        </p:nvSpPr>
        <p:spPr>
          <a:xfrm>
            <a:off x="867728" y="5300482"/>
            <a:ext cx="11049000" cy="1200329"/>
          </a:xfrm>
          <a:prstGeom prst="rect">
            <a:avLst/>
          </a:prstGeom>
          <a:noFill/>
        </p:spPr>
        <p:txBody>
          <a:bodyPr wrap="square" rtlCol="0">
            <a:spAutoFit/>
          </a:bodyPr>
          <a:lstStyle/>
          <a:p>
            <a:r>
              <a:rPr lang="en-IN" b="1" dirty="0"/>
              <a:t>Key takeaway</a:t>
            </a:r>
          </a:p>
          <a:p>
            <a:r>
              <a:rPr lang="en-IN" dirty="0"/>
              <a:t>Cosine similarity assumes:</a:t>
            </a:r>
          </a:p>
          <a:p>
            <a:r>
              <a:rPr lang="en-IN" b="1" dirty="0"/>
              <a:t>Index 0 in both vectors represents the same word, index 1 represents the same word, etc.</a:t>
            </a:r>
            <a:endParaRPr lang="en-IN" dirty="0"/>
          </a:p>
          <a:p>
            <a:r>
              <a:rPr lang="en-IN" dirty="0"/>
              <a:t>If the order differs, you’re multiplying counts of </a:t>
            </a:r>
            <a:r>
              <a:rPr lang="en-IN" i="1" dirty="0"/>
              <a:t>different terms</a:t>
            </a:r>
            <a:r>
              <a:rPr lang="en-IN" dirty="0"/>
              <a:t> together → wrong result.</a:t>
            </a:r>
          </a:p>
        </p:txBody>
      </p:sp>
      <p:sp>
        <p:nvSpPr>
          <p:cNvPr id="6" name="TextBox 5">
            <a:extLst>
              <a:ext uri="{FF2B5EF4-FFF2-40B4-BE49-F238E27FC236}">
                <a16:creationId xmlns:a16="http://schemas.microsoft.com/office/drawing/2014/main" id="{DDF2B116-E006-FE56-1C55-959F19769C2A}"/>
              </a:ext>
            </a:extLst>
          </p:cNvPr>
          <p:cNvSpPr txBox="1"/>
          <p:nvPr/>
        </p:nvSpPr>
        <p:spPr>
          <a:xfrm>
            <a:off x="571500" y="152401"/>
            <a:ext cx="10944225" cy="646331"/>
          </a:xfrm>
          <a:prstGeom prst="rect">
            <a:avLst/>
          </a:prstGeom>
          <a:noFill/>
        </p:spPr>
        <p:txBody>
          <a:bodyPr wrap="square" rtlCol="0">
            <a:spAutoFit/>
          </a:bodyPr>
          <a:lstStyle/>
          <a:p>
            <a:r>
              <a:rPr lang="en-IN" dirty="0"/>
              <a:t>cosine similarity becomes </a:t>
            </a:r>
            <a:r>
              <a:rPr lang="en-IN" b="1" dirty="0"/>
              <a:t>wrong</a:t>
            </a:r>
            <a:r>
              <a:rPr lang="en-IN" dirty="0"/>
              <a:t> if the two document vectors don’t use the </a:t>
            </a:r>
            <a:r>
              <a:rPr lang="en-IN" b="1" dirty="0"/>
              <a:t>same word order</a:t>
            </a:r>
            <a:r>
              <a:rPr lang="en-IN" dirty="0"/>
              <a:t> (same feature alignment).</a:t>
            </a:r>
          </a:p>
        </p:txBody>
      </p:sp>
    </p:spTree>
    <p:extLst>
      <p:ext uri="{BB962C8B-B14F-4D97-AF65-F5344CB8AC3E}">
        <p14:creationId xmlns:p14="http://schemas.microsoft.com/office/powerpoint/2010/main" val="2024522561"/>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DF91D10-6005-D9BC-3BFC-941BEF317B4D}"/>
              </a:ext>
            </a:extLst>
          </p:cNvPr>
          <p:cNvSpPr>
            <a:spLocks noGrp="1"/>
          </p:cNvSpPr>
          <p:nvPr>
            <p:ph type="title"/>
          </p:nvPr>
        </p:nvSpPr>
        <p:spPr/>
        <p:txBody>
          <a:bodyPr/>
          <a:lstStyle/>
          <a:p>
            <a:r>
              <a:rPr lang="en-US" dirty="0"/>
              <a:t>Jaccard Similarity</a:t>
            </a:r>
          </a:p>
        </p:txBody>
      </p:sp>
      <p:sp>
        <p:nvSpPr>
          <p:cNvPr id="3" name="Content Placeholder 2">
            <a:extLst>
              <a:ext uri="{FF2B5EF4-FFF2-40B4-BE49-F238E27FC236}">
                <a16:creationId xmlns:a16="http://schemas.microsoft.com/office/drawing/2014/main" id="{89CB9E06-7DE5-A82F-C94C-D74419463F73}"/>
              </a:ext>
            </a:extLst>
          </p:cNvPr>
          <p:cNvSpPr>
            <a:spLocks noGrp="1"/>
          </p:cNvSpPr>
          <p:nvPr>
            <p:ph idx="1"/>
          </p:nvPr>
        </p:nvSpPr>
        <p:spPr/>
        <p:txBody>
          <a:bodyPr>
            <a:normAutofit fontScale="92500"/>
          </a:bodyPr>
          <a:lstStyle/>
          <a:p>
            <a:pPr algn="just"/>
            <a:r>
              <a:rPr lang="en-IN" dirty="0"/>
              <a:t>In information retrieval, </a:t>
            </a:r>
            <a:r>
              <a:rPr lang="en-IN" b="1" dirty="0"/>
              <a:t>Jaccard similarity</a:t>
            </a:r>
            <a:r>
              <a:rPr lang="en-IN" dirty="0"/>
              <a:t> (or Jaccard index) is a metric used to measure the overlap between a user's query and a document. It treats both the query and the document as sets of unique terms and is calculated as the size of their intersection divided by the size of their union. </a:t>
            </a:r>
          </a:p>
          <a:p>
            <a:pPr algn="just"/>
            <a:r>
              <a:rPr lang="en-IN" dirty="0"/>
              <a:t>Jaccard similarity is a measure of similarity between two sets defined as the size of the intersection divided by the size of the union of the sets. In the context of text documents, Jaccard similarity is often used to compare the overlap of terms between two documents.</a:t>
            </a:r>
          </a:p>
          <a:p>
            <a:pPr algn="just"/>
            <a:r>
              <a:rPr lang="en-IN" dirty="0"/>
              <a:t>Jaccard similarity ranges from 0 to 1, with 1 indicating perfect similarity and 0 indicating no similarity.</a:t>
            </a:r>
          </a:p>
          <a:p>
            <a:endParaRPr lang="en-US" dirty="0"/>
          </a:p>
        </p:txBody>
      </p:sp>
    </p:spTree>
    <p:extLst>
      <p:ext uri="{BB962C8B-B14F-4D97-AF65-F5344CB8AC3E}">
        <p14:creationId xmlns:p14="http://schemas.microsoft.com/office/powerpoint/2010/main" val="3018065660"/>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D67A0C-4C4B-BE54-E0B7-1DFE4F1B55E9}"/>
              </a:ext>
            </a:extLst>
          </p:cNvPr>
          <p:cNvSpPr>
            <a:spLocks noGrp="1"/>
          </p:cNvSpPr>
          <p:nvPr>
            <p:ph type="title"/>
          </p:nvPr>
        </p:nvSpPr>
        <p:spPr/>
        <p:txBody>
          <a:bodyPr/>
          <a:lstStyle/>
          <a:p>
            <a:r>
              <a:rPr lang="en-US" dirty="0"/>
              <a:t>Jaccard Similarity</a:t>
            </a:r>
          </a:p>
        </p:txBody>
      </p:sp>
      <p:pic>
        <p:nvPicPr>
          <p:cNvPr id="4" name="Content Placeholder 3">
            <a:extLst>
              <a:ext uri="{FF2B5EF4-FFF2-40B4-BE49-F238E27FC236}">
                <a16:creationId xmlns:a16="http://schemas.microsoft.com/office/drawing/2014/main" id="{2384242D-DA7F-7521-FB5B-4BE624185A96}"/>
              </a:ext>
            </a:extLst>
          </p:cNvPr>
          <p:cNvPicPr>
            <a:picLocks noGrp="1" noChangeAspect="1"/>
          </p:cNvPicPr>
          <p:nvPr>
            <p:ph idx="1"/>
          </p:nvPr>
        </p:nvPicPr>
        <p:blipFill>
          <a:blip r:embed="rId2"/>
          <a:stretch>
            <a:fillRect/>
          </a:stretch>
        </p:blipFill>
        <p:spPr>
          <a:xfrm>
            <a:off x="1092200" y="1825625"/>
            <a:ext cx="10261600" cy="4351338"/>
          </a:xfrm>
          <a:prstGeom prst="rect">
            <a:avLst/>
          </a:prstGeom>
        </p:spPr>
      </p:pic>
    </p:spTree>
    <p:extLst>
      <p:ext uri="{BB962C8B-B14F-4D97-AF65-F5344CB8AC3E}">
        <p14:creationId xmlns:p14="http://schemas.microsoft.com/office/powerpoint/2010/main" val="1783890201"/>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1">
            <a:extLst>
              <a:ext uri="{FF2B5EF4-FFF2-40B4-BE49-F238E27FC236}">
                <a16:creationId xmlns:a16="http://schemas.microsoft.com/office/drawing/2014/main" id="{5258F6FE-92DE-122B-C734-B71331654C06}"/>
              </a:ext>
            </a:extLst>
          </p:cNvPr>
          <p:cNvSpPr>
            <a:spLocks noChangeArrowheads="1"/>
          </p:cNvSpPr>
          <p:nvPr/>
        </p:nvSpPr>
        <p:spPr bwMode="auto">
          <a:xfrm>
            <a:off x="0" y="355283"/>
            <a:ext cx="12484100" cy="61247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800" b="0" i="0" u="none" strike="noStrike" cap="none" normalizeH="0" baseline="0" dirty="0">
                <a:ln>
                  <a:noFill/>
                </a:ln>
                <a:solidFill>
                  <a:schemeClr val="tx1"/>
                </a:solidFill>
                <a:effectLst/>
                <a:latin typeface="Arial" panose="020B0604020202020204" pitchFamily="34" charset="0"/>
              </a:rPr>
              <a:t>Consider a query and two documents after basic text processing (tokenization and removal of stop words like "the", "in", "of"): </a:t>
            </a:r>
          </a:p>
          <a:p>
            <a:pPr marL="0" marR="0" lvl="0" indent="0" algn="l" defTabSz="914400" rtl="0" eaLnBrk="0" fontAlgn="base" latinLnBrk="0" hangingPunct="0">
              <a:lnSpc>
                <a:spcPct val="100000"/>
              </a:lnSpc>
              <a:spcBef>
                <a:spcPct val="0"/>
              </a:spcBef>
              <a:spcAft>
                <a:spcPct val="0"/>
              </a:spcAft>
              <a:buClrTx/>
              <a:buSzTx/>
              <a:tabLst/>
            </a:pPr>
            <a:r>
              <a:rPr kumimoji="0" lang="en-US" altLang="en-US" sz="2800" b="1" i="0" u="none" strike="noStrike" cap="none" normalizeH="0" baseline="0" dirty="0">
                <a:ln>
                  <a:noFill/>
                </a:ln>
                <a:solidFill>
                  <a:schemeClr val="tx1"/>
                </a:solidFill>
                <a:effectLst/>
                <a:latin typeface="Arial" panose="020B0604020202020204" pitchFamily="34" charset="0"/>
              </a:rPr>
              <a:t>Query (Q):</a:t>
            </a:r>
            <a:r>
              <a:rPr kumimoji="0" lang="en-US" altLang="en-US" sz="2800" b="0" i="0" u="none" strike="noStrike" cap="none" normalizeH="0" baseline="0" dirty="0">
                <a:ln>
                  <a:noFill/>
                </a:ln>
                <a:solidFill>
                  <a:schemeClr val="tx1"/>
                </a:solidFill>
                <a:effectLst/>
                <a:latin typeface="Arial" panose="020B0604020202020204" pitchFamily="34" charset="0"/>
              </a:rPr>
              <a:t> {</a:t>
            </a:r>
            <a:r>
              <a:rPr kumimoji="0" lang="en-US" altLang="en-US" sz="2800" b="0" i="1" u="none" strike="noStrike" cap="none" normalizeH="0" baseline="0" dirty="0">
                <a:ln>
                  <a:noFill/>
                </a:ln>
                <a:solidFill>
                  <a:schemeClr val="tx1"/>
                </a:solidFill>
                <a:effectLst/>
                <a:latin typeface="Arial" panose="020B0604020202020204" pitchFamily="34" charset="0"/>
              </a:rPr>
              <a:t>ides</a:t>
            </a:r>
            <a:r>
              <a:rPr kumimoji="0" lang="en-US" altLang="en-US" sz="2800" b="0" i="0" u="none" strike="noStrike" cap="none" normalizeH="0" baseline="0" dirty="0">
                <a:ln>
                  <a:noFill/>
                </a:ln>
                <a:solidFill>
                  <a:schemeClr val="tx1"/>
                </a:solidFill>
                <a:effectLst/>
                <a:latin typeface="Arial" panose="020B0604020202020204" pitchFamily="34" charset="0"/>
              </a:rPr>
              <a:t>, </a:t>
            </a:r>
            <a:r>
              <a:rPr kumimoji="0" lang="en-US" altLang="en-US" sz="2800" b="0" i="1" u="none" strike="noStrike" cap="none" normalizeH="0" baseline="0" dirty="0">
                <a:ln>
                  <a:noFill/>
                </a:ln>
                <a:solidFill>
                  <a:schemeClr val="tx1"/>
                </a:solidFill>
                <a:effectLst/>
                <a:latin typeface="Arial" panose="020B0604020202020204" pitchFamily="34" charset="0"/>
              </a:rPr>
              <a:t>march</a:t>
            </a:r>
            <a:r>
              <a:rPr kumimoji="0" lang="en-US" altLang="en-US" sz="2800" b="0" i="0" u="none" strike="noStrike" cap="none" normalizeH="0" baseline="0" dirty="0">
                <a:ln>
                  <a:noFill/>
                </a:ln>
                <a:solidFill>
                  <a:schemeClr val="tx1"/>
                </a:solidFill>
                <a:effectLst/>
                <a:latin typeface="Arial" panose="020B0604020202020204" pitchFamily="34" charset="0"/>
              </a:rPr>
              <a:t>}; </a:t>
            </a:r>
            <a:r>
              <a:rPr kumimoji="0" lang="en-US" altLang="en-US" sz="2800" b="1" i="0" u="none" strike="noStrike" cap="none" normalizeH="0" baseline="0" dirty="0">
                <a:ln>
                  <a:noFill/>
                </a:ln>
                <a:solidFill>
                  <a:schemeClr val="tx1"/>
                </a:solidFill>
                <a:effectLst/>
                <a:latin typeface="Arial" panose="020B0604020202020204" pitchFamily="34" charset="0"/>
              </a:rPr>
              <a:t>Document 1 (D1):</a:t>
            </a:r>
            <a:r>
              <a:rPr kumimoji="0" lang="en-US" altLang="en-US" sz="2800" b="0" i="0" u="none" strike="noStrike" cap="none" normalizeH="0" baseline="0" dirty="0">
                <a:ln>
                  <a:noFill/>
                </a:ln>
                <a:solidFill>
                  <a:schemeClr val="tx1"/>
                </a:solidFill>
                <a:effectLst/>
                <a:latin typeface="Arial" panose="020B0604020202020204" pitchFamily="34" charset="0"/>
              </a:rPr>
              <a:t> {</a:t>
            </a:r>
            <a:r>
              <a:rPr kumimoji="0" lang="en-US" altLang="en-US" sz="2800" b="0" i="1" u="none" strike="noStrike" cap="none" normalizeH="0" baseline="0" dirty="0" err="1">
                <a:ln>
                  <a:noFill/>
                </a:ln>
                <a:solidFill>
                  <a:schemeClr val="tx1"/>
                </a:solidFill>
                <a:effectLst/>
                <a:latin typeface="Arial" panose="020B0604020202020204" pitchFamily="34" charset="0"/>
              </a:rPr>
              <a:t>caesar</a:t>
            </a:r>
            <a:r>
              <a:rPr kumimoji="0" lang="en-US" altLang="en-US" sz="2800" b="0" i="0" u="none" strike="noStrike" cap="none" normalizeH="0" baseline="0" dirty="0">
                <a:ln>
                  <a:noFill/>
                </a:ln>
                <a:solidFill>
                  <a:schemeClr val="tx1"/>
                </a:solidFill>
                <a:effectLst/>
                <a:latin typeface="Arial" panose="020B0604020202020204" pitchFamily="34" charset="0"/>
              </a:rPr>
              <a:t>, </a:t>
            </a:r>
            <a:r>
              <a:rPr kumimoji="0" lang="en-US" altLang="en-US" sz="2800" b="0" i="1" u="none" strike="noStrike" cap="none" normalizeH="0" baseline="0" dirty="0">
                <a:ln>
                  <a:noFill/>
                </a:ln>
                <a:solidFill>
                  <a:schemeClr val="tx1"/>
                </a:solidFill>
                <a:effectLst/>
                <a:latin typeface="Arial" panose="020B0604020202020204" pitchFamily="34" charset="0"/>
              </a:rPr>
              <a:t>died</a:t>
            </a:r>
            <a:r>
              <a:rPr kumimoji="0" lang="en-US" altLang="en-US" sz="2800" b="0" i="0" u="none" strike="noStrike" cap="none" normalizeH="0" baseline="0" dirty="0">
                <a:ln>
                  <a:noFill/>
                </a:ln>
                <a:solidFill>
                  <a:schemeClr val="tx1"/>
                </a:solidFill>
                <a:effectLst/>
                <a:latin typeface="Arial" panose="020B0604020202020204" pitchFamily="34" charset="0"/>
              </a:rPr>
              <a:t>, </a:t>
            </a:r>
            <a:r>
              <a:rPr kumimoji="0" lang="en-US" altLang="en-US" sz="2800" b="0" i="1" u="none" strike="noStrike" cap="none" normalizeH="0" baseline="0" dirty="0">
                <a:ln>
                  <a:noFill/>
                </a:ln>
                <a:solidFill>
                  <a:schemeClr val="tx1"/>
                </a:solidFill>
                <a:effectLst/>
                <a:latin typeface="Arial" panose="020B0604020202020204" pitchFamily="34" charset="0"/>
              </a:rPr>
              <a:t>march</a:t>
            </a:r>
            <a:r>
              <a:rPr kumimoji="0" lang="en-US" altLang="en-US" sz="2800" b="0" i="0" u="none" strike="noStrike" cap="none" normalizeH="0" baseline="0" dirty="0">
                <a:ln>
                  <a:noFill/>
                </a:ln>
                <a:solidFill>
                  <a:schemeClr val="tx1"/>
                </a:solidFill>
                <a:effectLst/>
                <a:latin typeface="Arial" panose="020B0604020202020204" pitchFamily="34" charset="0"/>
              </a:rPr>
              <a:t>}; </a:t>
            </a:r>
            <a:r>
              <a:rPr kumimoji="0" lang="en-US" altLang="en-US" sz="2800" b="1" i="0" u="none" strike="noStrike" cap="none" normalizeH="0" baseline="0" dirty="0">
                <a:ln>
                  <a:noFill/>
                </a:ln>
                <a:solidFill>
                  <a:schemeClr val="tx1"/>
                </a:solidFill>
                <a:effectLst/>
                <a:latin typeface="Arial" panose="020B0604020202020204" pitchFamily="34" charset="0"/>
              </a:rPr>
              <a:t>Document 2 (D2):</a:t>
            </a:r>
            <a:r>
              <a:rPr kumimoji="0" lang="en-US" altLang="en-US" sz="2800" b="0" i="0" u="none" strike="noStrike" cap="none" normalizeH="0" baseline="0" dirty="0">
                <a:ln>
                  <a:noFill/>
                </a:ln>
                <a:solidFill>
                  <a:schemeClr val="tx1"/>
                </a:solidFill>
                <a:effectLst/>
                <a:latin typeface="Arial" panose="020B0604020202020204" pitchFamily="34" charset="0"/>
              </a:rPr>
              <a:t> {</a:t>
            </a:r>
            <a:r>
              <a:rPr kumimoji="0" lang="en-US" altLang="en-US" sz="2800" b="0" i="1" u="none" strike="noStrike" cap="none" normalizeH="0" baseline="0" dirty="0">
                <a:ln>
                  <a:noFill/>
                </a:ln>
                <a:solidFill>
                  <a:schemeClr val="tx1"/>
                </a:solidFill>
                <a:effectLst/>
                <a:latin typeface="Arial" panose="020B0604020202020204" pitchFamily="34" charset="0"/>
              </a:rPr>
              <a:t>long</a:t>
            </a:r>
            <a:r>
              <a:rPr kumimoji="0" lang="en-US" altLang="en-US" sz="2800" b="0" i="0" u="none" strike="noStrike" cap="none" normalizeH="0" baseline="0" dirty="0">
                <a:ln>
                  <a:noFill/>
                </a:ln>
                <a:solidFill>
                  <a:schemeClr val="tx1"/>
                </a:solidFill>
                <a:effectLst/>
                <a:latin typeface="Arial" panose="020B0604020202020204" pitchFamily="34" charset="0"/>
              </a:rPr>
              <a:t>, </a:t>
            </a:r>
            <a:r>
              <a:rPr kumimoji="0" lang="en-US" altLang="en-US" sz="2800" b="0" i="1" u="none" strike="noStrike" cap="none" normalizeH="0" baseline="0" dirty="0">
                <a:ln>
                  <a:noFill/>
                </a:ln>
                <a:solidFill>
                  <a:schemeClr val="tx1"/>
                </a:solidFill>
                <a:effectLst/>
                <a:latin typeface="Arial" panose="020B0604020202020204" pitchFamily="34" charset="0"/>
              </a:rPr>
              <a:t>march</a:t>
            </a:r>
            <a:r>
              <a:rPr kumimoji="0" lang="en-US" altLang="en-US" sz="2800" b="0" i="0" u="none" strike="noStrike" cap="none" normalizeH="0" baseline="0" dirty="0">
                <a:ln>
                  <a:noFill/>
                </a:ln>
                <a:solidFill>
                  <a:schemeClr val="tx1"/>
                </a:solidFill>
                <a:effectLst/>
                <a:latin typeface="Arial" panose="020B0604020202020204" pitchFamily="34" charset="0"/>
              </a:rPr>
              <a:t>} </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800" b="1" i="0" u="none" strike="noStrike" cap="none" normalizeH="0" baseline="0" dirty="0">
                <a:ln>
                  <a:noFill/>
                </a:ln>
                <a:solidFill>
                  <a:schemeClr val="tx1"/>
                </a:solidFill>
                <a:effectLst/>
                <a:latin typeface="Arial" panose="020B0604020202020204" pitchFamily="34" charset="0"/>
              </a:rPr>
              <a:t>Calculation for Document 1:</a:t>
            </a:r>
            <a:r>
              <a:rPr kumimoji="0" lang="en-US" altLang="en-US" sz="2800" b="0" i="0" u="none" strike="noStrike" cap="none" normalizeH="0" baseline="0" dirty="0">
                <a:ln>
                  <a:noFill/>
                </a:ln>
                <a:solidFill>
                  <a:schemeClr val="tx1"/>
                </a:solidFill>
                <a:effectLst/>
                <a:latin typeface="Arial" panose="020B0604020202020204" pitchFamily="34" charset="0"/>
              </a:rPr>
              <a:t> </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800" b="0" i="0" u="none" strike="noStrike" cap="none" normalizeH="0" baseline="0" dirty="0">
                <a:ln>
                  <a:noFill/>
                </a:ln>
                <a:solidFill>
                  <a:schemeClr val="tx1"/>
                </a:solidFill>
                <a:effectLst/>
                <a:latin typeface="Arial" panose="020B0604020202020204" pitchFamily="34" charset="0"/>
              </a:rPr>
              <a:t>𝑄∩𝐷1 : {</a:t>
            </a:r>
            <a:r>
              <a:rPr kumimoji="0" lang="en-US" altLang="en-US" sz="2800" b="0" i="1" u="none" strike="noStrike" cap="none" normalizeH="0" baseline="0" dirty="0">
                <a:ln>
                  <a:noFill/>
                </a:ln>
                <a:solidFill>
                  <a:schemeClr val="tx1"/>
                </a:solidFill>
                <a:effectLst/>
                <a:latin typeface="Arial" panose="020B0604020202020204" pitchFamily="34" charset="0"/>
              </a:rPr>
              <a:t>march</a:t>
            </a:r>
            <a:r>
              <a:rPr kumimoji="0" lang="en-US" altLang="en-US" sz="2800" b="0" i="0" u="none" strike="noStrike" cap="none" normalizeH="0" baseline="0" dirty="0">
                <a:ln>
                  <a:noFill/>
                </a:ln>
                <a:solidFill>
                  <a:schemeClr val="tx1"/>
                </a:solidFill>
                <a:effectLst/>
                <a:latin typeface="Arial" panose="020B0604020202020204" pitchFamily="34" charset="0"/>
              </a:rPr>
              <a:t>} (1 common term)</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800" b="0" i="0" u="none" strike="noStrike" cap="none" normalizeH="0" baseline="0" dirty="0">
                <a:ln>
                  <a:noFill/>
                </a:ln>
                <a:solidFill>
                  <a:schemeClr val="tx1"/>
                </a:solidFill>
                <a:effectLst/>
                <a:latin typeface="Arial" panose="020B0604020202020204" pitchFamily="34" charset="0"/>
              </a:rPr>
              <a:t>𝑄∪𝐷1 : {</a:t>
            </a:r>
            <a:r>
              <a:rPr kumimoji="0" lang="en-US" altLang="en-US" sz="2800" b="0" i="1" u="none" strike="noStrike" cap="none" normalizeH="0" baseline="0" dirty="0">
                <a:ln>
                  <a:noFill/>
                </a:ln>
                <a:solidFill>
                  <a:schemeClr val="tx1"/>
                </a:solidFill>
                <a:effectLst/>
                <a:latin typeface="Arial" panose="020B0604020202020204" pitchFamily="34" charset="0"/>
              </a:rPr>
              <a:t>ides</a:t>
            </a:r>
            <a:r>
              <a:rPr kumimoji="0" lang="en-US" altLang="en-US" sz="2800" b="0" i="0" u="none" strike="noStrike" cap="none" normalizeH="0" baseline="0" dirty="0">
                <a:ln>
                  <a:noFill/>
                </a:ln>
                <a:solidFill>
                  <a:schemeClr val="tx1"/>
                </a:solidFill>
                <a:effectLst/>
                <a:latin typeface="Arial" panose="020B0604020202020204" pitchFamily="34" charset="0"/>
              </a:rPr>
              <a:t>, </a:t>
            </a:r>
            <a:r>
              <a:rPr kumimoji="0" lang="en-US" altLang="en-US" sz="2800" b="0" i="1" u="none" strike="noStrike" cap="none" normalizeH="0" baseline="0" dirty="0">
                <a:ln>
                  <a:noFill/>
                </a:ln>
                <a:solidFill>
                  <a:schemeClr val="tx1"/>
                </a:solidFill>
                <a:effectLst/>
                <a:latin typeface="Arial" panose="020B0604020202020204" pitchFamily="34" charset="0"/>
              </a:rPr>
              <a:t>march</a:t>
            </a:r>
            <a:r>
              <a:rPr kumimoji="0" lang="en-US" altLang="en-US" sz="2800" b="0" i="0" u="none" strike="noStrike" cap="none" normalizeH="0" baseline="0" dirty="0">
                <a:ln>
                  <a:noFill/>
                </a:ln>
                <a:solidFill>
                  <a:schemeClr val="tx1"/>
                </a:solidFill>
                <a:effectLst/>
                <a:latin typeface="Arial" panose="020B0604020202020204" pitchFamily="34" charset="0"/>
              </a:rPr>
              <a:t>, </a:t>
            </a:r>
            <a:r>
              <a:rPr kumimoji="0" lang="en-US" altLang="en-US" sz="2800" b="0" i="1" u="none" strike="noStrike" cap="none" normalizeH="0" baseline="0" dirty="0" err="1">
                <a:ln>
                  <a:noFill/>
                </a:ln>
                <a:solidFill>
                  <a:schemeClr val="tx1"/>
                </a:solidFill>
                <a:effectLst/>
                <a:latin typeface="Arial" panose="020B0604020202020204" pitchFamily="34" charset="0"/>
              </a:rPr>
              <a:t>caesar</a:t>
            </a:r>
            <a:r>
              <a:rPr kumimoji="0" lang="en-US" altLang="en-US" sz="2800" b="0" i="0" u="none" strike="noStrike" cap="none" normalizeH="0" baseline="0" dirty="0">
                <a:ln>
                  <a:noFill/>
                </a:ln>
                <a:solidFill>
                  <a:schemeClr val="tx1"/>
                </a:solidFill>
                <a:effectLst/>
                <a:latin typeface="Arial" panose="020B0604020202020204" pitchFamily="34" charset="0"/>
              </a:rPr>
              <a:t>, </a:t>
            </a:r>
            <a:r>
              <a:rPr kumimoji="0" lang="en-US" altLang="en-US" sz="2800" b="0" i="1" u="none" strike="noStrike" cap="none" normalizeH="0" baseline="0" dirty="0">
                <a:ln>
                  <a:noFill/>
                </a:ln>
                <a:solidFill>
                  <a:schemeClr val="tx1"/>
                </a:solidFill>
                <a:effectLst/>
                <a:latin typeface="Arial" panose="020B0604020202020204" pitchFamily="34" charset="0"/>
              </a:rPr>
              <a:t>died</a:t>
            </a:r>
            <a:r>
              <a:rPr kumimoji="0" lang="en-US" altLang="en-US" sz="2800" b="0" i="0" u="none" strike="noStrike" cap="none" normalizeH="0" baseline="0" dirty="0">
                <a:ln>
                  <a:noFill/>
                </a:ln>
                <a:solidFill>
                  <a:schemeClr val="tx1"/>
                </a:solidFill>
                <a:effectLst/>
                <a:latin typeface="Arial" panose="020B0604020202020204" pitchFamily="34" charset="0"/>
              </a:rPr>
              <a:t>} (4 unique terms)</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800" b="0" i="0" u="none" strike="noStrike" cap="none" normalizeH="0" baseline="0" dirty="0">
                <a:ln>
                  <a:noFill/>
                </a:ln>
                <a:solidFill>
                  <a:schemeClr val="tx1"/>
                </a:solidFill>
                <a:effectLst/>
                <a:latin typeface="Arial" panose="020B0604020202020204" pitchFamily="34" charset="0"/>
              </a:rPr>
              <a:t>J(Q,D1)=1/4=0.25 </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800" b="1" i="0" u="none" strike="noStrike" cap="none" normalizeH="0" baseline="0" dirty="0">
                <a:ln>
                  <a:noFill/>
                </a:ln>
                <a:solidFill>
                  <a:schemeClr val="tx1"/>
                </a:solidFill>
                <a:effectLst/>
                <a:latin typeface="Arial" panose="020B0604020202020204" pitchFamily="34" charset="0"/>
              </a:rPr>
              <a:t>Calculation for Document 2:</a:t>
            </a:r>
            <a:r>
              <a:rPr kumimoji="0" lang="en-US" altLang="en-US" sz="2800" b="0" i="0" u="none" strike="noStrike" cap="none" normalizeH="0" baseline="0" dirty="0">
                <a:ln>
                  <a:noFill/>
                </a:ln>
                <a:solidFill>
                  <a:schemeClr val="tx1"/>
                </a:solidFill>
                <a:effectLst/>
                <a:latin typeface="Arial" panose="020B0604020202020204" pitchFamily="34" charset="0"/>
              </a:rPr>
              <a:t> </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800" b="0" i="0" u="none" strike="noStrike" cap="none" normalizeH="0" baseline="0" dirty="0">
                <a:ln>
                  <a:noFill/>
                </a:ln>
                <a:solidFill>
                  <a:schemeClr val="tx1"/>
                </a:solidFill>
                <a:effectLst/>
                <a:latin typeface="Arial" panose="020B0604020202020204" pitchFamily="34" charset="0"/>
              </a:rPr>
              <a:t>𝑄∩𝐷2 : {</a:t>
            </a:r>
            <a:r>
              <a:rPr kumimoji="0" lang="en-US" altLang="en-US" sz="2800" b="0" i="1" u="none" strike="noStrike" cap="none" normalizeH="0" baseline="0" dirty="0">
                <a:ln>
                  <a:noFill/>
                </a:ln>
                <a:solidFill>
                  <a:schemeClr val="tx1"/>
                </a:solidFill>
                <a:effectLst/>
                <a:latin typeface="Arial" panose="020B0604020202020204" pitchFamily="34" charset="0"/>
              </a:rPr>
              <a:t>march</a:t>
            </a:r>
            <a:r>
              <a:rPr kumimoji="0" lang="en-US" altLang="en-US" sz="2800" b="0" i="0" u="none" strike="noStrike" cap="none" normalizeH="0" baseline="0" dirty="0">
                <a:ln>
                  <a:noFill/>
                </a:ln>
                <a:solidFill>
                  <a:schemeClr val="tx1"/>
                </a:solidFill>
                <a:effectLst/>
                <a:latin typeface="Arial" panose="020B0604020202020204" pitchFamily="34" charset="0"/>
              </a:rPr>
              <a:t>} (1 common term)</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800" b="0" i="0" u="none" strike="noStrike" cap="none" normalizeH="0" baseline="0" dirty="0">
                <a:ln>
                  <a:noFill/>
                </a:ln>
                <a:solidFill>
                  <a:schemeClr val="tx1"/>
                </a:solidFill>
                <a:effectLst/>
                <a:latin typeface="Arial" panose="020B0604020202020204" pitchFamily="34" charset="0"/>
              </a:rPr>
              <a:t>𝑄∪𝐷2 : {</a:t>
            </a:r>
            <a:r>
              <a:rPr kumimoji="0" lang="en-US" altLang="en-US" sz="2800" b="0" i="1" u="none" strike="noStrike" cap="none" normalizeH="0" baseline="0" dirty="0">
                <a:ln>
                  <a:noFill/>
                </a:ln>
                <a:solidFill>
                  <a:schemeClr val="tx1"/>
                </a:solidFill>
                <a:effectLst/>
                <a:latin typeface="Arial" panose="020B0604020202020204" pitchFamily="34" charset="0"/>
              </a:rPr>
              <a:t>ides</a:t>
            </a:r>
            <a:r>
              <a:rPr kumimoji="0" lang="en-US" altLang="en-US" sz="2800" b="0" i="0" u="none" strike="noStrike" cap="none" normalizeH="0" baseline="0" dirty="0">
                <a:ln>
                  <a:noFill/>
                </a:ln>
                <a:solidFill>
                  <a:schemeClr val="tx1"/>
                </a:solidFill>
                <a:effectLst/>
                <a:latin typeface="Arial" panose="020B0604020202020204" pitchFamily="34" charset="0"/>
              </a:rPr>
              <a:t>, </a:t>
            </a:r>
            <a:r>
              <a:rPr kumimoji="0" lang="en-US" altLang="en-US" sz="2800" b="0" i="1" u="none" strike="noStrike" cap="none" normalizeH="0" baseline="0" dirty="0">
                <a:ln>
                  <a:noFill/>
                </a:ln>
                <a:solidFill>
                  <a:schemeClr val="tx1"/>
                </a:solidFill>
                <a:effectLst/>
                <a:latin typeface="Arial" panose="020B0604020202020204" pitchFamily="34" charset="0"/>
              </a:rPr>
              <a:t>march</a:t>
            </a:r>
            <a:r>
              <a:rPr kumimoji="0" lang="en-US" altLang="en-US" sz="2800" b="0" i="0" u="none" strike="noStrike" cap="none" normalizeH="0" baseline="0" dirty="0">
                <a:ln>
                  <a:noFill/>
                </a:ln>
                <a:solidFill>
                  <a:schemeClr val="tx1"/>
                </a:solidFill>
                <a:effectLst/>
                <a:latin typeface="Arial" panose="020B0604020202020204" pitchFamily="34" charset="0"/>
              </a:rPr>
              <a:t>, </a:t>
            </a:r>
            <a:r>
              <a:rPr kumimoji="0" lang="en-US" altLang="en-US" sz="2800" b="0" i="1" u="none" strike="noStrike" cap="none" normalizeH="0" baseline="0" dirty="0">
                <a:ln>
                  <a:noFill/>
                </a:ln>
                <a:solidFill>
                  <a:schemeClr val="tx1"/>
                </a:solidFill>
                <a:effectLst/>
                <a:latin typeface="Arial" panose="020B0604020202020204" pitchFamily="34" charset="0"/>
              </a:rPr>
              <a:t>long</a:t>
            </a:r>
            <a:r>
              <a:rPr kumimoji="0" lang="en-US" altLang="en-US" sz="2800" b="0" i="0" u="none" strike="noStrike" cap="none" normalizeH="0" baseline="0" dirty="0">
                <a:ln>
                  <a:noFill/>
                </a:ln>
                <a:solidFill>
                  <a:schemeClr val="tx1"/>
                </a:solidFill>
                <a:effectLst/>
                <a:latin typeface="Arial" panose="020B0604020202020204" pitchFamily="34" charset="0"/>
              </a:rPr>
              <a:t>} (3 unique terms)</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800" b="0" i="0" u="none" strike="noStrike" cap="none" normalizeH="0" baseline="0" dirty="0">
                <a:ln>
                  <a:noFill/>
                </a:ln>
                <a:solidFill>
                  <a:schemeClr val="tx1"/>
                </a:solidFill>
                <a:effectLst/>
                <a:latin typeface="Arial" panose="020B0604020202020204" pitchFamily="34" charset="0"/>
              </a:rPr>
              <a:t>J(Q,D2)=1/3≈0.33</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800" b="0" i="0" u="none" strike="noStrike" cap="none" normalizeH="0" baseline="0" dirty="0">
                <a:ln>
                  <a:noFill/>
                </a:ln>
                <a:solidFill>
                  <a:schemeClr val="tx1"/>
                </a:solidFill>
                <a:effectLst/>
                <a:latin typeface="Arial" panose="020B0604020202020204" pitchFamily="34" charset="0"/>
              </a:rPr>
              <a:t>Based on Jaccard similarity, Document 2 is considered slightly more relevant to the query than Document 1, as it has a higher Jaccard score. </a:t>
            </a:r>
          </a:p>
        </p:txBody>
      </p:sp>
      <p:pic>
        <p:nvPicPr>
          <p:cNvPr id="2050" name="Picture 2">
            <a:extLst>
              <a:ext uri="{FF2B5EF4-FFF2-40B4-BE49-F238E27FC236}">
                <a16:creationId xmlns:a16="http://schemas.microsoft.com/office/drawing/2014/main" id="{8DFC38E3-7ACC-3C1A-3342-B1BE15545662}"/>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06375" y="-2879725"/>
            <a:ext cx="12700" cy="12700"/>
          </a:xfrm>
          <a:prstGeom prst="rect">
            <a:avLst/>
          </a:prstGeom>
          <a:noFill/>
          <a:extLst>
            <a:ext uri="{909E8E84-426E-40DD-AFC4-6F175D3DCCD1}">
              <a14:hiddenFill xmlns:a14="http://schemas.microsoft.com/office/drawing/2010/main">
                <a:solidFill>
                  <a:srgbClr val="FFFFFF"/>
                </a:solidFill>
              </a14:hiddenFill>
            </a:ext>
          </a:extLst>
        </p:spPr>
      </p:pic>
      <p:pic>
        <p:nvPicPr>
          <p:cNvPr id="2051" name="Picture 3">
            <a:extLst>
              <a:ext uri="{FF2B5EF4-FFF2-40B4-BE49-F238E27FC236}">
                <a16:creationId xmlns:a16="http://schemas.microsoft.com/office/drawing/2014/main" id="{68C30932-5B7A-4E40-97A3-2D0CFBBFEE4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06375" y="-1782763"/>
            <a:ext cx="12700" cy="12700"/>
          </a:xfrm>
          <a:prstGeom prst="rect">
            <a:avLst/>
          </a:prstGeom>
          <a:noFill/>
          <a:extLst>
            <a:ext uri="{909E8E84-426E-40DD-AFC4-6F175D3DCCD1}">
              <a14:hiddenFill xmlns:a14="http://schemas.microsoft.com/office/drawing/2010/main">
                <a:solidFill>
                  <a:srgbClr val="FFFFFF"/>
                </a:solidFill>
              </a14:hiddenFill>
            </a:ext>
          </a:extLst>
        </p:spPr>
      </p:pic>
      <p:pic>
        <p:nvPicPr>
          <p:cNvPr id="2052" name="Picture 4">
            <a:extLst>
              <a:ext uri="{FF2B5EF4-FFF2-40B4-BE49-F238E27FC236}">
                <a16:creationId xmlns:a16="http://schemas.microsoft.com/office/drawing/2014/main" id="{F75D999F-6140-AA73-90AA-EAD67E56B5B0}"/>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06375" y="-685800"/>
            <a:ext cx="12700" cy="12700"/>
          </a:xfrm>
          <a:prstGeom prst="rect">
            <a:avLst/>
          </a:prstGeom>
          <a:noFill/>
          <a:extLst>
            <a:ext uri="{909E8E84-426E-40DD-AFC4-6F175D3DCCD1}">
              <a14:hiddenFill xmlns:a14="http://schemas.microsoft.com/office/drawing/2010/main">
                <a:solidFill>
                  <a:srgbClr val="FFFFFF"/>
                </a:solidFill>
              </a14:hiddenFill>
            </a:ext>
          </a:extLst>
        </p:spPr>
      </p:pic>
      <p:pic>
        <p:nvPicPr>
          <p:cNvPr id="2053" name="Picture 5">
            <a:extLst>
              <a:ext uri="{FF2B5EF4-FFF2-40B4-BE49-F238E27FC236}">
                <a16:creationId xmlns:a16="http://schemas.microsoft.com/office/drawing/2014/main" id="{B99CA20B-B51C-9259-2153-FDAEBD363E4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06375" y="685800"/>
            <a:ext cx="12700" cy="12700"/>
          </a:xfrm>
          <a:prstGeom prst="rect">
            <a:avLst/>
          </a:prstGeom>
          <a:noFill/>
          <a:extLst>
            <a:ext uri="{909E8E84-426E-40DD-AFC4-6F175D3DCCD1}">
              <a14:hiddenFill xmlns:a14="http://schemas.microsoft.com/office/drawing/2010/main">
                <a:solidFill>
                  <a:srgbClr val="FFFFFF"/>
                </a:solidFill>
              </a14:hiddenFill>
            </a:ext>
          </a:extLst>
        </p:spPr>
      </p:pic>
      <p:pic>
        <p:nvPicPr>
          <p:cNvPr id="2054" name="Picture 6">
            <a:extLst>
              <a:ext uri="{FF2B5EF4-FFF2-40B4-BE49-F238E27FC236}">
                <a16:creationId xmlns:a16="http://schemas.microsoft.com/office/drawing/2014/main" id="{1D76075F-E85A-6AAD-E465-6FDDC38D2EC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06375" y="1782763"/>
            <a:ext cx="12700" cy="12700"/>
          </a:xfrm>
          <a:prstGeom prst="rect">
            <a:avLst/>
          </a:prstGeom>
          <a:noFill/>
          <a:extLst>
            <a:ext uri="{909E8E84-426E-40DD-AFC4-6F175D3DCCD1}">
              <a14:hiddenFill xmlns:a14="http://schemas.microsoft.com/office/drawing/2010/main">
                <a:solidFill>
                  <a:srgbClr val="FFFFFF"/>
                </a:solidFill>
              </a14:hiddenFill>
            </a:ext>
          </a:extLst>
        </p:spPr>
      </p:pic>
      <p:pic>
        <p:nvPicPr>
          <p:cNvPr id="2055" name="Picture 7">
            <a:extLst>
              <a:ext uri="{FF2B5EF4-FFF2-40B4-BE49-F238E27FC236}">
                <a16:creationId xmlns:a16="http://schemas.microsoft.com/office/drawing/2014/main" id="{A7B5B006-2F4B-6B33-D241-3CBC287FBD90}"/>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06375" y="2879725"/>
            <a:ext cx="12700" cy="127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443642594"/>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2">
            <a:extLst>
              <a:ext uri="{FF2B5EF4-FFF2-40B4-BE49-F238E27FC236}">
                <a16:creationId xmlns:a16="http://schemas.microsoft.com/office/drawing/2014/main" id="{7029703E-7237-1EFC-3FD8-17140CC6A50B}"/>
              </a:ext>
            </a:extLst>
          </p:cNvPr>
          <p:cNvSpPr>
            <a:spLocks noGrp="1" noChangeArrowheads="1"/>
          </p:cNvSpPr>
          <p:nvPr>
            <p:ph type="title"/>
          </p:nvPr>
        </p:nvSpPr>
        <p:spPr bwMode="auto">
          <a:xfrm>
            <a:off x="838200" y="366187"/>
            <a:ext cx="6372963" cy="1323439"/>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lang="en-US" altLang="en-US" dirty="0"/>
              <a:t>Advantages</a:t>
            </a:r>
            <a:r>
              <a:rPr kumimoji="0" lang="en-US" altLang="en-US" sz="1500" b="1" i="0" u="none" strike="noStrike" cap="none" normalizeH="0" baseline="0" dirty="0">
                <a:ln>
                  <a:noFill/>
                </a:ln>
                <a:solidFill>
                  <a:srgbClr val="001D35"/>
                </a:solidFill>
                <a:effectLst/>
                <a:latin typeface="Google Sans"/>
              </a:rPr>
              <a:t> </a:t>
            </a:r>
            <a:r>
              <a:rPr lang="en-US" altLang="en-US" dirty="0"/>
              <a:t>and Limitations</a:t>
            </a:r>
          </a:p>
          <a:p>
            <a:pPr marL="0" marR="0" lvl="0" indent="0" algn="l" defTabSz="914400" rtl="0" eaLnBrk="0" fontAlgn="base" latinLnBrk="0" hangingPunct="0">
              <a:lnSpc>
                <a:spcPct val="100000"/>
              </a:lnSpc>
              <a:spcBef>
                <a:spcPct val="0"/>
              </a:spcBef>
              <a:spcAft>
                <a:spcPct val="0"/>
              </a:spcAft>
              <a:buClrTx/>
              <a:buSzTx/>
              <a:buFontTx/>
              <a:buNone/>
              <a:tabLst/>
            </a:pPr>
            <a:br>
              <a:rPr kumimoji="0" lang="en-US" altLang="en-US" sz="1800" b="0" i="0" u="none" strike="noStrike" cap="none" normalizeH="0" baseline="0" dirty="0">
                <a:ln>
                  <a:noFill/>
                </a:ln>
                <a:solidFill>
                  <a:schemeClr val="tx1"/>
                </a:solidFill>
                <a:effectLst/>
                <a:latin typeface="Arial" panose="020B0604020202020204" pitchFamily="34" charset="0"/>
              </a:rPr>
            </a:b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7" name="Rectangle 4">
            <a:extLst>
              <a:ext uri="{FF2B5EF4-FFF2-40B4-BE49-F238E27FC236}">
                <a16:creationId xmlns:a16="http://schemas.microsoft.com/office/drawing/2014/main" id="{87A76472-DF82-9E0F-EF6C-AADFB8F6B651}"/>
              </a:ext>
            </a:extLst>
          </p:cNvPr>
          <p:cNvSpPr>
            <a:spLocks noGrp="1" noChangeArrowheads="1"/>
          </p:cNvSpPr>
          <p:nvPr>
            <p:ph idx="1"/>
          </p:nvPr>
        </p:nvSpPr>
        <p:spPr bwMode="auto">
          <a:xfrm>
            <a:off x="1002081" y="1256467"/>
            <a:ext cx="11150600" cy="5601533"/>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indent="0">
              <a:lnSpc>
                <a:spcPct val="100000"/>
              </a:lnSpc>
              <a:buFontTx/>
              <a:buChar char="•"/>
            </a:pPr>
            <a:r>
              <a:rPr lang="en-US" altLang="en-US" dirty="0"/>
              <a:t>Simple and intuitive: It is easy to understand and implement.</a:t>
            </a:r>
          </a:p>
          <a:p>
            <a:pPr marL="0" indent="0">
              <a:lnSpc>
                <a:spcPct val="100000"/>
              </a:lnSpc>
              <a:buFontTx/>
              <a:buChar char="•"/>
            </a:pPr>
            <a:r>
              <a:rPr lang="en-US" altLang="en-US" dirty="0"/>
              <a:t>Effective for set-based similarity: Works well when only the presence or absence of terms matters.</a:t>
            </a:r>
          </a:p>
          <a:p>
            <a:pPr marL="0" indent="0">
              <a:lnSpc>
                <a:spcPct val="100000"/>
              </a:lnSpc>
              <a:buFontTx/>
              <a:buChar char="•"/>
            </a:pPr>
            <a:r>
              <a:rPr lang="en-US" altLang="en-US" dirty="0"/>
              <a:t>Handles different sizes: The query and document do not need to be the same size for the calculation. </a:t>
            </a:r>
          </a:p>
          <a:p>
            <a:pPr marL="0" indent="0">
              <a:lnSpc>
                <a:spcPct val="100000"/>
              </a:lnSpc>
              <a:buFontTx/>
              <a:buNone/>
            </a:pPr>
            <a:r>
              <a:rPr lang="en-US" altLang="en-US" b="1" dirty="0"/>
              <a:t>Limitations:</a:t>
            </a:r>
          </a:p>
          <a:p>
            <a:pPr marL="0" indent="0">
              <a:lnSpc>
                <a:spcPct val="100000"/>
              </a:lnSpc>
              <a:buFontTx/>
              <a:buChar char="•"/>
            </a:pPr>
            <a:r>
              <a:rPr lang="en-US" altLang="en-US" dirty="0"/>
              <a:t>Ignores term frequency: It does not consider how many times a term appears, only whether it is present.</a:t>
            </a:r>
          </a:p>
          <a:p>
            <a:pPr marL="0" indent="0">
              <a:lnSpc>
                <a:spcPct val="100000"/>
              </a:lnSpc>
              <a:buFontTx/>
              <a:buChar char="•"/>
            </a:pPr>
            <a:r>
              <a:rPr lang="en-US" altLang="en-US" dirty="0"/>
              <a:t>Ignores term importance/weighting: Rare, more informative terms are treated the same as common, less informative terms.</a:t>
            </a:r>
          </a:p>
          <a:p>
            <a:pPr marL="0" indent="0">
              <a:lnSpc>
                <a:spcPct val="100000"/>
              </a:lnSpc>
              <a:buFontTx/>
              <a:buChar char="•"/>
            </a:pPr>
            <a:r>
              <a:rPr lang="en-US" altLang="en-US" dirty="0"/>
              <a:t>Sensitive to document length: It can yield low scores for very long documents that have a small overlap with a short query, even if the overlap is highly relevant. </a:t>
            </a:r>
          </a:p>
        </p:txBody>
      </p:sp>
    </p:spTree>
    <p:extLst>
      <p:ext uri="{BB962C8B-B14F-4D97-AF65-F5344CB8AC3E}">
        <p14:creationId xmlns:p14="http://schemas.microsoft.com/office/powerpoint/2010/main" val="1997667213"/>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083B63A-CE2C-0E43-605E-307FDCA5E6BE}"/>
              </a:ext>
            </a:extLst>
          </p:cNvPr>
          <p:cNvSpPr>
            <a:spLocks noGrp="1"/>
          </p:cNvSpPr>
          <p:nvPr>
            <p:ph type="title"/>
          </p:nvPr>
        </p:nvSpPr>
        <p:spPr/>
        <p:txBody>
          <a:bodyPr/>
          <a:lstStyle/>
          <a:p>
            <a:r>
              <a:rPr lang="en-US" dirty="0"/>
              <a:t>Euclidean Distance</a:t>
            </a:r>
            <a:br>
              <a:rPr lang="en-US" dirty="0"/>
            </a:br>
            <a:endParaRPr lang="en-US" dirty="0"/>
          </a:p>
        </p:txBody>
      </p:sp>
      <p:sp>
        <p:nvSpPr>
          <p:cNvPr id="3" name="Content Placeholder 2">
            <a:extLst>
              <a:ext uri="{FF2B5EF4-FFF2-40B4-BE49-F238E27FC236}">
                <a16:creationId xmlns:a16="http://schemas.microsoft.com/office/drawing/2014/main" id="{66D4CC3A-E319-BA5D-4208-859D063B581C}"/>
              </a:ext>
            </a:extLst>
          </p:cNvPr>
          <p:cNvSpPr>
            <a:spLocks noGrp="1"/>
          </p:cNvSpPr>
          <p:nvPr>
            <p:ph idx="1"/>
          </p:nvPr>
        </p:nvSpPr>
        <p:spPr/>
        <p:txBody>
          <a:bodyPr/>
          <a:lstStyle/>
          <a:p>
            <a:r>
              <a:rPr lang="en-US" dirty="0"/>
              <a:t>Euclidean distance measures the straight-line distance between two points in a multi-dimensional space. In the context of text documents represented as vectors, Euclidean distance calculates the length of the straight line connecting the two vectors.</a:t>
            </a:r>
          </a:p>
          <a:p>
            <a:r>
              <a:rPr lang="en-US" dirty="0"/>
              <a:t>Lower values of Euclidean distance indicate higher similarity between </a:t>
            </a:r>
            <a:r>
              <a:rPr lang="en-IN" i="1" dirty="0"/>
              <a:t>documents.</a:t>
            </a:r>
            <a:endParaRPr lang="en-IN" dirty="0"/>
          </a:p>
          <a:p>
            <a:endParaRPr lang="en-US" dirty="0"/>
          </a:p>
          <a:p>
            <a:pPr marL="0" indent="0">
              <a:buNone/>
            </a:pPr>
            <a:endParaRPr lang="en-US" dirty="0"/>
          </a:p>
        </p:txBody>
      </p:sp>
      <p:pic>
        <p:nvPicPr>
          <p:cNvPr id="4" name="Picture 3">
            <a:extLst>
              <a:ext uri="{FF2B5EF4-FFF2-40B4-BE49-F238E27FC236}">
                <a16:creationId xmlns:a16="http://schemas.microsoft.com/office/drawing/2014/main" id="{7171C260-2EF4-02D5-3423-D62F67EDC64A}"/>
              </a:ext>
            </a:extLst>
          </p:cNvPr>
          <p:cNvPicPr>
            <a:picLocks noChangeAspect="1"/>
          </p:cNvPicPr>
          <p:nvPr/>
        </p:nvPicPr>
        <p:blipFill>
          <a:blip r:embed="rId2"/>
          <a:stretch>
            <a:fillRect/>
          </a:stretch>
        </p:blipFill>
        <p:spPr>
          <a:xfrm>
            <a:off x="3282950" y="4927600"/>
            <a:ext cx="5168900" cy="889000"/>
          </a:xfrm>
          <a:prstGeom prst="rect">
            <a:avLst/>
          </a:prstGeom>
        </p:spPr>
      </p:pic>
    </p:spTree>
    <p:extLst>
      <p:ext uri="{BB962C8B-B14F-4D97-AF65-F5344CB8AC3E}">
        <p14:creationId xmlns:p14="http://schemas.microsoft.com/office/powerpoint/2010/main" val="2476436285"/>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194D107-E61A-304C-5E1E-33473F4484A5}"/>
              </a:ext>
            </a:extLst>
          </p:cNvPr>
          <p:cNvSpPr>
            <a:spLocks noGrp="1"/>
          </p:cNvSpPr>
          <p:nvPr>
            <p:ph type="title"/>
          </p:nvPr>
        </p:nvSpPr>
        <p:spPr/>
        <p:txBody>
          <a:bodyPr/>
          <a:lstStyle/>
          <a:p>
            <a:r>
              <a:rPr lang="en-US" dirty="0"/>
              <a:t>Manhattan Distance</a:t>
            </a:r>
            <a:br>
              <a:rPr lang="en-US" dirty="0"/>
            </a:br>
            <a:endParaRPr lang="en-US" dirty="0"/>
          </a:p>
        </p:txBody>
      </p:sp>
      <p:sp>
        <p:nvSpPr>
          <p:cNvPr id="3" name="Content Placeholder 2">
            <a:extLst>
              <a:ext uri="{FF2B5EF4-FFF2-40B4-BE49-F238E27FC236}">
                <a16:creationId xmlns:a16="http://schemas.microsoft.com/office/drawing/2014/main" id="{0076001E-23EE-C761-3B52-8D2B02FA64AA}"/>
              </a:ext>
            </a:extLst>
          </p:cNvPr>
          <p:cNvSpPr>
            <a:spLocks noGrp="1"/>
          </p:cNvSpPr>
          <p:nvPr>
            <p:ph idx="1"/>
          </p:nvPr>
        </p:nvSpPr>
        <p:spPr/>
        <p:txBody>
          <a:bodyPr>
            <a:normAutofit/>
          </a:bodyPr>
          <a:lstStyle/>
          <a:p>
            <a:r>
              <a:rPr lang="en-US" dirty="0"/>
              <a:t>Manhattan distance, also known as city block distance or taxicab distance, measures the distance between two points by summing the absolute differences of their coordinates. </a:t>
            </a:r>
          </a:p>
          <a:p>
            <a:r>
              <a:rPr lang="en-US" dirty="0"/>
              <a:t>In the context of text documents, Manhattan distance calculates the sum of the absolute differences between the corresponding elements of the vectors representing the documents.</a:t>
            </a:r>
          </a:p>
          <a:p>
            <a:r>
              <a:rPr lang="en-US" dirty="0"/>
              <a:t>Like Euclidean distance, lower values of Manhattan distance indicate higher similarity between documents</a:t>
            </a:r>
          </a:p>
          <a:p>
            <a:endParaRPr lang="en-US" dirty="0"/>
          </a:p>
        </p:txBody>
      </p:sp>
    </p:spTree>
    <p:extLst>
      <p:ext uri="{BB962C8B-B14F-4D97-AF65-F5344CB8AC3E}">
        <p14:creationId xmlns:p14="http://schemas.microsoft.com/office/powerpoint/2010/main" val="512622874"/>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1D07A4F-8949-5303-486F-D475CC2173A9}"/>
              </a:ext>
            </a:extLst>
          </p:cNvPr>
          <p:cNvSpPr>
            <a:spLocks noGrp="1"/>
          </p:cNvSpPr>
          <p:nvPr>
            <p:ph type="title"/>
          </p:nvPr>
        </p:nvSpPr>
        <p:spPr/>
        <p:txBody>
          <a:bodyPr/>
          <a:lstStyle/>
          <a:p>
            <a:r>
              <a:rPr lang="en-US" dirty="0"/>
              <a:t>Dice Coefficient</a:t>
            </a:r>
            <a:br>
              <a:rPr lang="en-US" dirty="0"/>
            </a:br>
            <a:endParaRPr lang="en-US" dirty="0"/>
          </a:p>
        </p:txBody>
      </p:sp>
      <p:sp>
        <p:nvSpPr>
          <p:cNvPr id="3" name="Content Placeholder 2">
            <a:extLst>
              <a:ext uri="{FF2B5EF4-FFF2-40B4-BE49-F238E27FC236}">
                <a16:creationId xmlns:a16="http://schemas.microsoft.com/office/drawing/2014/main" id="{B0E04FC5-EF8F-609F-E9E4-86EE299DFD8F}"/>
              </a:ext>
            </a:extLst>
          </p:cNvPr>
          <p:cNvSpPr>
            <a:spLocks noGrp="1"/>
          </p:cNvSpPr>
          <p:nvPr>
            <p:ph idx="1"/>
          </p:nvPr>
        </p:nvSpPr>
        <p:spPr/>
        <p:txBody>
          <a:bodyPr/>
          <a:lstStyle/>
          <a:p>
            <a:pPr algn="just"/>
            <a:r>
              <a:rPr lang="en-US" dirty="0"/>
              <a:t>The Dice coefficient is another similarity measure commonly used for comparing the similarity between two sets. In the context of text documents, it calculates the ratio of the size of the intersection of terms to the total number of terms in both documents.</a:t>
            </a:r>
          </a:p>
          <a:p>
            <a:pPr algn="just"/>
            <a:r>
              <a:rPr lang="en-US" dirty="0"/>
              <a:t>The Dice coefficient ranges from 0 to 1, with 1 indicating perfect similarity and 0 indicating no similarity.</a:t>
            </a:r>
          </a:p>
          <a:p>
            <a:pPr algn="just"/>
            <a:endParaRPr lang="en-US" dirty="0"/>
          </a:p>
          <a:p>
            <a:endParaRPr lang="en-US" dirty="0"/>
          </a:p>
        </p:txBody>
      </p:sp>
      <p:pic>
        <p:nvPicPr>
          <p:cNvPr id="4" name="Picture 3">
            <a:extLst>
              <a:ext uri="{FF2B5EF4-FFF2-40B4-BE49-F238E27FC236}">
                <a16:creationId xmlns:a16="http://schemas.microsoft.com/office/drawing/2014/main" id="{9865B8D1-E93E-28F5-678F-C131927619A1}"/>
              </a:ext>
            </a:extLst>
          </p:cNvPr>
          <p:cNvPicPr>
            <a:picLocks noChangeAspect="1"/>
          </p:cNvPicPr>
          <p:nvPr/>
        </p:nvPicPr>
        <p:blipFill>
          <a:blip r:embed="rId2"/>
          <a:stretch>
            <a:fillRect/>
          </a:stretch>
        </p:blipFill>
        <p:spPr>
          <a:xfrm>
            <a:off x="3924300" y="4965700"/>
            <a:ext cx="4343400" cy="1346200"/>
          </a:xfrm>
          <a:prstGeom prst="rect">
            <a:avLst/>
          </a:prstGeom>
        </p:spPr>
      </p:pic>
    </p:spTree>
    <p:extLst>
      <p:ext uri="{BB962C8B-B14F-4D97-AF65-F5344CB8AC3E}">
        <p14:creationId xmlns:p14="http://schemas.microsoft.com/office/powerpoint/2010/main" val="1817409058"/>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FBA95C9-03ED-4EB6-9BB7-7CFDBCEC0045}"/>
              </a:ext>
            </a:extLst>
          </p:cNvPr>
          <p:cNvSpPr>
            <a:spLocks noGrp="1"/>
          </p:cNvSpPr>
          <p:nvPr>
            <p:ph type="title"/>
          </p:nvPr>
        </p:nvSpPr>
        <p:spPr/>
        <p:txBody>
          <a:bodyPr/>
          <a:lstStyle/>
          <a:p>
            <a:r>
              <a:rPr lang="en-US" dirty="0" err="1"/>
              <a:t>Levenshtein</a:t>
            </a:r>
            <a:r>
              <a:rPr lang="en-US" dirty="0"/>
              <a:t> Distance</a:t>
            </a:r>
            <a:br>
              <a:rPr lang="en-US" dirty="0"/>
            </a:br>
            <a:endParaRPr lang="en-US" dirty="0"/>
          </a:p>
        </p:txBody>
      </p:sp>
      <p:sp>
        <p:nvSpPr>
          <p:cNvPr id="3" name="Content Placeholder 2">
            <a:extLst>
              <a:ext uri="{FF2B5EF4-FFF2-40B4-BE49-F238E27FC236}">
                <a16:creationId xmlns:a16="http://schemas.microsoft.com/office/drawing/2014/main" id="{BD87BB13-BE10-1702-85AF-1D37056113A8}"/>
              </a:ext>
            </a:extLst>
          </p:cNvPr>
          <p:cNvSpPr>
            <a:spLocks noGrp="1"/>
          </p:cNvSpPr>
          <p:nvPr>
            <p:ph idx="1"/>
          </p:nvPr>
        </p:nvSpPr>
        <p:spPr/>
        <p:txBody>
          <a:bodyPr/>
          <a:lstStyle/>
          <a:p>
            <a:r>
              <a:rPr lang="en-US" dirty="0" err="1"/>
              <a:t>Levenshtein</a:t>
            </a:r>
            <a:r>
              <a:rPr lang="en-US" dirty="0"/>
              <a:t> distance, also known as edit distance, measures the minimum number of single character edits (insertions, deletions, or substitutions) required to change one string into another.</a:t>
            </a:r>
          </a:p>
          <a:p>
            <a:r>
              <a:rPr lang="en-US" dirty="0"/>
              <a:t>In the context of text documents, </a:t>
            </a:r>
            <a:r>
              <a:rPr lang="en-US" dirty="0" err="1"/>
              <a:t>Levenshtein</a:t>
            </a:r>
            <a:r>
              <a:rPr lang="en-US" dirty="0"/>
              <a:t> distance can be used to compare the similarity between two text strings.</a:t>
            </a:r>
          </a:p>
          <a:p>
            <a:r>
              <a:rPr lang="en-US" dirty="0"/>
              <a:t>Lower values of </a:t>
            </a:r>
            <a:r>
              <a:rPr lang="en-US" dirty="0" err="1"/>
              <a:t>Levenshtein</a:t>
            </a:r>
            <a:r>
              <a:rPr lang="en-US" dirty="0"/>
              <a:t> distance indicate higher similarity between text strings.</a:t>
            </a:r>
          </a:p>
          <a:p>
            <a:endParaRPr lang="en-US" dirty="0"/>
          </a:p>
        </p:txBody>
      </p:sp>
    </p:spTree>
    <p:extLst>
      <p:ext uri="{BB962C8B-B14F-4D97-AF65-F5344CB8AC3E}">
        <p14:creationId xmlns:p14="http://schemas.microsoft.com/office/powerpoint/2010/main" val="4027447364"/>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5AB6D81-4690-A216-F081-9CCBD2DBF9FE}"/>
              </a:ext>
            </a:extLst>
          </p:cNvPr>
          <p:cNvSpPr>
            <a:spLocks noGrp="1"/>
          </p:cNvSpPr>
          <p:nvPr>
            <p:ph idx="1"/>
          </p:nvPr>
        </p:nvSpPr>
        <p:spPr>
          <a:xfrm>
            <a:off x="838200" y="0"/>
            <a:ext cx="10515600" cy="6858000"/>
          </a:xfrm>
        </p:spPr>
        <p:txBody>
          <a:bodyPr>
            <a:normAutofit fontScale="55000" lnSpcReduction="20000"/>
          </a:bodyPr>
          <a:lstStyle/>
          <a:p>
            <a:r>
              <a:rPr lang="en-IN" dirty="0" err="1"/>
              <a:t>Levenshtein</a:t>
            </a:r>
            <a:r>
              <a:rPr lang="en-IN" dirty="0"/>
              <a:t> Distance measures </a:t>
            </a:r>
            <a:r>
              <a:rPr lang="en-IN" b="1" dirty="0"/>
              <a:t>how many edits are needed to change one word into another</a:t>
            </a:r>
            <a:r>
              <a:rPr lang="en-IN" dirty="0"/>
              <a:t>.</a:t>
            </a:r>
            <a:br>
              <a:rPr lang="en-IN" dirty="0"/>
            </a:br>
            <a:endParaRPr lang="en-IN" dirty="0"/>
          </a:p>
          <a:p>
            <a:r>
              <a:rPr lang="en-IN" b="1" dirty="0"/>
              <a:t>Allowed Operations</a:t>
            </a:r>
          </a:p>
          <a:p>
            <a:r>
              <a:rPr lang="en-IN" dirty="0"/>
              <a:t>Only 3 operations are allowed:</a:t>
            </a:r>
          </a:p>
          <a:p>
            <a:r>
              <a:rPr lang="en-IN" b="1" dirty="0"/>
              <a:t>Insertion</a:t>
            </a:r>
            <a:r>
              <a:rPr lang="en-IN" dirty="0"/>
              <a:t> → Add a character</a:t>
            </a:r>
            <a:br>
              <a:rPr lang="en-IN" dirty="0"/>
            </a:br>
            <a:r>
              <a:rPr lang="en-IN" b="1" dirty="0"/>
              <a:t>Deletion</a:t>
            </a:r>
            <a:r>
              <a:rPr lang="en-IN" dirty="0"/>
              <a:t> → Remove a character</a:t>
            </a:r>
            <a:br>
              <a:rPr lang="en-IN" dirty="0"/>
            </a:br>
            <a:r>
              <a:rPr lang="en-IN" b="1" dirty="0"/>
              <a:t>Substitution</a:t>
            </a:r>
            <a:r>
              <a:rPr lang="en-IN" dirty="0"/>
              <a:t> → Replace a character</a:t>
            </a:r>
            <a:br>
              <a:rPr lang="en-IN" dirty="0"/>
            </a:br>
            <a:endParaRPr lang="en-IN" dirty="0"/>
          </a:p>
          <a:p>
            <a:r>
              <a:rPr lang="en-IN" b="1" dirty="0"/>
              <a:t>Simple Example</a:t>
            </a:r>
          </a:p>
          <a:p>
            <a:pPr marL="0" indent="0">
              <a:buNone/>
            </a:pPr>
            <a:r>
              <a:rPr lang="en-IN" dirty="0"/>
              <a:t>Convert: cat → cut</a:t>
            </a:r>
          </a:p>
          <a:p>
            <a:pPr marL="0" indent="0">
              <a:buNone/>
            </a:pPr>
            <a:r>
              <a:rPr lang="en-IN" dirty="0"/>
              <a:t>Operation:</a:t>
            </a:r>
          </a:p>
          <a:p>
            <a:pPr marL="0" indent="0">
              <a:buNone/>
            </a:pPr>
            <a:r>
              <a:rPr lang="en-IN" dirty="0"/>
              <a:t>a → u (substitution)</a:t>
            </a:r>
          </a:p>
          <a:p>
            <a:pPr marL="0" indent="0">
              <a:buNone/>
            </a:pPr>
            <a:r>
              <a:rPr lang="en-IN" dirty="0"/>
              <a:t>Distance = 1</a:t>
            </a:r>
          </a:p>
          <a:p>
            <a:r>
              <a:rPr lang="en-IN" b="1" dirty="0"/>
              <a:t>Another Example</a:t>
            </a:r>
          </a:p>
          <a:p>
            <a:pPr marL="0" indent="0">
              <a:buNone/>
            </a:pPr>
            <a:r>
              <a:rPr lang="en-IN" dirty="0"/>
              <a:t>kitten → sitting</a:t>
            </a:r>
          </a:p>
          <a:p>
            <a:pPr marL="0" indent="0">
              <a:buNone/>
            </a:pPr>
            <a:r>
              <a:rPr lang="en-IN" dirty="0"/>
              <a:t>Operations:</a:t>
            </a:r>
          </a:p>
          <a:p>
            <a:pPr marL="0" indent="0">
              <a:buNone/>
            </a:pPr>
            <a:r>
              <a:rPr lang="en-IN" dirty="0"/>
              <a:t>kitten → </a:t>
            </a:r>
            <a:r>
              <a:rPr lang="en-IN" dirty="0" err="1"/>
              <a:t>sitten</a:t>
            </a:r>
            <a:r>
              <a:rPr lang="en-IN" dirty="0"/>
              <a:t>  (substitute k → s)</a:t>
            </a:r>
          </a:p>
          <a:p>
            <a:pPr marL="0" indent="0">
              <a:buNone/>
            </a:pPr>
            <a:r>
              <a:rPr lang="en-IN" dirty="0" err="1"/>
              <a:t>sitten</a:t>
            </a:r>
            <a:r>
              <a:rPr lang="en-IN" dirty="0"/>
              <a:t> → </a:t>
            </a:r>
            <a:r>
              <a:rPr lang="en-IN" dirty="0" err="1"/>
              <a:t>sittin</a:t>
            </a:r>
            <a:r>
              <a:rPr lang="en-IN" dirty="0"/>
              <a:t>  (substitute e → </a:t>
            </a:r>
            <a:r>
              <a:rPr lang="en-IN" dirty="0" err="1"/>
              <a:t>i</a:t>
            </a:r>
            <a:r>
              <a:rPr lang="en-IN" dirty="0"/>
              <a:t>)</a:t>
            </a:r>
          </a:p>
          <a:p>
            <a:pPr marL="0" indent="0">
              <a:buNone/>
            </a:pPr>
            <a:r>
              <a:rPr lang="en-IN" dirty="0" err="1"/>
              <a:t>sittin</a:t>
            </a:r>
            <a:r>
              <a:rPr lang="en-IN" dirty="0"/>
              <a:t> → sitting (insert g)</a:t>
            </a:r>
          </a:p>
          <a:p>
            <a:pPr marL="0" indent="0">
              <a:buNone/>
            </a:pPr>
            <a:r>
              <a:rPr lang="en-IN" dirty="0"/>
              <a:t>Distance = 3</a:t>
            </a:r>
          </a:p>
          <a:p>
            <a:r>
              <a:rPr lang="en-IN" b="1" dirty="0"/>
              <a:t>Why It Is Useful?</a:t>
            </a:r>
          </a:p>
          <a:p>
            <a:pPr marL="0" indent="0">
              <a:buNone/>
            </a:pPr>
            <a:r>
              <a:rPr lang="en-IN" dirty="0"/>
              <a:t> Spell checking</a:t>
            </a:r>
            <a:br>
              <a:rPr lang="en-IN" dirty="0"/>
            </a:br>
            <a:r>
              <a:rPr lang="en-IN" dirty="0"/>
              <a:t> Autocomplete</a:t>
            </a:r>
            <a:br>
              <a:rPr lang="en-IN" dirty="0"/>
            </a:br>
            <a:r>
              <a:rPr lang="en-IN" dirty="0"/>
              <a:t> DNA sequence matching</a:t>
            </a:r>
            <a:br>
              <a:rPr lang="en-IN" dirty="0"/>
            </a:br>
            <a:r>
              <a:rPr lang="en-IN" dirty="0"/>
              <a:t>Search engines</a:t>
            </a:r>
            <a:br>
              <a:rPr lang="en-IN" dirty="0"/>
            </a:br>
            <a:r>
              <a:rPr lang="en-IN" dirty="0"/>
              <a:t>Plagiarism detection</a:t>
            </a:r>
          </a:p>
          <a:p>
            <a:endParaRPr lang="en-US" dirty="0"/>
          </a:p>
        </p:txBody>
      </p:sp>
    </p:spTree>
    <p:extLst>
      <p:ext uri="{BB962C8B-B14F-4D97-AF65-F5344CB8AC3E}">
        <p14:creationId xmlns:p14="http://schemas.microsoft.com/office/powerpoint/2010/main" val="1183737614"/>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872AF05-5A64-8728-48C6-E94282DCFB61}"/>
              </a:ext>
            </a:extLst>
          </p:cNvPr>
          <p:cNvSpPr>
            <a:spLocks noGrp="1"/>
          </p:cNvSpPr>
          <p:nvPr>
            <p:ph type="title"/>
          </p:nvPr>
        </p:nvSpPr>
        <p:spPr/>
        <p:txBody>
          <a:bodyPr/>
          <a:lstStyle/>
          <a:p>
            <a:r>
              <a:rPr lang="en-US" dirty="0"/>
              <a:t>Pearson Correlation Coefficient</a:t>
            </a:r>
            <a:br>
              <a:rPr lang="en-US" dirty="0"/>
            </a:br>
            <a:endParaRPr lang="en-US" dirty="0"/>
          </a:p>
        </p:txBody>
      </p:sp>
      <p:sp>
        <p:nvSpPr>
          <p:cNvPr id="3" name="Content Placeholder 2">
            <a:extLst>
              <a:ext uri="{FF2B5EF4-FFF2-40B4-BE49-F238E27FC236}">
                <a16:creationId xmlns:a16="http://schemas.microsoft.com/office/drawing/2014/main" id="{CCB0388F-963A-C816-347C-BD6849322900}"/>
              </a:ext>
            </a:extLst>
          </p:cNvPr>
          <p:cNvSpPr>
            <a:spLocks noGrp="1"/>
          </p:cNvSpPr>
          <p:nvPr>
            <p:ph idx="1"/>
          </p:nvPr>
        </p:nvSpPr>
        <p:spPr/>
        <p:txBody>
          <a:bodyPr>
            <a:normAutofit/>
          </a:bodyPr>
          <a:lstStyle/>
          <a:p>
            <a:r>
              <a:rPr lang="en-US" dirty="0"/>
              <a:t>Pearson correlation coefficient measures the linear correlation between two variables. </a:t>
            </a:r>
          </a:p>
          <a:p>
            <a:r>
              <a:rPr lang="en-US" dirty="0"/>
              <a:t>In the context of text documents represented as vectors, Pearson correlation coefficient calculates the correlation between the elements of the vectors.</a:t>
            </a:r>
          </a:p>
          <a:p>
            <a:r>
              <a:rPr lang="en-US" dirty="0"/>
              <a:t>Pearson correlation coefficient ranges from -1 to 1, with 1 indicating perfect positive correlation, -1 indicating perfect negative correlation, and 0 indicating no correlation.</a:t>
            </a:r>
          </a:p>
          <a:p>
            <a:r>
              <a:rPr lang="en-IN" dirty="0"/>
              <a:t>Pearson coefficient measures how strongly two document word-frequency patterns are related.</a:t>
            </a:r>
            <a:endParaRPr lang="en-US" dirty="0"/>
          </a:p>
          <a:p>
            <a:endParaRPr lang="en-US" dirty="0"/>
          </a:p>
        </p:txBody>
      </p:sp>
    </p:spTree>
    <p:extLst>
      <p:ext uri="{BB962C8B-B14F-4D97-AF65-F5344CB8AC3E}">
        <p14:creationId xmlns:p14="http://schemas.microsoft.com/office/powerpoint/2010/main" val="2946650633"/>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31443D9-8E01-C359-6B27-02ABD15856AE}"/>
              </a:ext>
            </a:extLst>
          </p:cNvPr>
          <p:cNvSpPr>
            <a:spLocks noGrp="1"/>
          </p:cNvSpPr>
          <p:nvPr>
            <p:ph type="title"/>
          </p:nvPr>
        </p:nvSpPr>
        <p:spPr/>
        <p:txBody>
          <a:bodyPr/>
          <a:lstStyle/>
          <a:p>
            <a:r>
              <a:rPr lang="en-US" dirty="0"/>
              <a:t>Pearson Correlation Coefficient</a:t>
            </a:r>
            <a:br>
              <a:rPr lang="en-US" dirty="0"/>
            </a:br>
            <a:endParaRPr lang="en-US" dirty="0"/>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71847822-D1F0-53A1-F202-B0928CBE3F44}"/>
                  </a:ext>
                </a:extLst>
              </p:cNvPr>
              <p:cNvSpPr>
                <a:spLocks noGrp="1"/>
              </p:cNvSpPr>
              <p:nvPr>
                <p:ph idx="1"/>
              </p:nvPr>
            </p:nvSpPr>
            <p:spPr/>
            <p:txBody>
              <a:bodyPr>
                <a:normAutofit fontScale="77500" lnSpcReduction="20000"/>
              </a:bodyPr>
              <a:lstStyle/>
              <a:p>
                <a:r>
                  <a:rPr lang="en-IN" b="1" dirty="0"/>
                  <a:t>Pearson Formula</a:t>
                </a:r>
              </a:p>
              <a:p>
                <a:pPr marL="0" indent="0">
                  <a:buNone/>
                </a:pPr>
                <a14:m>
                  <m:oMathPara xmlns:m="http://schemas.openxmlformats.org/officeDocument/2006/math">
                    <m:oMathParaPr>
                      <m:jc m:val="centerGroup"/>
                    </m:oMathParaPr>
                    <m:oMath xmlns:m="http://schemas.openxmlformats.org/officeDocument/2006/math">
                      <m:r>
                        <a:rPr lang="en-IN" i="1">
                          <a:latin typeface="Cambria Math" panose="02040503050406030204" pitchFamily="18" charset="0"/>
                        </a:rPr>
                        <m:t>𝑟</m:t>
                      </m:r>
                      <m:r>
                        <a:rPr lang="en-IN">
                          <a:latin typeface="Cambria Math" panose="02040503050406030204" pitchFamily="18" charset="0"/>
                        </a:rPr>
                        <m:t>=</m:t>
                      </m:r>
                      <m:f>
                        <m:fPr>
                          <m:ctrlPr>
                            <a:rPr lang="ar-AE" i="1">
                              <a:latin typeface="Cambria Math" panose="02040503050406030204" pitchFamily="18" charset="0"/>
                            </a:rPr>
                          </m:ctrlPr>
                        </m:fPr>
                        <m:num>
                          <m:nary>
                            <m:naryPr>
                              <m:chr m:val="∑"/>
                              <m:grow m:val="on"/>
                              <m:subHide m:val="on"/>
                              <m:supHide m:val="on"/>
                              <m:ctrlPr>
                                <a:rPr lang="ar-AE" i="1">
                                  <a:latin typeface="Cambria Math" panose="02040503050406030204" pitchFamily="18" charset="0"/>
                                </a:rPr>
                              </m:ctrlPr>
                            </m:naryPr>
                            <m:sub/>
                            <m:sup/>
                            <m:e>
                              <m:r>
                                <a:rPr lang="ar-AE">
                                  <a:latin typeface="Cambria Math" panose="02040503050406030204" pitchFamily="18" charset="0"/>
                                </a:rPr>
                                <m:t>(</m:t>
                              </m:r>
                            </m:e>
                          </m:nary>
                          <m:d>
                            <m:dPr>
                              <m:begChr m:val=""/>
                              <m:ctrlPr>
                                <a:rPr lang="ar-AE" i="1">
                                  <a:latin typeface="Cambria Math" panose="02040503050406030204" pitchFamily="18" charset="0"/>
                                </a:rPr>
                              </m:ctrlPr>
                            </m:dPr>
                            <m:e>
                              <m:sSub>
                                <m:sSubPr>
                                  <m:ctrlPr>
                                    <a:rPr lang="ar-AE" i="1">
                                      <a:latin typeface="Cambria Math" panose="02040503050406030204" pitchFamily="18" charset="0"/>
                                    </a:rPr>
                                  </m:ctrlPr>
                                </m:sSubPr>
                                <m:e>
                                  <m:r>
                                    <a:rPr lang="ar-AE" i="1">
                                      <a:latin typeface="Cambria Math" panose="02040503050406030204" pitchFamily="18" charset="0"/>
                                    </a:rPr>
                                    <m:t>𝑥</m:t>
                                  </m:r>
                                </m:e>
                                <m:sub>
                                  <m:r>
                                    <a:rPr lang="ar-AE" i="1">
                                      <a:latin typeface="Cambria Math" panose="02040503050406030204" pitchFamily="18" charset="0"/>
                                    </a:rPr>
                                    <m:t>𝑖</m:t>
                                  </m:r>
                                </m:sub>
                              </m:sSub>
                              <m:r>
                                <a:rPr lang="ar-AE">
                                  <a:latin typeface="Cambria Math" panose="02040503050406030204" pitchFamily="18" charset="0"/>
                                </a:rPr>
                                <m:t>−</m:t>
                              </m:r>
                              <m:limUpp>
                                <m:limUppPr>
                                  <m:ctrlPr>
                                    <a:rPr lang="ar-AE" i="1">
                                      <a:latin typeface="Cambria Math" panose="02040503050406030204" pitchFamily="18" charset="0"/>
                                    </a:rPr>
                                  </m:ctrlPr>
                                </m:limUppPr>
                                <m:e>
                                  <m:r>
                                    <a:rPr lang="ar-AE" i="1">
                                      <a:latin typeface="Cambria Math" panose="02040503050406030204" pitchFamily="18" charset="0"/>
                                    </a:rPr>
                                    <m:t>𝑥</m:t>
                                  </m:r>
                                </m:e>
                                <m:lim>
                                  <m:r>
                                    <a:rPr lang="ar-AE">
                                      <a:latin typeface="Cambria Math" panose="02040503050406030204" pitchFamily="18" charset="0"/>
                                    </a:rPr>
                                    <m:t>ˉ</m:t>
                                  </m:r>
                                </m:lim>
                              </m:limUpp>
                            </m:e>
                          </m:d>
                          <m:d>
                            <m:dPr>
                              <m:ctrlPr>
                                <a:rPr lang="ar-AE" i="1">
                                  <a:latin typeface="Cambria Math" panose="02040503050406030204" pitchFamily="18" charset="0"/>
                                </a:rPr>
                              </m:ctrlPr>
                            </m:dPr>
                            <m:e>
                              <m:sSub>
                                <m:sSubPr>
                                  <m:ctrlPr>
                                    <a:rPr lang="ar-AE" i="1">
                                      <a:latin typeface="Cambria Math" panose="02040503050406030204" pitchFamily="18" charset="0"/>
                                    </a:rPr>
                                  </m:ctrlPr>
                                </m:sSubPr>
                                <m:e>
                                  <m:r>
                                    <a:rPr lang="ar-AE" i="1">
                                      <a:latin typeface="Cambria Math" panose="02040503050406030204" pitchFamily="18" charset="0"/>
                                    </a:rPr>
                                    <m:t>𝑦</m:t>
                                  </m:r>
                                </m:e>
                                <m:sub>
                                  <m:r>
                                    <a:rPr lang="ar-AE" i="1">
                                      <a:latin typeface="Cambria Math" panose="02040503050406030204" pitchFamily="18" charset="0"/>
                                    </a:rPr>
                                    <m:t>𝑖</m:t>
                                  </m:r>
                                </m:sub>
                              </m:sSub>
                              <m:r>
                                <a:rPr lang="ar-AE">
                                  <a:latin typeface="Cambria Math" panose="02040503050406030204" pitchFamily="18" charset="0"/>
                                </a:rPr>
                                <m:t>−</m:t>
                              </m:r>
                              <m:limUpp>
                                <m:limUppPr>
                                  <m:ctrlPr>
                                    <a:rPr lang="ar-AE" i="1">
                                      <a:latin typeface="Cambria Math" panose="02040503050406030204" pitchFamily="18" charset="0"/>
                                    </a:rPr>
                                  </m:ctrlPr>
                                </m:limUppPr>
                                <m:e>
                                  <m:r>
                                    <a:rPr lang="ar-AE" i="1">
                                      <a:latin typeface="Cambria Math" panose="02040503050406030204" pitchFamily="18" charset="0"/>
                                    </a:rPr>
                                    <m:t>𝑦</m:t>
                                  </m:r>
                                </m:e>
                                <m:lim>
                                  <m:r>
                                    <a:rPr lang="ar-AE">
                                      <a:latin typeface="Cambria Math" panose="02040503050406030204" pitchFamily="18" charset="0"/>
                                    </a:rPr>
                                    <m:t>ˉ</m:t>
                                  </m:r>
                                </m:lim>
                              </m:limUpp>
                            </m:e>
                          </m:d>
                        </m:num>
                        <m:den>
                          <m:rad>
                            <m:radPr>
                              <m:degHide m:val="on"/>
                              <m:ctrlPr>
                                <a:rPr lang="ar-AE" i="1">
                                  <a:latin typeface="Cambria Math" panose="02040503050406030204" pitchFamily="18" charset="0"/>
                                </a:rPr>
                              </m:ctrlPr>
                            </m:radPr>
                            <m:deg/>
                            <m:e>
                              <m:nary>
                                <m:naryPr>
                                  <m:chr m:val="∑"/>
                                  <m:grow m:val="on"/>
                                  <m:subHide m:val="on"/>
                                  <m:supHide m:val="on"/>
                                  <m:ctrlPr>
                                    <a:rPr lang="ar-AE" i="1">
                                      <a:latin typeface="Cambria Math" panose="02040503050406030204" pitchFamily="18" charset="0"/>
                                    </a:rPr>
                                  </m:ctrlPr>
                                </m:naryPr>
                                <m:sub/>
                                <m:sup/>
                                <m:e>
                                  <m:r>
                                    <a:rPr lang="ar-AE">
                                      <a:latin typeface="Cambria Math" panose="02040503050406030204" pitchFamily="18" charset="0"/>
                                    </a:rPr>
                                    <m:t>(</m:t>
                                  </m:r>
                                </m:e>
                              </m:nary>
                              <m:d>
                                <m:dPr>
                                  <m:begChr m:val=""/>
                                  <m:endChr m:val=""/>
                                  <m:ctrlPr>
                                    <a:rPr lang="ar-AE" i="1">
                                      <a:latin typeface="Cambria Math" panose="02040503050406030204" pitchFamily="18" charset="0"/>
                                    </a:rPr>
                                  </m:ctrlPr>
                                </m:dPr>
                                <m:e>
                                  <m:sSub>
                                    <m:sSubPr>
                                      <m:ctrlPr>
                                        <a:rPr lang="ar-AE" i="1">
                                          <a:latin typeface="Cambria Math" panose="02040503050406030204" pitchFamily="18" charset="0"/>
                                        </a:rPr>
                                      </m:ctrlPr>
                                    </m:sSubPr>
                                    <m:e>
                                      <m:r>
                                        <a:rPr lang="ar-AE" i="1">
                                          <a:latin typeface="Cambria Math" panose="02040503050406030204" pitchFamily="18" charset="0"/>
                                        </a:rPr>
                                        <m:t>𝑥</m:t>
                                      </m:r>
                                    </m:e>
                                    <m:sub>
                                      <m:r>
                                        <a:rPr lang="ar-AE" i="1">
                                          <a:latin typeface="Cambria Math" panose="02040503050406030204" pitchFamily="18" charset="0"/>
                                        </a:rPr>
                                        <m:t>𝑖</m:t>
                                      </m:r>
                                    </m:sub>
                                  </m:sSub>
                                  <m:r>
                                    <a:rPr lang="ar-AE">
                                      <a:latin typeface="Cambria Math" panose="02040503050406030204" pitchFamily="18" charset="0"/>
                                    </a:rPr>
                                    <m:t>−</m:t>
                                  </m:r>
                                  <m:limUpp>
                                    <m:limUppPr>
                                      <m:ctrlPr>
                                        <a:rPr lang="ar-AE" i="1">
                                          <a:latin typeface="Cambria Math" panose="02040503050406030204" pitchFamily="18" charset="0"/>
                                        </a:rPr>
                                      </m:ctrlPr>
                                    </m:limUppPr>
                                    <m:e>
                                      <m:r>
                                        <a:rPr lang="ar-AE" i="1">
                                          <a:latin typeface="Cambria Math" panose="02040503050406030204" pitchFamily="18" charset="0"/>
                                        </a:rPr>
                                        <m:t>𝑥</m:t>
                                      </m:r>
                                    </m:e>
                                    <m:lim>
                                      <m:r>
                                        <a:rPr lang="ar-AE">
                                          <a:latin typeface="Cambria Math" panose="02040503050406030204" pitchFamily="18" charset="0"/>
                                        </a:rPr>
                                        <m:t>ˉ</m:t>
                                      </m:r>
                                    </m:lim>
                                  </m:limUpp>
                                  <m:sSup>
                                    <m:sSupPr>
                                      <m:ctrlPr>
                                        <a:rPr lang="ar-AE" i="1">
                                          <a:latin typeface="Cambria Math" panose="02040503050406030204" pitchFamily="18" charset="0"/>
                                        </a:rPr>
                                      </m:ctrlPr>
                                    </m:sSupPr>
                                    <m:e>
                                      <m:d>
                                        <m:dPr>
                                          <m:begChr m:val=""/>
                                          <m:endChr m:val=""/>
                                          <m:ctrlPr>
                                            <a:rPr lang="ar-AE" i="1">
                                              <a:latin typeface="Cambria Math" panose="02040503050406030204" pitchFamily="18" charset="0"/>
                                            </a:rPr>
                                          </m:ctrlPr>
                                        </m:dPr>
                                        <m:e>
                                          <m:r>
                                            <a:rPr lang="ar-AE">
                                              <a:latin typeface="Cambria Math" panose="02040503050406030204" pitchFamily="18" charset="0"/>
                                            </a:rPr>
                                            <m:t>)</m:t>
                                          </m:r>
                                        </m:e>
                                      </m:d>
                                    </m:e>
                                    <m:sup>
                                      <m:r>
                                        <a:rPr lang="ar-AE">
                                          <a:latin typeface="Cambria Math" panose="02040503050406030204" pitchFamily="18" charset="0"/>
                                        </a:rPr>
                                        <m:t>2</m:t>
                                      </m:r>
                                    </m:sup>
                                  </m:sSup>
                                </m:e>
                              </m:d>
                            </m:e>
                          </m:rad>
                          <m:rad>
                            <m:radPr>
                              <m:degHide m:val="on"/>
                              <m:ctrlPr>
                                <a:rPr lang="ar-AE" i="1">
                                  <a:latin typeface="Cambria Math" panose="02040503050406030204" pitchFamily="18" charset="0"/>
                                </a:rPr>
                              </m:ctrlPr>
                            </m:radPr>
                            <m:deg/>
                            <m:e>
                              <m:nary>
                                <m:naryPr>
                                  <m:chr m:val="∑"/>
                                  <m:grow m:val="on"/>
                                  <m:subHide m:val="on"/>
                                  <m:supHide m:val="on"/>
                                  <m:ctrlPr>
                                    <a:rPr lang="ar-AE" i="1">
                                      <a:latin typeface="Cambria Math" panose="02040503050406030204" pitchFamily="18" charset="0"/>
                                    </a:rPr>
                                  </m:ctrlPr>
                                </m:naryPr>
                                <m:sub/>
                                <m:sup/>
                                <m:e>
                                  <m:r>
                                    <a:rPr lang="ar-AE">
                                      <a:latin typeface="Cambria Math" panose="02040503050406030204" pitchFamily="18" charset="0"/>
                                    </a:rPr>
                                    <m:t>(</m:t>
                                  </m:r>
                                </m:e>
                              </m:nary>
                              <m:d>
                                <m:dPr>
                                  <m:begChr m:val=""/>
                                  <m:endChr m:val=""/>
                                  <m:ctrlPr>
                                    <a:rPr lang="ar-AE" i="1">
                                      <a:latin typeface="Cambria Math" panose="02040503050406030204" pitchFamily="18" charset="0"/>
                                    </a:rPr>
                                  </m:ctrlPr>
                                </m:dPr>
                                <m:e>
                                  <m:sSub>
                                    <m:sSubPr>
                                      <m:ctrlPr>
                                        <a:rPr lang="ar-AE" i="1">
                                          <a:latin typeface="Cambria Math" panose="02040503050406030204" pitchFamily="18" charset="0"/>
                                        </a:rPr>
                                      </m:ctrlPr>
                                    </m:sSubPr>
                                    <m:e>
                                      <m:r>
                                        <a:rPr lang="ar-AE" i="1">
                                          <a:latin typeface="Cambria Math" panose="02040503050406030204" pitchFamily="18" charset="0"/>
                                        </a:rPr>
                                        <m:t>𝑦</m:t>
                                      </m:r>
                                    </m:e>
                                    <m:sub>
                                      <m:r>
                                        <a:rPr lang="ar-AE" i="1">
                                          <a:latin typeface="Cambria Math" panose="02040503050406030204" pitchFamily="18" charset="0"/>
                                        </a:rPr>
                                        <m:t>𝑖</m:t>
                                      </m:r>
                                    </m:sub>
                                  </m:sSub>
                                  <m:r>
                                    <a:rPr lang="ar-AE">
                                      <a:latin typeface="Cambria Math" panose="02040503050406030204" pitchFamily="18" charset="0"/>
                                    </a:rPr>
                                    <m:t>−</m:t>
                                  </m:r>
                                  <m:limUpp>
                                    <m:limUppPr>
                                      <m:ctrlPr>
                                        <a:rPr lang="ar-AE" i="1">
                                          <a:latin typeface="Cambria Math" panose="02040503050406030204" pitchFamily="18" charset="0"/>
                                        </a:rPr>
                                      </m:ctrlPr>
                                    </m:limUppPr>
                                    <m:e>
                                      <m:r>
                                        <a:rPr lang="ar-AE" i="1">
                                          <a:latin typeface="Cambria Math" panose="02040503050406030204" pitchFamily="18" charset="0"/>
                                        </a:rPr>
                                        <m:t>𝑦</m:t>
                                      </m:r>
                                    </m:e>
                                    <m:lim>
                                      <m:r>
                                        <a:rPr lang="ar-AE">
                                          <a:latin typeface="Cambria Math" panose="02040503050406030204" pitchFamily="18" charset="0"/>
                                        </a:rPr>
                                        <m:t>ˉ</m:t>
                                      </m:r>
                                    </m:lim>
                                  </m:limUpp>
                                  <m:sSup>
                                    <m:sSupPr>
                                      <m:ctrlPr>
                                        <a:rPr lang="ar-AE" i="1">
                                          <a:latin typeface="Cambria Math" panose="02040503050406030204" pitchFamily="18" charset="0"/>
                                        </a:rPr>
                                      </m:ctrlPr>
                                    </m:sSupPr>
                                    <m:e>
                                      <m:d>
                                        <m:dPr>
                                          <m:begChr m:val=""/>
                                          <m:endChr m:val=""/>
                                          <m:ctrlPr>
                                            <a:rPr lang="ar-AE" i="1">
                                              <a:latin typeface="Cambria Math" panose="02040503050406030204" pitchFamily="18" charset="0"/>
                                            </a:rPr>
                                          </m:ctrlPr>
                                        </m:dPr>
                                        <m:e>
                                          <m:r>
                                            <a:rPr lang="ar-AE">
                                              <a:latin typeface="Cambria Math" panose="02040503050406030204" pitchFamily="18" charset="0"/>
                                            </a:rPr>
                                            <m:t>)</m:t>
                                          </m:r>
                                        </m:e>
                                      </m:d>
                                    </m:e>
                                    <m:sup>
                                      <m:r>
                                        <a:rPr lang="ar-AE">
                                          <a:latin typeface="Cambria Math" panose="02040503050406030204" pitchFamily="18" charset="0"/>
                                        </a:rPr>
                                        <m:t>2</m:t>
                                      </m:r>
                                    </m:sup>
                                  </m:sSup>
                                </m:e>
                              </m:d>
                            </m:e>
                          </m:rad>
                        </m:den>
                      </m:f>
                    </m:oMath>
                  </m:oMathPara>
                </a14:m>
                <a:endParaRPr lang="ar-AE" dirty="0"/>
              </a:p>
              <a:p>
                <a:pPr marL="0" indent="0">
                  <a:buNone/>
                </a:pPr>
                <a:br>
                  <a:rPr lang="ar-AE" dirty="0"/>
                </a:br>
                <a:endParaRPr lang="ar-AE" dirty="0"/>
              </a:p>
              <a:p>
                <a:r>
                  <a:rPr lang="en-IN" dirty="0"/>
                  <a:t> Measures how similarly two documents vary around their average word frequency.</a:t>
                </a:r>
              </a:p>
              <a:p>
                <a:pPr marL="0" indent="0">
                  <a:buNone/>
                </a:pPr>
                <a:br>
                  <a:rPr lang="en-IN" dirty="0"/>
                </a:br>
                <a:r>
                  <a:rPr lang="en-IN" dirty="0"/>
                  <a:t>Think of two students’ marks:</a:t>
                </a:r>
              </a:p>
              <a:p>
                <a:r>
                  <a:rPr lang="en-IN" dirty="0"/>
                  <a:t>✔ If both increase and decrease together → High Pearson</a:t>
                </a:r>
                <a:br>
                  <a:rPr lang="en-IN" dirty="0"/>
                </a:br>
                <a:r>
                  <a:rPr lang="en-IN" dirty="0"/>
                  <a:t>✔ If unrelated → Near 0</a:t>
                </a:r>
                <a:br>
                  <a:rPr lang="en-IN" dirty="0"/>
                </a:br>
                <a:r>
                  <a:rPr lang="en-IN" dirty="0"/>
                  <a:t>✔ If opposite trends → Negative Pearson</a:t>
                </a:r>
              </a:p>
              <a:p>
                <a:endParaRPr lang="en-US" dirty="0"/>
              </a:p>
            </p:txBody>
          </p:sp>
        </mc:Choice>
        <mc:Fallback xmlns="">
          <p:sp>
            <p:nvSpPr>
              <p:cNvPr id="3" name="Content Placeholder 2">
                <a:extLst>
                  <a:ext uri="{FF2B5EF4-FFF2-40B4-BE49-F238E27FC236}">
                    <a16:creationId xmlns:a16="http://schemas.microsoft.com/office/drawing/2014/main" id="{71847822-D1F0-53A1-F202-B0928CBE3F44}"/>
                  </a:ext>
                </a:extLst>
              </p:cNvPr>
              <p:cNvSpPr>
                <a:spLocks noGrp="1" noRot="1" noChangeAspect="1" noMove="1" noResize="1" noEditPoints="1" noAdjustHandles="1" noChangeArrowheads="1" noChangeShapeType="1" noTextEdit="1"/>
              </p:cNvSpPr>
              <p:nvPr>
                <p:ph idx="1"/>
              </p:nvPr>
            </p:nvSpPr>
            <p:spPr>
              <a:blipFill>
                <a:blip r:embed="rId2"/>
                <a:stretch>
                  <a:fillRect l="-724" t="-20349"/>
                </a:stretch>
              </a:blipFill>
            </p:spPr>
            <p:txBody>
              <a:bodyPr/>
              <a:lstStyle/>
              <a:p>
                <a:r>
                  <a:rPr lang="en-US">
                    <a:noFill/>
                  </a:rPr>
                  <a:t> </a:t>
                </a:r>
              </a:p>
            </p:txBody>
          </p:sp>
        </mc:Fallback>
      </mc:AlternateContent>
    </p:spTree>
    <p:extLst>
      <p:ext uri="{BB962C8B-B14F-4D97-AF65-F5344CB8AC3E}">
        <p14:creationId xmlns:p14="http://schemas.microsoft.com/office/powerpoint/2010/main" val="3478980552"/>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BACC6370-2D7E-4714-9D71-7542949D7D5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F68B3F68-107C-434F-AA38-110D5EA91B8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2" y="0"/>
            <a:ext cx="12191998" cy="1575955"/>
          </a:xfrm>
          <a:prstGeom prst="rect">
            <a:avLst/>
          </a:prstGeom>
          <a:gradFill>
            <a:gsLst>
              <a:gs pos="0">
                <a:srgbClr val="000000">
                  <a:alpha val="96000"/>
                </a:srgbClr>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AAD0DBB9-1A4B-4391-81D4-CB19F9AB918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8128857" y="0"/>
            <a:ext cx="4063143" cy="1576412"/>
          </a:xfrm>
          <a:prstGeom prst="rect">
            <a:avLst/>
          </a:prstGeom>
          <a:gradFill>
            <a:gsLst>
              <a:gs pos="19000">
                <a:schemeClr val="accent1">
                  <a:lumMod val="50000"/>
                  <a:alpha val="68000"/>
                </a:schemeClr>
              </a:gs>
              <a:gs pos="100000">
                <a:schemeClr val="accent1">
                  <a:alpha val="79000"/>
                </a:schemeClr>
              </a:gs>
            </a:gsLst>
            <a:lin ang="19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063BBA22-50EA-4C4D-BE05-F1CE4E63AA5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5307777" y="-5307778"/>
            <a:ext cx="1576446" cy="12192002"/>
          </a:xfrm>
          <a:prstGeom prst="rect">
            <a:avLst/>
          </a:prstGeom>
          <a:gradFill>
            <a:gsLst>
              <a:gs pos="23000">
                <a:schemeClr val="accent1">
                  <a:alpha val="0"/>
                </a:schemeClr>
              </a:gs>
              <a:gs pos="99000">
                <a:srgbClr val="000000">
                  <a:alpha val="74000"/>
                </a:srgbClr>
              </a:gs>
            </a:gsLst>
            <a:lin ang="20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7BB17099-3C79-5EA0-1D46-D30E243CCD4B}"/>
              </a:ext>
            </a:extLst>
          </p:cNvPr>
          <p:cNvSpPr>
            <a:spLocks noGrp="1"/>
          </p:cNvSpPr>
          <p:nvPr>
            <p:ph type="title"/>
          </p:nvPr>
        </p:nvSpPr>
        <p:spPr>
          <a:xfrm>
            <a:off x="1371597" y="348865"/>
            <a:ext cx="10044023" cy="877729"/>
          </a:xfrm>
        </p:spPr>
        <p:txBody>
          <a:bodyPr anchor="ctr">
            <a:normAutofit/>
          </a:bodyPr>
          <a:lstStyle/>
          <a:p>
            <a:r>
              <a:rPr lang="en-US" sz="4000">
                <a:solidFill>
                  <a:srgbClr val="FFFFFF"/>
                </a:solidFill>
              </a:rPr>
              <a:t>Comparison of All Measures</a:t>
            </a:r>
          </a:p>
        </p:txBody>
      </p:sp>
      <p:graphicFrame>
        <p:nvGraphicFramePr>
          <p:cNvPr id="4" name="Content Placeholder 3">
            <a:extLst>
              <a:ext uri="{FF2B5EF4-FFF2-40B4-BE49-F238E27FC236}">
                <a16:creationId xmlns:a16="http://schemas.microsoft.com/office/drawing/2014/main" id="{C6EB2B3C-0CA1-6583-F8C5-2357E004EE37}"/>
              </a:ext>
            </a:extLst>
          </p:cNvPr>
          <p:cNvGraphicFramePr>
            <a:graphicFrameLocks noGrp="1"/>
          </p:cNvGraphicFramePr>
          <p:nvPr>
            <p:ph idx="1"/>
            <p:extLst>
              <p:ext uri="{D42A27DB-BD31-4B8C-83A1-F6EECF244321}">
                <p14:modId xmlns:p14="http://schemas.microsoft.com/office/powerpoint/2010/main" val="4190914332"/>
              </p:ext>
            </p:extLst>
          </p:nvPr>
        </p:nvGraphicFramePr>
        <p:xfrm>
          <a:off x="0" y="1575953"/>
          <a:ext cx="12192002" cy="4933182"/>
        </p:xfrm>
        <a:graphic>
          <a:graphicData uri="http://schemas.openxmlformats.org/drawingml/2006/table">
            <a:tbl>
              <a:tblPr/>
              <a:tblGrid>
                <a:gridCol w="1004080">
                  <a:extLst>
                    <a:ext uri="{9D8B030D-6E8A-4147-A177-3AD203B41FA5}">
                      <a16:colId xmlns:a16="http://schemas.microsoft.com/office/drawing/2014/main" val="3125997870"/>
                    </a:ext>
                  </a:extLst>
                </a:gridCol>
                <a:gridCol w="751448">
                  <a:extLst>
                    <a:ext uri="{9D8B030D-6E8A-4147-A177-3AD203B41FA5}">
                      <a16:colId xmlns:a16="http://schemas.microsoft.com/office/drawing/2014/main" val="2852269875"/>
                    </a:ext>
                  </a:extLst>
                </a:gridCol>
                <a:gridCol w="1337911">
                  <a:extLst>
                    <a:ext uri="{9D8B030D-6E8A-4147-A177-3AD203B41FA5}">
                      <a16:colId xmlns:a16="http://schemas.microsoft.com/office/drawing/2014/main" val="2484712146"/>
                    </a:ext>
                  </a:extLst>
                </a:gridCol>
                <a:gridCol w="587239">
                  <a:extLst>
                    <a:ext uri="{9D8B030D-6E8A-4147-A177-3AD203B41FA5}">
                      <a16:colId xmlns:a16="http://schemas.microsoft.com/office/drawing/2014/main" val="3130488025"/>
                    </a:ext>
                  </a:extLst>
                </a:gridCol>
                <a:gridCol w="2485574">
                  <a:extLst>
                    <a:ext uri="{9D8B030D-6E8A-4147-A177-3AD203B41FA5}">
                      <a16:colId xmlns:a16="http://schemas.microsoft.com/office/drawing/2014/main" val="25635977"/>
                    </a:ext>
                  </a:extLst>
                </a:gridCol>
                <a:gridCol w="2332191">
                  <a:extLst>
                    <a:ext uri="{9D8B030D-6E8A-4147-A177-3AD203B41FA5}">
                      <a16:colId xmlns:a16="http://schemas.microsoft.com/office/drawing/2014/main" val="4158143022"/>
                    </a:ext>
                  </a:extLst>
                </a:gridCol>
                <a:gridCol w="2034447">
                  <a:extLst>
                    <a:ext uri="{9D8B030D-6E8A-4147-A177-3AD203B41FA5}">
                      <a16:colId xmlns:a16="http://schemas.microsoft.com/office/drawing/2014/main" val="528207563"/>
                    </a:ext>
                  </a:extLst>
                </a:gridCol>
                <a:gridCol w="1659112">
                  <a:extLst>
                    <a:ext uri="{9D8B030D-6E8A-4147-A177-3AD203B41FA5}">
                      <a16:colId xmlns:a16="http://schemas.microsoft.com/office/drawing/2014/main" val="3548530808"/>
                    </a:ext>
                  </a:extLst>
                </a:gridCol>
              </a:tblGrid>
              <a:tr h="488249">
                <a:tc>
                  <a:txBody>
                    <a:bodyPr/>
                    <a:lstStyle/>
                    <a:p>
                      <a:pPr>
                        <a:buNone/>
                      </a:pPr>
                      <a:r>
                        <a:rPr lang="en-IN" sz="1000"/>
                        <a:t>Measure</a:t>
                      </a:r>
                    </a:p>
                  </a:txBody>
                  <a:tcPr marL="21212" marR="21212" marT="10606" marB="10606" anchor="ctr">
                    <a:lnL>
                      <a:noFill/>
                    </a:lnL>
                    <a:lnR>
                      <a:noFill/>
                    </a:lnR>
                    <a:lnT>
                      <a:noFill/>
                    </a:lnT>
                    <a:lnB>
                      <a:noFill/>
                    </a:lnB>
                    <a:noFill/>
                  </a:tcPr>
                </a:tc>
                <a:tc>
                  <a:txBody>
                    <a:bodyPr/>
                    <a:lstStyle/>
                    <a:p>
                      <a:pPr>
                        <a:buNone/>
                      </a:pPr>
                      <a:r>
                        <a:rPr lang="en-IN" sz="1000"/>
                        <a:t>Type</a:t>
                      </a:r>
                    </a:p>
                  </a:txBody>
                  <a:tcPr marL="21212" marR="21212" marT="10606" marB="10606" anchor="ctr">
                    <a:lnL>
                      <a:noFill/>
                    </a:lnL>
                    <a:lnR>
                      <a:noFill/>
                    </a:lnR>
                    <a:lnT>
                      <a:noFill/>
                    </a:lnT>
                    <a:lnB>
                      <a:noFill/>
                    </a:lnB>
                    <a:noFill/>
                  </a:tcPr>
                </a:tc>
                <a:tc>
                  <a:txBody>
                    <a:bodyPr/>
                    <a:lstStyle/>
                    <a:p>
                      <a:pPr>
                        <a:buNone/>
                      </a:pPr>
                      <a:r>
                        <a:rPr lang="en-IN" sz="1000"/>
                        <a:t>What It Measures</a:t>
                      </a:r>
                    </a:p>
                  </a:txBody>
                  <a:tcPr marL="21212" marR="21212" marT="10606" marB="10606" anchor="ctr">
                    <a:lnL>
                      <a:noFill/>
                    </a:lnL>
                    <a:lnR>
                      <a:noFill/>
                    </a:lnR>
                    <a:lnT>
                      <a:noFill/>
                    </a:lnT>
                    <a:lnB>
                      <a:noFill/>
                    </a:lnB>
                    <a:noFill/>
                  </a:tcPr>
                </a:tc>
                <a:tc>
                  <a:txBody>
                    <a:bodyPr/>
                    <a:lstStyle/>
                    <a:p>
                      <a:pPr>
                        <a:buNone/>
                      </a:pPr>
                      <a:r>
                        <a:rPr lang="en-IN" sz="1000"/>
                        <a:t>Value Range</a:t>
                      </a:r>
                    </a:p>
                  </a:txBody>
                  <a:tcPr marL="21212" marR="21212" marT="10606" marB="10606" anchor="ctr">
                    <a:lnL>
                      <a:noFill/>
                    </a:lnL>
                    <a:lnR>
                      <a:noFill/>
                    </a:lnR>
                    <a:lnT>
                      <a:noFill/>
                    </a:lnT>
                    <a:lnB>
                      <a:noFill/>
                    </a:lnB>
                    <a:noFill/>
                  </a:tcPr>
                </a:tc>
                <a:tc>
                  <a:txBody>
                    <a:bodyPr/>
                    <a:lstStyle/>
                    <a:p>
                      <a:pPr>
                        <a:buNone/>
                      </a:pPr>
                      <a:r>
                        <a:rPr lang="en-IN" sz="1000"/>
                        <a:t>Pros</a:t>
                      </a:r>
                    </a:p>
                  </a:txBody>
                  <a:tcPr marL="21212" marR="21212" marT="10606" marB="10606" anchor="ctr">
                    <a:lnL>
                      <a:noFill/>
                    </a:lnL>
                    <a:lnR>
                      <a:noFill/>
                    </a:lnR>
                    <a:lnT>
                      <a:noFill/>
                    </a:lnT>
                    <a:lnB>
                      <a:noFill/>
                    </a:lnB>
                    <a:noFill/>
                  </a:tcPr>
                </a:tc>
                <a:tc>
                  <a:txBody>
                    <a:bodyPr/>
                    <a:lstStyle/>
                    <a:p>
                      <a:pPr>
                        <a:buNone/>
                      </a:pPr>
                      <a:r>
                        <a:rPr lang="en-IN" sz="1000" dirty="0"/>
                        <a:t>Cons</a:t>
                      </a:r>
                    </a:p>
                  </a:txBody>
                  <a:tcPr marL="21212" marR="21212" marT="10606" marB="10606" anchor="ctr">
                    <a:lnL>
                      <a:noFill/>
                    </a:lnL>
                    <a:lnR>
                      <a:noFill/>
                    </a:lnR>
                    <a:lnT>
                      <a:noFill/>
                    </a:lnT>
                    <a:lnB>
                      <a:noFill/>
                    </a:lnB>
                    <a:noFill/>
                  </a:tcPr>
                </a:tc>
                <a:tc>
                  <a:txBody>
                    <a:bodyPr/>
                    <a:lstStyle/>
                    <a:p>
                      <a:pPr>
                        <a:buNone/>
                      </a:pPr>
                      <a:r>
                        <a:rPr lang="en-IN" sz="1000"/>
                        <a:t>Best Applications</a:t>
                      </a:r>
                    </a:p>
                  </a:txBody>
                  <a:tcPr marL="21212" marR="21212" marT="10606" marB="10606" anchor="ctr">
                    <a:lnL>
                      <a:noFill/>
                    </a:lnL>
                    <a:lnR>
                      <a:noFill/>
                    </a:lnR>
                    <a:lnT>
                      <a:noFill/>
                    </a:lnT>
                    <a:lnB>
                      <a:noFill/>
                    </a:lnB>
                    <a:noFill/>
                  </a:tcPr>
                </a:tc>
                <a:tc>
                  <a:txBody>
                    <a:bodyPr/>
                    <a:lstStyle/>
                    <a:p>
                      <a:pPr>
                        <a:buNone/>
                      </a:pPr>
                      <a:r>
                        <a:rPr lang="en-IN" sz="1000"/>
                        <a:t>Example</a:t>
                      </a:r>
                    </a:p>
                  </a:txBody>
                  <a:tcPr marL="21212" marR="21212" marT="10606" marB="10606" anchor="ctr">
                    <a:lnL>
                      <a:noFill/>
                    </a:lnL>
                    <a:lnR>
                      <a:noFill/>
                    </a:lnR>
                    <a:lnT>
                      <a:noFill/>
                    </a:lnT>
                    <a:lnB>
                      <a:noFill/>
                    </a:lnB>
                    <a:noFill/>
                  </a:tcPr>
                </a:tc>
                <a:extLst>
                  <a:ext uri="{0D108BD9-81ED-4DB2-BD59-A6C34878D82A}">
                    <a16:rowId xmlns:a16="http://schemas.microsoft.com/office/drawing/2014/main" val="3177681515"/>
                  </a:ext>
                </a:extLst>
              </a:tr>
              <a:tr h="693687">
                <a:tc>
                  <a:txBody>
                    <a:bodyPr/>
                    <a:lstStyle/>
                    <a:p>
                      <a:pPr>
                        <a:buNone/>
                      </a:pPr>
                      <a:r>
                        <a:rPr lang="en-IN" sz="1000" b="1"/>
                        <a:t>Cosine Similarity</a:t>
                      </a:r>
                      <a:endParaRPr lang="en-IN" sz="1000"/>
                    </a:p>
                  </a:txBody>
                  <a:tcPr marL="21212" marR="21212" marT="10606" marB="10606" anchor="ctr">
                    <a:lnL>
                      <a:noFill/>
                    </a:lnL>
                    <a:lnR>
                      <a:noFill/>
                    </a:lnR>
                    <a:lnT>
                      <a:noFill/>
                    </a:lnT>
                    <a:lnB>
                      <a:noFill/>
                    </a:lnB>
                    <a:noFill/>
                  </a:tcPr>
                </a:tc>
                <a:tc>
                  <a:txBody>
                    <a:bodyPr/>
                    <a:lstStyle/>
                    <a:p>
                      <a:pPr>
                        <a:buNone/>
                      </a:pPr>
                      <a:r>
                        <a:rPr lang="en-IN" sz="1000"/>
                        <a:t>Similarity</a:t>
                      </a:r>
                    </a:p>
                  </a:txBody>
                  <a:tcPr marL="21212" marR="21212" marT="10606" marB="10606" anchor="ctr">
                    <a:lnL>
                      <a:noFill/>
                    </a:lnL>
                    <a:lnR>
                      <a:noFill/>
                    </a:lnR>
                    <a:lnT>
                      <a:noFill/>
                    </a:lnT>
                    <a:lnB>
                      <a:noFill/>
                    </a:lnB>
                    <a:noFill/>
                  </a:tcPr>
                </a:tc>
                <a:tc>
                  <a:txBody>
                    <a:bodyPr/>
                    <a:lstStyle/>
                    <a:p>
                      <a:pPr>
                        <a:buNone/>
                      </a:pPr>
                      <a:r>
                        <a:rPr lang="en-IN" sz="1000"/>
                        <a:t>Angle between document vectors</a:t>
                      </a:r>
                    </a:p>
                  </a:txBody>
                  <a:tcPr marL="21212" marR="21212" marT="10606" marB="10606" anchor="ctr">
                    <a:lnL>
                      <a:noFill/>
                    </a:lnL>
                    <a:lnR>
                      <a:noFill/>
                    </a:lnR>
                    <a:lnT>
                      <a:noFill/>
                    </a:lnT>
                    <a:lnB>
                      <a:noFill/>
                    </a:lnB>
                    <a:noFill/>
                  </a:tcPr>
                </a:tc>
                <a:tc>
                  <a:txBody>
                    <a:bodyPr/>
                    <a:lstStyle/>
                    <a:p>
                      <a:pPr>
                        <a:buNone/>
                      </a:pPr>
                      <a:r>
                        <a:rPr lang="en-IN" sz="1000"/>
                        <a:t>0 to 1</a:t>
                      </a:r>
                    </a:p>
                  </a:txBody>
                  <a:tcPr marL="21212" marR="21212" marT="10606" marB="10606" anchor="ctr">
                    <a:lnL>
                      <a:noFill/>
                    </a:lnL>
                    <a:lnR>
                      <a:noFill/>
                    </a:lnR>
                    <a:lnT>
                      <a:noFill/>
                    </a:lnT>
                    <a:lnB>
                      <a:noFill/>
                    </a:lnB>
                    <a:noFill/>
                  </a:tcPr>
                </a:tc>
                <a:tc>
                  <a:txBody>
                    <a:bodyPr/>
                    <a:lstStyle/>
                    <a:p>
                      <a:pPr>
                        <a:buNone/>
                      </a:pPr>
                      <a:r>
                        <a:rPr lang="en-IN" sz="1000" dirty="0"/>
                        <a:t> Works well with high-dimensional text data Ignores document length </a:t>
                      </a:r>
                    </a:p>
                    <a:p>
                      <a:pPr>
                        <a:buNone/>
                      </a:pPr>
                      <a:r>
                        <a:rPr lang="en-IN" sz="1000" dirty="0"/>
                        <a:t> Very popular in NLP</a:t>
                      </a:r>
                    </a:p>
                  </a:txBody>
                  <a:tcPr marL="21212" marR="21212" marT="10606" marB="10606" anchor="ctr">
                    <a:lnL>
                      <a:noFill/>
                    </a:lnL>
                    <a:lnR>
                      <a:noFill/>
                    </a:lnR>
                    <a:lnT>
                      <a:noFill/>
                    </a:lnT>
                    <a:lnB>
                      <a:noFill/>
                    </a:lnB>
                    <a:noFill/>
                  </a:tcPr>
                </a:tc>
                <a:tc>
                  <a:txBody>
                    <a:bodyPr/>
                    <a:lstStyle/>
                    <a:p>
                      <a:pPr>
                        <a:buNone/>
                      </a:pPr>
                      <a:r>
                        <a:rPr lang="en-IN" sz="1000" dirty="0"/>
                        <a:t> Ignores word order</a:t>
                      </a:r>
                    </a:p>
                    <a:p>
                      <a:pPr>
                        <a:buNone/>
                      </a:pPr>
                      <a:r>
                        <a:rPr lang="en-IN" sz="1000" dirty="0"/>
                        <a:t>  Needs vector representation</a:t>
                      </a:r>
                    </a:p>
                  </a:txBody>
                  <a:tcPr marL="21212" marR="21212" marT="10606" marB="10606" anchor="ctr">
                    <a:lnL>
                      <a:noFill/>
                    </a:lnL>
                    <a:lnR>
                      <a:noFill/>
                    </a:lnR>
                    <a:lnT>
                      <a:noFill/>
                    </a:lnT>
                    <a:lnB>
                      <a:noFill/>
                    </a:lnB>
                    <a:noFill/>
                  </a:tcPr>
                </a:tc>
                <a:tc>
                  <a:txBody>
                    <a:bodyPr/>
                    <a:lstStyle/>
                    <a:p>
                      <a:pPr>
                        <a:buNone/>
                      </a:pPr>
                      <a:r>
                        <a:rPr lang="en-IN" sz="1000"/>
                        <a:t>Search engines, document clustering, recommendation systems</a:t>
                      </a:r>
                    </a:p>
                  </a:txBody>
                  <a:tcPr marL="21212" marR="21212" marT="10606" marB="10606" anchor="ctr">
                    <a:lnL>
                      <a:noFill/>
                    </a:lnL>
                    <a:lnR>
                      <a:noFill/>
                    </a:lnR>
                    <a:lnT>
                      <a:noFill/>
                    </a:lnT>
                    <a:lnB>
                      <a:noFill/>
                    </a:lnB>
                    <a:noFill/>
                  </a:tcPr>
                </a:tc>
                <a:tc>
                  <a:txBody>
                    <a:bodyPr/>
                    <a:lstStyle/>
                    <a:p>
                      <a:pPr>
                        <a:buNone/>
                      </a:pPr>
                      <a:r>
                        <a:rPr lang="en-IN" sz="1000"/>
                        <a:t>Google search ranking, document similarity detection</a:t>
                      </a:r>
                    </a:p>
                  </a:txBody>
                  <a:tcPr marL="21212" marR="21212" marT="10606" marB="10606" anchor="ctr">
                    <a:lnL>
                      <a:noFill/>
                    </a:lnL>
                    <a:lnR>
                      <a:noFill/>
                    </a:lnR>
                    <a:lnT>
                      <a:noFill/>
                    </a:lnT>
                    <a:lnB>
                      <a:noFill/>
                    </a:lnB>
                    <a:noFill/>
                  </a:tcPr>
                </a:tc>
                <a:extLst>
                  <a:ext uri="{0D108BD9-81ED-4DB2-BD59-A6C34878D82A}">
                    <a16:rowId xmlns:a16="http://schemas.microsoft.com/office/drawing/2014/main" val="3974422562"/>
                  </a:ext>
                </a:extLst>
              </a:tr>
              <a:tr h="488249">
                <a:tc>
                  <a:txBody>
                    <a:bodyPr/>
                    <a:lstStyle/>
                    <a:p>
                      <a:pPr>
                        <a:buNone/>
                      </a:pPr>
                      <a:r>
                        <a:rPr lang="en-IN" sz="1000" b="1"/>
                        <a:t>Jaccard Similarity</a:t>
                      </a:r>
                      <a:endParaRPr lang="en-IN" sz="1000"/>
                    </a:p>
                  </a:txBody>
                  <a:tcPr marL="21212" marR="21212" marT="10606" marB="10606" anchor="ctr">
                    <a:lnL>
                      <a:noFill/>
                    </a:lnL>
                    <a:lnR>
                      <a:noFill/>
                    </a:lnR>
                    <a:lnT>
                      <a:noFill/>
                    </a:lnT>
                    <a:lnB>
                      <a:noFill/>
                    </a:lnB>
                    <a:noFill/>
                  </a:tcPr>
                </a:tc>
                <a:tc>
                  <a:txBody>
                    <a:bodyPr/>
                    <a:lstStyle/>
                    <a:p>
                      <a:pPr>
                        <a:buNone/>
                      </a:pPr>
                      <a:r>
                        <a:rPr lang="en-IN" sz="1000"/>
                        <a:t>Similarity</a:t>
                      </a:r>
                    </a:p>
                  </a:txBody>
                  <a:tcPr marL="21212" marR="21212" marT="10606" marB="10606" anchor="ctr">
                    <a:lnL>
                      <a:noFill/>
                    </a:lnL>
                    <a:lnR>
                      <a:noFill/>
                    </a:lnR>
                    <a:lnT>
                      <a:noFill/>
                    </a:lnT>
                    <a:lnB>
                      <a:noFill/>
                    </a:lnB>
                    <a:noFill/>
                  </a:tcPr>
                </a:tc>
                <a:tc>
                  <a:txBody>
                    <a:bodyPr/>
                    <a:lstStyle/>
                    <a:p>
                      <a:pPr>
                        <a:buNone/>
                      </a:pPr>
                      <a:r>
                        <a:rPr lang="en-IN" sz="1000"/>
                        <a:t>Overlap of unique words</a:t>
                      </a:r>
                    </a:p>
                  </a:txBody>
                  <a:tcPr marL="21212" marR="21212" marT="10606" marB="10606" anchor="ctr">
                    <a:lnL>
                      <a:noFill/>
                    </a:lnL>
                    <a:lnR>
                      <a:noFill/>
                    </a:lnR>
                    <a:lnT>
                      <a:noFill/>
                    </a:lnT>
                    <a:lnB>
                      <a:noFill/>
                    </a:lnB>
                    <a:noFill/>
                  </a:tcPr>
                </a:tc>
                <a:tc>
                  <a:txBody>
                    <a:bodyPr/>
                    <a:lstStyle/>
                    <a:p>
                      <a:pPr>
                        <a:buNone/>
                      </a:pPr>
                      <a:r>
                        <a:rPr lang="en-IN" sz="1000"/>
                        <a:t>0 to 1</a:t>
                      </a:r>
                    </a:p>
                  </a:txBody>
                  <a:tcPr marL="21212" marR="21212" marT="10606" marB="10606" anchor="ctr">
                    <a:lnL>
                      <a:noFill/>
                    </a:lnL>
                    <a:lnR>
                      <a:noFill/>
                    </a:lnR>
                    <a:lnT>
                      <a:noFill/>
                    </a:lnT>
                    <a:lnB>
                      <a:noFill/>
                    </a:lnB>
                    <a:noFill/>
                  </a:tcPr>
                </a:tc>
                <a:tc>
                  <a:txBody>
                    <a:bodyPr/>
                    <a:lstStyle/>
                    <a:p>
                      <a:pPr>
                        <a:buNone/>
                      </a:pPr>
                      <a:r>
                        <a:rPr lang="en-IN" sz="1000" dirty="0"/>
                        <a:t>Simple Works well for set comparison  Good for short text</a:t>
                      </a:r>
                    </a:p>
                  </a:txBody>
                  <a:tcPr marL="21212" marR="21212" marT="10606" marB="10606" anchor="ctr">
                    <a:lnL>
                      <a:noFill/>
                    </a:lnL>
                    <a:lnR>
                      <a:noFill/>
                    </a:lnR>
                    <a:lnT>
                      <a:noFill/>
                    </a:lnT>
                    <a:lnB>
                      <a:noFill/>
                    </a:lnB>
                    <a:noFill/>
                  </a:tcPr>
                </a:tc>
                <a:tc>
                  <a:txBody>
                    <a:bodyPr/>
                    <a:lstStyle/>
                    <a:p>
                      <a:pPr>
                        <a:buNone/>
                      </a:pPr>
                      <a:r>
                        <a:rPr lang="en-IN" sz="1000" dirty="0"/>
                        <a:t> Ignores word frequency </a:t>
                      </a:r>
                    </a:p>
                    <a:p>
                      <a:pPr>
                        <a:buNone/>
                      </a:pPr>
                      <a:r>
                        <a:rPr lang="en-IN" sz="1000" dirty="0"/>
                        <a:t>Less sensitive to repeated terms</a:t>
                      </a:r>
                    </a:p>
                  </a:txBody>
                  <a:tcPr marL="21212" marR="21212" marT="10606" marB="10606" anchor="ctr">
                    <a:lnL>
                      <a:noFill/>
                    </a:lnL>
                    <a:lnR>
                      <a:noFill/>
                    </a:lnR>
                    <a:lnT>
                      <a:noFill/>
                    </a:lnT>
                    <a:lnB>
                      <a:noFill/>
                    </a:lnB>
                    <a:noFill/>
                  </a:tcPr>
                </a:tc>
                <a:tc>
                  <a:txBody>
                    <a:bodyPr/>
                    <a:lstStyle/>
                    <a:p>
                      <a:pPr>
                        <a:buNone/>
                      </a:pPr>
                      <a:r>
                        <a:rPr lang="en-IN" sz="1000"/>
                        <a:t>Plagiarism detection, duplicate detection, web crawling</a:t>
                      </a:r>
                    </a:p>
                  </a:txBody>
                  <a:tcPr marL="21212" marR="21212" marT="10606" marB="10606" anchor="ctr">
                    <a:lnL>
                      <a:noFill/>
                    </a:lnL>
                    <a:lnR>
                      <a:noFill/>
                    </a:lnR>
                    <a:lnT>
                      <a:noFill/>
                    </a:lnT>
                    <a:lnB>
                      <a:noFill/>
                    </a:lnB>
                    <a:noFill/>
                  </a:tcPr>
                </a:tc>
                <a:tc>
                  <a:txBody>
                    <a:bodyPr/>
                    <a:lstStyle/>
                    <a:p>
                      <a:pPr>
                        <a:buNone/>
                      </a:pPr>
                      <a:r>
                        <a:rPr lang="en-IN" sz="1000"/>
                        <a:t>Comparing hashtags in social media posts</a:t>
                      </a:r>
                    </a:p>
                  </a:txBody>
                  <a:tcPr marL="21212" marR="21212" marT="10606" marB="10606" anchor="ctr">
                    <a:lnL>
                      <a:noFill/>
                    </a:lnL>
                    <a:lnR>
                      <a:noFill/>
                    </a:lnR>
                    <a:lnT>
                      <a:noFill/>
                    </a:lnT>
                    <a:lnB>
                      <a:noFill/>
                    </a:lnB>
                    <a:noFill/>
                  </a:tcPr>
                </a:tc>
                <a:extLst>
                  <a:ext uri="{0D108BD9-81ED-4DB2-BD59-A6C34878D82A}">
                    <a16:rowId xmlns:a16="http://schemas.microsoft.com/office/drawing/2014/main" val="2765930480"/>
                  </a:ext>
                </a:extLst>
              </a:tr>
              <a:tr h="693687">
                <a:tc>
                  <a:txBody>
                    <a:bodyPr/>
                    <a:lstStyle/>
                    <a:p>
                      <a:pPr>
                        <a:buNone/>
                      </a:pPr>
                      <a:r>
                        <a:rPr lang="en-IN" sz="1000" b="1"/>
                        <a:t>Dice Coefficient</a:t>
                      </a:r>
                      <a:endParaRPr lang="en-IN" sz="1000"/>
                    </a:p>
                  </a:txBody>
                  <a:tcPr marL="21212" marR="21212" marT="10606" marB="10606" anchor="ctr">
                    <a:lnL>
                      <a:noFill/>
                    </a:lnL>
                    <a:lnR>
                      <a:noFill/>
                    </a:lnR>
                    <a:lnT>
                      <a:noFill/>
                    </a:lnT>
                    <a:lnB>
                      <a:noFill/>
                    </a:lnB>
                    <a:noFill/>
                  </a:tcPr>
                </a:tc>
                <a:tc>
                  <a:txBody>
                    <a:bodyPr/>
                    <a:lstStyle/>
                    <a:p>
                      <a:pPr>
                        <a:buNone/>
                      </a:pPr>
                      <a:r>
                        <a:rPr lang="en-IN" sz="1000"/>
                        <a:t>Similarity</a:t>
                      </a:r>
                    </a:p>
                  </a:txBody>
                  <a:tcPr marL="21212" marR="21212" marT="10606" marB="10606" anchor="ctr">
                    <a:lnL>
                      <a:noFill/>
                    </a:lnL>
                    <a:lnR>
                      <a:noFill/>
                    </a:lnR>
                    <a:lnT>
                      <a:noFill/>
                    </a:lnT>
                    <a:lnB>
                      <a:noFill/>
                    </a:lnB>
                    <a:noFill/>
                  </a:tcPr>
                </a:tc>
                <a:tc>
                  <a:txBody>
                    <a:bodyPr/>
                    <a:lstStyle/>
                    <a:p>
                      <a:pPr>
                        <a:buNone/>
                      </a:pPr>
                      <a:r>
                        <a:rPr lang="en-IN" sz="1000"/>
                        <a:t>Overlap with extra weight to common elements</a:t>
                      </a:r>
                    </a:p>
                  </a:txBody>
                  <a:tcPr marL="21212" marR="21212" marT="10606" marB="10606" anchor="ctr">
                    <a:lnL>
                      <a:noFill/>
                    </a:lnL>
                    <a:lnR>
                      <a:noFill/>
                    </a:lnR>
                    <a:lnT>
                      <a:noFill/>
                    </a:lnT>
                    <a:lnB>
                      <a:noFill/>
                    </a:lnB>
                    <a:noFill/>
                  </a:tcPr>
                </a:tc>
                <a:tc>
                  <a:txBody>
                    <a:bodyPr/>
                    <a:lstStyle/>
                    <a:p>
                      <a:pPr>
                        <a:buNone/>
                      </a:pPr>
                      <a:r>
                        <a:rPr lang="en-IN" sz="1000"/>
                        <a:t>0 to 1</a:t>
                      </a:r>
                    </a:p>
                  </a:txBody>
                  <a:tcPr marL="21212" marR="21212" marT="10606" marB="10606" anchor="ctr">
                    <a:lnL>
                      <a:noFill/>
                    </a:lnL>
                    <a:lnR>
                      <a:noFill/>
                    </a:lnR>
                    <a:lnT>
                      <a:noFill/>
                    </a:lnT>
                    <a:lnB>
                      <a:noFill/>
                    </a:lnB>
                    <a:noFill/>
                  </a:tcPr>
                </a:tc>
                <a:tc>
                  <a:txBody>
                    <a:bodyPr/>
                    <a:lstStyle/>
                    <a:p>
                      <a:pPr>
                        <a:buNone/>
                      </a:pPr>
                      <a:r>
                        <a:rPr lang="en-IN" sz="1000" dirty="0"/>
                        <a:t> Sensitive to common elements  Useful in pattern matching</a:t>
                      </a:r>
                    </a:p>
                  </a:txBody>
                  <a:tcPr marL="21212" marR="21212" marT="10606" marB="10606" anchor="ctr">
                    <a:lnL>
                      <a:noFill/>
                    </a:lnL>
                    <a:lnR>
                      <a:noFill/>
                    </a:lnR>
                    <a:lnT>
                      <a:noFill/>
                    </a:lnT>
                    <a:lnB>
                      <a:noFill/>
                    </a:lnB>
                    <a:noFill/>
                  </a:tcPr>
                </a:tc>
                <a:tc>
                  <a:txBody>
                    <a:bodyPr/>
                    <a:lstStyle/>
                    <a:p>
                      <a:pPr>
                        <a:buNone/>
                      </a:pPr>
                      <a:r>
                        <a:rPr lang="en-IN" sz="1000" dirty="0"/>
                        <a:t> Similar limitations as Jaccard  </a:t>
                      </a:r>
                    </a:p>
                    <a:p>
                      <a:pPr>
                        <a:buNone/>
                      </a:pPr>
                      <a:r>
                        <a:rPr lang="en-IN" sz="1000" dirty="0"/>
                        <a:t>Slightly biased toward overlap</a:t>
                      </a:r>
                    </a:p>
                  </a:txBody>
                  <a:tcPr marL="21212" marR="21212" marT="10606" marB="10606" anchor="ctr">
                    <a:lnL>
                      <a:noFill/>
                    </a:lnL>
                    <a:lnR>
                      <a:noFill/>
                    </a:lnR>
                    <a:lnT>
                      <a:noFill/>
                    </a:lnT>
                    <a:lnB>
                      <a:noFill/>
                    </a:lnB>
                    <a:noFill/>
                  </a:tcPr>
                </a:tc>
                <a:tc>
                  <a:txBody>
                    <a:bodyPr/>
                    <a:lstStyle/>
                    <a:p>
                      <a:pPr>
                        <a:buNone/>
                      </a:pPr>
                      <a:r>
                        <a:rPr lang="en-IN" sz="1000"/>
                        <a:t>Medical image segmentation, text similarity</a:t>
                      </a:r>
                    </a:p>
                  </a:txBody>
                  <a:tcPr marL="21212" marR="21212" marT="10606" marB="10606" anchor="ctr">
                    <a:lnL>
                      <a:noFill/>
                    </a:lnL>
                    <a:lnR>
                      <a:noFill/>
                    </a:lnR>
                    <a:lnT>
                      <a:noFill/>
                    </a:lnT>
                    <a:lnB>
                      <a:noFill/>
                    </a:lnB>
                    <a:noFill/>
                  </a:tcPr>
                </a:tc>
                <a:tc>
                  <a:txBody>
                    <a:bodyPr/>
                    <a:lstStyle/>
                    <a:p>
                      <a:pPr>
                        <a:buNone/>
                      </a:pPr>
                      <a:r>
                        <a:rPr lang="en-IN" sz="1000"/>
                        <a:t>Comparing DNA or medical scan regions</a:t>
                      </a:r>
                    </a:p>
                  </a:txBody>
                  <a:tcPr marL="21212" marR="21212" marT="10606" marB="10606" anchor="ctr">
                    <a:lnL>
                      <a:noFill/>
                    </a:lnL>
                    <a:lnR>
                      <a:noFill/>
                    </a:lnR>
                    <a:lnT>
                      <a:noFill/>
                    </a:lnT>
                    <a:lnB>
                      <a:noFill/>
                    </a:lnB>
                    <a:noFill/>
                  </a:tcPr>
                </a:tc>
                <a:extLst>
                  <a:ext uri="{0D108BD9-81ED-4DB2-BD59-A6C34878D82A}">
                    <a16:rowId xmlns:a16="http://schemas.microsoft.com/office/drawing/2014/main" val="689481962"/>
                  </a:ext>
                </a:extLst>
              </a:tr>
              <a:tr h="693687">
                <a:tc>
                  <a:txBody>
                    <a:bodyPr/>
                    <a:lstStyle/>
                    <a:p>
                      <a:pPr>
                        <a:buNone/>
                      </a:pPr>
                      <a:r>
                        <a:rPr lang="en-IN" sz="1000" b="1"/>
                        <a:t>Euclidean Distance</a:t>
                      </a:r>
                      <a:endParaRPr lang="en-IN" sz="1000"/>
                    </a:p>
                  </a:txBody>
                  <a:tcPr marL="21212" marR="21212" marT="10606" marB="10606" anchor="ctr">
                    <a:lnL>
                      <a:noFill/>
                    </a:lnL>
                    <a:lnR>
                      <a:noFill/>
                    </a:lnR>
                    <a:lnT>
                      <a:noFill/>
                    </a:lnT>
                    <a:lnB>
                      <a:noFill/>
                    </a:lnB>
                    <a:noFill/>
                  </a:tcPr>
                </a:tc>
                <a:tc>
                  <a:txBody>
                    <a:bodyPr/>
                    <a:lstStyle/>
                    <a:p>
                      <a:pPr>
                        <a:buNone/>
                      </a:pPr>
                      <a:r>
                        <a:rPr lang="en-IN" sz="1000"/>
                        <a:t>Distance</a:t>
                      </a:r>
                    </a:p>
                  </a:txBody>
                  <a:tcPr marL="21212" marR="21212" marT="10606" marB="10606" anchor="ctr">
                    <a:lnL>
                      <a:noFill/>
                    </a:lnL>
                    <a:lnR>
                      <a:noFill/>
                    </a:lnR>
                    <a:lnT>
                      <a:noFill/>
                    </a:lnT>
                    <a:lnB>
                      <a:noFill/>
                    </a:lnB>
                    <a:noFill/>
                  </a:tcPr>
                </a:tc>
                <a:tc>
                  <a:txBody>
                    <a:bodyPr/>
                    <a:lstStyle/>
                    <a:p>
                      <a:pPr>
                        <a:buNone/>
                      </a:pPr>
                      <a:r>
                        <a:rPr lang="en-IN" sz="1000"/>
                        <a:t>Straight-line distance between vectors</a:t>
                      </a:r>
                    </a:p>
                  </a:txBody>
                  <a:tcPr marL="21212" marR="21212" marT="10606" marB="10606" anchor="ctr">
                    <a:lnL>
                      <a:noFill/>
                    </a:lnL>
                    <a:lnR>
                      <a:noFill/>
                    </a:lnR>
                    <a:lnT>
                      <a:noFill/>
                    </a:lnT>
                    <a:lnB>
                      <a:noFill/>
                    </a:lnB>
                    <a:noFill/>
                  </a:tcPr>
                </a:tc>
                <a:tc>
                  <a:txBody>
                    <a:bodyPr/>
                    <a:lstStyle/>
                    <a:p>
                      <a:pPr>
                        <a:buNone/>
                      </a:pPr>
                      <a:r>
                        <a:rPr lang="en-IN" sz="1000"/>
                        <a:t>0 to ∞</a:t>
                      </a:r>
                    </a:p>
                  </a:txBody>
                  <a:tcPr marL="21212" marR="21212" marT="10606" marB="10606" anchor="ctr">
                    <a:lnL>
                      <a:noFill/>
                    </a:lnL>
                    <a:lnR>
                      <a:noFill/>
                    </a:lnR>
                    <a:lnT>
                      <a:noFill/>
                    </a:lnT>
                    <a:lnB>
                      <a:noFill/>
                    </a:lnB>
                    <a:noFill/>
                  </a:tcPr>
                </a:tc>
                <a:tc>
                  <a:txBody>
                    <a:bodyPr/>
                    <a:lstStyle/>
                    <a:p>
                      <a:pPr>
                        <a:buNone/>
                      </a:pPr>
                      <a:r>
                        <a:rPr lang="en-IN" sz="1000" dirty="0"/>
                        <a:t>Easy to understand </a:t>
                      </a:r>
                    </a:p>
                    <a:p>
                      <a:pPr>
                        <a:buNone/>
                      </a:pPr>
                      <a:r>
                        <a:rPr lang="en-IN" sz="1000" dirty="0"/>
                        <a:t> Works well with numerical features</a:t>
                      </a:r>
                    </a:p>
                  </a:txBody>
                  <a:tcPr marL="21212" marR="21212" marT="10606" marB="10606" anchor="ctr">
                    <a:lnL>
                      <a:noFill/>
                    </a:lnL>
                    <a:lnR>
                      <a:noFill/>
                    </a:lnR>
                    <a:lnT>
                      <a:noFill/>
                    </a:lnT>
                    <a:lnB>
                      <a:noFill/>
                    </a:lnB>
                    <a:noFill/>
                  </a:tcPr>
                </a:tc>
                <a:tc>
                  <a:txBody>
                    <a:bodyPr/>
                    <a:lstStyle/>
                    <a:p>
                      <a:pPr>
                        <a:buNone/>
                      </a:pPr>
                      <a:r>
                        <a:rPr lang="en-IN" sz="1000" dirty="0"/>
                        <a:t> Sensitive to document length  </a:t>
                      </a:r>
                    </a:p>
                    <a:p>
                      <a:pPr>
                        <a:buNone/>
                      </a:pPr>
                      <a:r>
                        <a:rPr lang="en-IN" sz="1000" dirty="0"/>
                        <a:t>Poor for high-dimensional sparse data</a:t>
                      </a:r>
                    </a:p>
                  </a:txBody>
                  <a:tcPr marL="21212" marR="21212" marT="10606" marB="10606" anchor="ctr">
                    <a:lnL>
                      <a:noFill/>
                    </a:lnL>
                    <a:lnR>
                      <a:noFill/>
                    </a:lnR>
                    <a:lnT>
                      <a:noFill/>
                    </a:lnT>
                    <a:lnB>
                      <a:noFill/>
                    </a:lnB>
                    <a:noFill/>
                  </a:tcPr>
                </a:tc>
                <a:tc>
                  <a:txBody>
                    <a:bodyPr/>
                    <a:lstStyle/>
                    <a:p>
                      <a:pPr>
                        <a:buNone/>
                      </a:pPr>
                      <a:r>
                        <a:rPr lang="en-IN" sz="1000"/>
                        <a:t>Image processing, clustering, recommendation systems</a:t>
                      </a:r>
                    </a:p>
                  </a:txBody>
                  <a:tcPr marL="21212" marR="21212" marT="10606" marB="10606" anchor="ctr">
                    <a:lnL>
                      <a:noFill/>
                    </a:lnL>
                    <a:lnR>
                      <a:noFill/>
                    </a:lnR>
                    <a:lnT>
                      <a:noFill/>
                    </a:lnT>
                    <a:lnB>
                      <a:noFill/>
                    </a:lnB>
                    <a:noFill/>
                  </a:tcPr>
                </a:tc>
                <a:tc>
                  <a:txBody>
                    <a:bodyPr/>
                    <a:lstStyle/>
                    <a:p>
                      <a:pPr>
                        <a:buNone/>
                      </a:pPr>
                      <a:r>
                        <a:rPr lang="en-IN" sz="1000"/>
                        <a:t>Face recognition, K-Means clustering</a:t>
                      </a:r>
                    </a:p>
                  </a:txBody>
                  <a:tcPr marL="21212" marR="21212" marT="10606" marB="10606" anchor="ctr">
                    <a:lnL>
                      <a:noFill/>
                    </a:lnL>
                    <a:lnR>
                      <a:noFill/>
                    </a:lnR>
                    <a:lnT>
                      <a:noFill/>
                    </a:lnT>
                    <a:lnB>
                      <a:noFill/>
                    </a:lnB>
                    <a:noFill/>
                  </a:tcPr>
                </a:tc>
                <a:extLst>
                  <a:ext uri="{0D108BD9-81ED-4DB2-BD59-A6C34878D82A}">
                    <a16:rowId xmlns:a16="http://schemas.microsoft.com/office/drawing/2014/main" val="3167686602"/>
                  </a:ext>
                </a:extLst>
              </a:tr>
              <a:tr h="693687">
                <a:tc>
                  <a:txBody>
                    <a:bodyPr/>
                    <a:lstStyle/>
                    <a:p>
                      <a:pPr>
                        <a:buNone/>
                      </a:pPr>
                      <a:r>
                        <a:rPr lang="en-IN" sz="1000" b="1"/>
                        <a:t>Manhattan Distance</a:t>
                      </a:r>
                      <a:endParaRPr lang="en-IN" sz="1000"/>
                    </a:p>
                  </a:txBody>
                  <a:tcPr marL="21212" marR="21212" marT="10606" marB="10606" anchor="ctr">
                    <a:lnL>
                      <a:noFill/>
                    </a:lnL>
                    <a:lnR>
                      <a:noFill/>
                    </a:lnR>
                    <a:lnT>
                      <a:noFill/>
                    </a:lnT>
                    <a:lnB>
                      <a:noFill/>
                    </a:lnB>
                    <a:noFill/>
                  </a:tcPr>
                </a:tc>
                <a:tc>
                  <a:txBody>
                    <a:bodyPr/>
                    <a:lstStyle/>
                    <a:p>
                      <a:pPr>
                        <a:buNone/>
                      </a:pPr>
                      <a:r>
                        <a:rPr lang="en-IN" sz="1000" dirty="0"/>
                        <a:t>Distance</a:t>
                      </a:r>
                    </a:p>
                  </a:txBody>
                  <a:tcPr marL="21212" marR="21212" marT="10606" marB="10606" anchor="ctr">
                    <a:lnL>
                      <a:noFill/>
                    </a:lnL>
                    <a:lnR>
                      <a:noFill/>
                    </a:lnR>
                    <a:lnT>
                      <a:noFill/>
                    </a:lnT>
                    <a:lnB>
                      <a:noFill/>
                    </a:lnB>
                    <a:noFill/>
                  </a:tcPr>
                </a:tc>
                <a:tc>
                  <a:txBody>
                    <a:bodyPr/>
                    <a:lstStyle/>
                    <a:p>
                      <a:pPr>
                        <a:buNone/>
                      </a:pPr>
                      <a:r>
                        <a:rPr lang="en-IN" sz="1000"/>
                        <a:t>Sum of absolute differences</a:t>
                      </a:r>
                    </a:p>
                  </a:txBody>
                  <a:tcPr marL="21212" marR="21212" marT="10606" marB="10606" anchor="ctr">
                    <a:lnL>
                      <a:noFill/>
                    </a:lnL>
                    <a:lnR>
                      <a:noFill/>
                    </a:lnR>
                    <a:lnT>
                      <a:noFill/>
                    </a:lnT>
                    <a:lnB>
                      <a:noFill/>
                    </a:lnB>
                    <a:noFill/>
                  </a:tcPr>
                </a:tc>
                <a:tc>
                  <a:txBody>
                    <a:bodyPr/>
                    <a:lstStyle/>
                    <a:p>
                      <a:pPr>
                        <a:buNone/>
                      </a:pPr>
                      <a:r>
                        <a:rPr lang="en-IN" sz="1000"/>
                        <a:t>0 to ∞</a:t>
                      </a:r>
                    </a:p>
                  </a:txBody>
                  <a:tcPr marL="21212" marR="21212" marT="10606" marB="10606" anchor="ctr">
                    <a:lnL>
                      <a:noFill/>
                    </a:lnL>
                    <a:lnR>
                      <a:noFill/>
                    </a:lnR>
                    <a:lnT>
                      <a:noFill/>
                    </a:lnT>
                    <a:lnB>
                      <a:noFill/>
                    </a:lnB>
                    <a:noFill/>
                  </a:tcPr>
                </a:tc>
                <a:tc>
                  <a:txBody>
                    <a:bodyPr/>
                    <a:lstStyle/>
                    <a:p>
                      <a:pPr>
                        <a:buNone/>
                      </a:pPr>
                      <a:r>
                        <a:rPr lang="en-IN" sz="1000" dirty="0"/>
                        <a:t>Works better when features are independent Less sensitive to outliers than Euclidean</a:t>
                      </a:r>
                    </a:p>
                  </a:txBody>
                  <a:tcPr marL="21212" marR="21212" marT="10606" marB="10606" anchor="ctr">
                    <a:lnL>
                      <a:noFill/>
                    </a:lnL>
                    <a:lnR>
                      <a:noFill/>
                    </a:lnR>
                    <a:lnT>
                      <a:noFill/>
                    </a:lnT>
                    <a:lnB>
                      <a:noFill/>
                    </a:lnB>
                    <a:noFill/>
                  </a:tcPr>
                </a:tc>
                <a:tc>
                  <a:txBody>
                    <a:bodyPr/>
                    <a:lstStyle/>
                    <a:p>
                      <a:pPr>
                        <a:buNone/>
                      </a:pPr>
                      <a:r>
                        <a:rPr lang="en-IN" sz="1000" dirty="0"/>
                        <a:t> Still affected by scale  </a:t>
                      </a:r>
                    </a:p>
                    <a:p>
                      <a:pPr>
                        <a:buNone/>
                      </a:pPr>
                      <a:r>
                        <a:rPr lang="en-IN" sz="1000" dirty="0"/>
                        <a:t>Less intuitive geometrically</a:t>
                      </a:r>
                    </a:p>
                  </a:txBody>
                  <a:tcPr marL="21212" marR="21212" marT="10606" marB="10606" anchor="ctr">
                    <a:lnL>
                      <a:noFill/>
                    </a:lnL>
                    <a:lnR>
                      <a:noFill/>
                    </a:lnR>
                    <a:lnT>
                      <a:noFill/>
                    </a:lnT>
                    <a:lnB>
                      <a:noFill/>
                    </a:lnB>
                    <a:noFill/>
                  </a:tcPr>
                </a:tc>
                <a:tc>
                  <a:txBody>
                    <a:bodyPr/>
                    <a:lstStyle/>
                    <a:p>
                      <a:pPr>
                        <a:buNone/>
                      </a:pPr>
                      <a:r>
                        <a:rPr lang="en-IN" sz="1000"/>
                        <a:t>Grid-based navigation, clustering, city-block distance problems</a:t>
                      </a:r>
                    </a:p>
                  </a:txBody>
                  <a:tcPr marL="21212" marR="21212" marT="10606" marB="10606" anchor="ctr">
                    <a:lnL>
                      <a:noFill/>
                    </a:lnL>
                    <a:lnR>
                      <a:noFill/>
                    </a:lnR>
                    <a:lnT>
                      <a:noFill/>
                    </a:lnT>
                    <a:lnB>
                      <a:noFill/>
                    </a:lnB>
                    <a:noFill/>
                  </a:tcPr>
                </a:tc>
                <a:tc>
                  <a:txBody>
                    <a:bodyPr/>
                    <a:lstStyle/>
                    <a:p>
                      <a:pPr>
                        <a:buNone/>
                      </a:pPr>
                      <a:r>
                        <a:rPr lang="en-IN" sz="1000"/>
                        <a:t>Robot path planning, location-based services</a:t>
                      </a:r>
                    </a:p>
                  </a:txBody>
                  <a:tcPr marL="21212" marR="21212" marT="10606" marB="10606" anchor="ctr">
                    <a:lnL>
                      <a:noFill/>
                    </a:lnL>
                    <a:lnR>
                      <a:noFill/>
                    </a:lnR>
                    <a:lnT>
                      <a:noFill/>
                    </a:lnT>
                    <a:lnB>
                      <a:noFill/>
                    </a:lnB>
                    <a:noFill/>
                  </a:tcPr>
                </a:tc>
                <a:extLst>
                  <a:ext uri="{0D108BD9-81ED-4DB2-BD59-A6C34878D82A}">
                    <a16:rowId xmlns:a16="http://schemas.microsoft.com/office/drawing/2014/main" val="349617578"/>
                  </a:ext>
                </a:extLst>
              </a:tr>
              <a:tr h="693687">
                <a:tc>
                  <a:txBody>
                    <a:bodyPr/>
                    <a:lstStyle/>
                    <a:p>
                      <a:pPr>
                        <a:buNone/>
                      </a:pPr>
                      <a:r>
                        <a:rPr lang="en-IN" sz="1000" b="1"/>
                        <a:t>Levenshtein Distance</a:t>
                      </a:r>
                      <a:endParaRPr lang="en-IN" sz="1000"/>
                    </a:p>
                  </a:txBody>
                  <a:tcPr marL="21212" marR="21212" marT="10606" marB="10606" anchor="ctr">
                    <a:lnL>
                      <a:noFill/>
                    </a:lnL>
                    <a:lnR>
                      <a:noFill/>
                    </a:lnR>
                    <a:lnT>
                      <a:noFill/>
                    </a:lnT>
                    <a:lnB>
                      <a:noFill/>
                    </a:lnB>
                    <a:noFill/>
                  </a:tcPr>
                </a:tc>
                <a:tc>
                  <a:txBody>
                    <a:bodyPr/>
                    <a:lstStyle/>
                    <a:p>
                      <a:pPr>
                        <a:buNone/>
                      </a:pPr>
                      <a:r>
                        <a:rPr lang="en-IN" sz="1000"/>
                        <a:t>Distance</a:t>
                      </a:r>
                    </a:p>
                  </a:txBody>
                  <a:tcPr marL="21212" marR="21212" marT="10606" marB="10606" anchor="ctr">
                    <a:lnL>
                      <a:noFill/>
                    </a:lnL>
                    <a:lnR>
                      <a:noFill/>
                    </a:lnR>
                    <a:lnT>
                      <a:noFill/>
                    </a:lnT>
                    <a:lnB>
                      <a:noFill/>
                    </a:lnB>
                    <a:noFill/>
                  </a:tcPr>
                </a:tc>
                <a:tc>
                  <a:txBody>
                    <a:bodyPr/>
                    <a:lstStyle/>
                    <a:p>
                      <a:pPr>
                        <a:buNone/>
                      </a:pPr>
                      <a:r>
                        <a:rPr lang="en-IN" sz="1000"/>
                        <a:t>Minimum edits between strings</a:t>
                      </a:r>
                    </a:p>
                  </a:txBody>
                  <a:tcPr marL="21212" marR="21212" marT="10606" marB="10606" anchor="ctr">
                    <a:lnL>
                      <a:noFill/>
                    </a:lnL>
                    <a:lnR>
                      <a:noFill/>
                    </a:lnR>
                    <a:lnT>
                      <a:noFill/>
                    </a:lnT>
                    <a:lnB>
                      <a:noFill/>
                    </a:lnB>
                    <a:noFill/>
                  </a:tcPr>
                </a:tc>
                <a:tc>
                  <a:txBody>
                    <a:bodyPr/>
                    <a:lstStyle/>
                    <a:p>
                      <a:pPr>
                        <a:buNone/>
                      </a:pPr>
                      <a:r>
                        <a:rPr lang="en-IN" sz="1000"/>
                        <a:t>0 to ∞</a:t>
                      </a:r>
                    </a:p>
                  </a:txBody>
                  <a:tcPr marL="21212" marR="21212" marT="10606" marB="10606" anchor="ctr">
                    <a:lnL>
                      <a:noFill/>
                    </a:lnL>
                    <a:lnR>
                      <a:noFill/>
                    </a:lnR>
                    <a:lnT>
                      <a:noFill/>
                    </a:lnT>
                    <a:lnB>
                      <a:noFill/>
                    </a:lnB>
                    <a:noFill/>
                  </a:tcPr>
                </a:tc>
                <a:tc>
                  <a:txBody>
                    <a:bodyPr/>
                    <a:lstStyle/>
                    <a:p>
                      <a:pPr>
                        <a:buNone/>
                      </a:pPr>
                      <a:r>
                        <a:rPr lang="en-IN" sz="1000" dirty="0"/>
                        <a:t>Captures spelling errors </a:t>
                      </a:r>
                    </a:p>
                    <a:p>
                      <a:pPr>
                        <a:buNone/>
                      </a:pPr>
                      <a:r>
                        <a:rPr lang="en-IN" sz="1000" dirty="0"/>
                        <a:t>Works at character level </a:t>
                      </a:r>
                    </a:p>
                    <a:p>
                      <a:pPr>
                        <a:buNone/>
                      </a:pPr>
                      <a:r>
                        <a:rPr lang="en-IN" sz="1000" dirty="0"/>
                        <a:t> Good for fuzzy matching</a:t>
                      </a:r>
                    </a:p>
                  </a:txBody>
                  <a:tcPr marL="21212" marR="21212" marT="10606" marB="10606" anchor="ctr">
                    <a:lnL>
                      <a:noFill/>
                    </a:lnL>
                    <a:lnR>
                      <a:noFill/>
                    </a:lnR>
                    <a:lnT>
                      <a:noFill/>
                    </a:lnT>
                    <a:lnB>
                      <a:noFill/>
                    </a:lnB>
                    <a:noFill/>
                  </a:tcPr>
                </a:tc>
                <a:tc>
                  <a:txBody>
                    <a:bodyPr/>
                    <a:lstStyle/>
                    <a:p>
                      <a:pPr>
                        <a:buNone/>
                      </a:pPr>
                      <a:r>
                        <a:rPr lang="en-IN" sz="1000" dirty="0"/>
                        <a:t> Slow for long text  </a:t>
                      </a:r>
                    </a:p>
                    <a:p>
                      <a:pPr>
                        <a:buNone/>
                      </a:pPr>
                      <a:r>
                        <a:rPr lang="en-IN" sz="1000" dirty="0"/>
                        <a:t>Not suited for document-level similarity</a:t>
                      </a:r>
                    </a:p>
                  </a:txBody>
                  <a:tcPr marL="21212" marR="21212" marT="10606" marB="10606" anchor="ctr">
                    <a:lnL>
                      <a:noFill/>
                    </a:lnL>
                    <a:lnR>
                      <a:noFill/>
                    </a:lnR>
                    <a:lnT>
                      <a:noFill/>
                    </a:lnT>
                    <a:lnB>
                      <a:noFill/>
                    </a:lnB>
                    <a:noFill/>
                  </a:tcPr>
                </a:tc>
                <a:tc>
                  <a:txBody>
                    <a:bodyPr/>
                    <a:lstStyle/>
                    <a:p>
                      <a:pPr>
                        <a:buNone/>
                      </a:pPr>
                      <a:r>
                        <a:rPr lang="en-IN" sz="1000"/>
                        <a:t>Spell checking, DNA matching, search autocomplete</a:t>
                      </a:r>
                    </a:p>
                  </a:txBody>
                  <a:tcPr marL="21212" marR="21212" marT="10606" marB="10606" anchor="ctr">
                    <a:lnL>
                      <a:noFill/>
                    </a:lnL>
                    <a:lnR>
                      <a:noFill/>
                    </a:lnR>
                    <a:lnT>
                      <a:noFill/>
                    </a:lnT>
                    <a:lnB>
                      <a:noFill/>
                    </a:lnB>
                    <a:noFill/>
                  </a:tcPr>
                </a:tc>
                <a:tc>
                  <a:txBody>
                    <a:bodyPr/>
                    <a:lstStyle/>
                    <a:p>
                      <a:pPr>
                        <a:buNone/>
                      </a:pPr>
                      <a:r>
                        <a:rPr lang="en-IN" sz="1000"/>
                        <a:t>"recieve" → "receive" correction</a:t>
                      </a:r>
                    </a:p>
                  </a:txBody>
                  <a:tcPr marL="21212" marR="21212" marT="10606" marB="10606" anchor="ctr">
                    <a:lnL>
                      <a:noFill/>
                    </a:lnL>
                    <a:lnR>
                      <a:noFill/>
                    </a:lnR>
                    <a:lnT>
                      <a:noFill/>
                    </a:lnT>
                    <a:lnB>
                      <a:noFill/>
                    </a:lnB>
                    <a:noFill/>
                  </a:tcPr>
                </a:tc>
                <a:extLst>
                  <a:ext uri="{0D108BD9-81ED-4DB2-BD59-A6C34878D82A}">
                    <a16:rowId xmlns:a16="http://schemas.microsoft.com/office/drawing/2014/main" val="1131249132"/>
                  </a:ext>
                </a:extLst>
              </a:tr>
              <a:tr h="488249">
                <a:tc>
                  <a:txBody>
                    <a:bodyPr/>
                    <a:lstStyle/>
                    <a:p>
                      <a:pPr>
                        <a:buNone/>
                      </a:pPr>
                      <a:r>
                        <a:rPr lang="en-IN" sz="1000" b="1"/>
                        <a:t>Pearson Coefficient</a:t>
                      </a:r>
                      <a:endParaRPr lang="en-IN" sz="1000"/>
                    </a:p>
                  </a:txBody>
                  <a:tcPr marL="21212" marR="21212" marT="10606" marB="10606" anchor="ctr">
                    <a:lnL>
                      <a:noFill/>
                    </a:lnL>
                    <a:lnR>
                      <a:noFill/>
                    </a:lnR>
                    <a:lnT>
                      <a:noFill/>
                    </a:lnT>
                    <a:lnB>
                      <a:noFill/>
                    </a:lnB>
                    <a:noFill/>
                  </a:tcPr>
                </a:tc>
                <a:tc>
                  <a:txBody>
                    <a:bodyPr/>
                    <a:lstStyle/>
                    <a:p>
                      <a:pPr>
                        <a:buNone/>
                      </a:pPr>
                      <a:r>
                        <a:rPr lang="en-IN" sz="1000"/>
                        <a:t>Similarity</a:t>
                      </a:r>
                    </a:p>
                  </a:txBody>
                  <a:tcPr marL="21212" marR="21212" marT="10606" marB="10606" anchor="ctr">
                    <a:lnL>
                      <a:noFill/>
                    </a:lnL>
                    <a:lnR>
                      <a:noFill/>
                    </a:lnR>
                    <a:lnT>
                      <a:noFill/>
                    </a:lnT>
                    <a:lnB>
                      <a:noFill/>
                    </a:lnB>
                    <a:noFill/>
                  </a:tcPr>
                </a:tc>
                <a:tc>
                  <a:txBody>
                    <a:bodyPr/>
                    <a:lstStyle/>
                    <a:p>
                      <a:pPr>
                        <a:buNone/>
                      </a:pPr>
                      <a:r>
                        <a:rPr lang="en-IN" sz="1000"/>
                        <a:t>Linear relationship between vectors</a:t>
                      </a:r>
                    </a:p>
                  </a:txBody>
                  <a:tcPr marL="21212" marR="21212" marT="10606" marB="10606" anchor="ctr">
                    <a:lnL>
                      <a:noFill/>
                    </a:lnL>
                    <a:lnR>
                      <a:noFill/>
                    </a:lnR>
                    <a:lnT>
                      <a:noFill/>
                    </a:lnT>
                    <a:lnB>
                      <a:noFill/>
                    </a:lnB>
                    <a:noFill/>
                  </a:tcPr>
                </a:tc>
                <a:tc>
                  <a:txBody>
                    <a:bodyPr/>
                    <a:lstStyle/>
                    <a:p>
                      <a:pPr>
                        <a:buNone/>
                      </a:pPr>
                      <a:r>
                        <a:rPr lang="en-IN" sz="1000"/>
                        <a:t>-1 to 1</a:t>
                      </a:r>
                    </a:p>
                  </a:txBody>
                  <a:tcPr marL="21212" marR="21212" marT="10606" marB="10606" anchor="ctr">
                    <a:lnL>
                      <a:noFill/>
                    </a:lnL>
                    <a:lnR>
                      <a:noFill/>
                    </a:lnR>
                    <a:lnT>
                      <a:noFill/>
                    </a:lnT>
                    <a:lnB>
                      <a:noFill/>
                    </a:lnB>
                    <a:noFill/>
                  </a:tcPr>
                </a:tc>
                <a:tc>
                  <a:txBody>
                    <a:bodyPr/>
                    <a:lstStyle/>
                    <a:p>
                      <a:pPr>
                        <a:buNone/>
                      </a:pPr>
                      <a:r>
                        <a:rPr lang="en-IN" sz="1000" dirty="0"/>
                        <a:t> Removes bias due to scale </a:t>
                      </a:r>
                    </a:p>
                    <a:p>
                      <a:pPr>
                        <a:buNone/>
                      </a:pPr>
                      <a:r>
                        <a:rPr lang="en-IN" sz="1000" dirty="0"/>
                        <a:t>Detects correlation trends</a:t>
                      </a:r>
                    </a:p>
                  </a:txBody>
                  <a:tcPr marL="21212" marR="21212" marT="10606" marB="10606" anchor="ctr">
                    <a:lnL>
                      <a:noFill/>
                    </a:lnL>
                    <a:lnR>
                      <a:noFill/>
                    </a:lnR>
                    <a:lnT>
                      <a:noFill/>
                    </a:lnT>
                    <a:lnB>
                      <a:noFill/>
                    </a:lnB>
                    <a:noFill/>
                  </a:tcPr>
                </a:tc>
                <a:tc>
                  <a:txBody>
                    <a:bodyPr/>
                    <a:lstStyle/>
                    <a:p>
                      <a:pPr>
                        <a:buNone/>
                      </a:pPr>
                      <a:r>
                        <a:rPr lang="en-IN" sz="1000" dirty="0"/>
                        <a:t> Sensitive to noise</a:t>
                      </a:r>
                    </a:p>
                    <a:p>
                      <a:pPr>
                        <a:buNone/>
                      </a:pPr>
                      <a:r>
                        <a:rPr lang="en-IN" sz="1000" dirty="0"/>
                        <a:t>  Requires numerical vectors</a:t>
                      </a:r>
                    </a:p>
                  </a:txBody>
                  <a:tcPr marL="21212" marR="21212" marT="10606" marB="10606" anchor="ctr">
                    <a:lnL>
                      <a:noFill/>
                    </a:lnL>
                    <a:lnR>
                      <a:noFill/>
                    </a:lnR>
                    <a:lnT>
                      <a:noFill/>
                    </a:lnT>
                    <a:lnB>
                      <a:noFill/>
                    </a:lnB>
                    <a:noFill/>
                  </a:tcPr>
                </a:tc>
                <a:tc>
                  <a:txBody>
                    <a:bodyPr/>
                    <a:lstStyle/>
                    <a:p>
                      <a:pPr>
                        <a:buNone/>
                      </a:pPr>
                      <a:r>
                        <a:rPr lang="en-IN" sz="1000"/>
                        <a:t>Recommendation systems, rating prediction</a:t>
                      </a:r>
                    </a:p>
                  </a:txBody>
                  <a:tcPr marL="21212" marR="21212" marT="10606" marB="10606" anchor="ctr">
                    <a:lnL>
                      <a:noFill/>
                    </a:lnL>
                    <a:lnR>
                      <a:noFill/>
                    </a:lnR>
                    <a:lnT>
                      <a:noFill/>
                    </a:lnT>
                    <a:lnB>
                      <a:noFill/>
                    </a:lnB>
                    <a:noFill/>
                  </a:tcPr>
                </a:tc>
                <a:tc>
                  <a:txBody>
                    <a:bodyPr/>
                    <a:lstStyle/>
                    <a:p>
                      <a:pPr>
                        <a:buNone/>
                      </a:pPr>
                      <a:r>
                        <a:rPr lang="en-IN" sz="1000" dirty="0"/>
                        <a:t>Movie recommendation based on user ratings</a:t>
                      </a:r>
                    </a:p>
                  </a:txBody>
                  <a:tcPr marL="21212" marR="21212" marT="10606" marB="10606" anchor="ctr">
                    <a:lnL>
                      <a:noFill/>
                    </a:lnL>
                    <a:lnR>
                      <a:noFill/>
                    </a:lnR>
                    <a:lnT>
                      <a:noFill/>
                    </a:lnT>
                    <a:lnB>
                      <a:noFill/>
                    </a:lnB>
                    <a:noFill/>
                  </a:tcPr>
                </a:tc>
                <a:extLst>
                  <a:ext uri="{0D108BD9-81ED-4DB2-BD59-A6C34878D82A}">
                    <a16:rowId xmlns:a16="http://schemas.microsoft.com/office/drawing/2014/main" val="4243223454"/>
                  </a:ext>
                </a:extLst>
              </a:tr>
            </a:tbl>
          </a:graphicData>
        </a:graphic>
      </p:graphicFrame>
    </p:spTree>
    <p:extLst>
      <p:ext uri="{BB962C8B-B14F-4D97-AF65-F5344CB8AC3E}">
        <p14:creationId xmlns:p14="http://schemas.microsoft.com/office/powerpoint/2010/main" val="1767050248"/>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9340E42-C0DF-57E5-8C4E-5B09B56504BC}"/>
              </a:ext>
            </a:extLst>
          </p:cNvPr>
          <p:cNvSpPr>
            <a:spLocks noGrp="1"/>
          </p:cNvSpPr>
          <p:nvPr>
            <p:ph type="title"/>
          </p:nvPr>
        </p:nvSpPr>
        <p:spPr/>
        <p:txBody>
          <a:bodyPr/>
          <a:lstStyle/>
          <a:p>
            <a:r>
              <a:rPr lang="en-US" dirty="0"/>
              <a:t>Python Lab 3</a:t>
            </a:r>
          </a:p>
        </p:txBody>
      </p:sp>
      <p:sp>
        <p:nvSpPr>
          <p:cNvPr id="3" name="Content Placeholder 2">
            <a:extLst>
              <a:ext uri="{FF2B5EF4-FFF2-40B4-BE49-F238E27FC236}">
                <a16:creationId xmlns:a16="http://schemas.microsoft.com/office/drawing/2014/main" id="{EF4C4B81-54A1-FB11-6141-733A4BE8DDA2}"/>
              </a:ext>
            </a:extLst>
          </p:cNvPr>
          <p:cNvSpPr>
            <a:spLocks noGrp="1"/>
          </p:cNvSpPr>
          <p:nvPr>
            <p:ph idx="1"/>
          </p:nvPr>
        </p:nvSpPr>
        <p:spPr/>
        <p:txBody>
          <a:bodyPr/>
          <a:lstStyle/>
          <a:p>
            <a:r>
              <a:rPr lang="en-US" dirty="0">
                <a:hlinkClick r:id="rId2"/>
              </a:rPr>
              <a:t>https://colab.research.google.com/drive/1pejrV6Vf4M_Nu8UDvNSxZI3tsANTK5-9#scrollTo=GeSTf-fX4NGJ</a:t>
            </a:r>
            <a:endParaRPr lang="en-US" dirty="0"/>
          </a:p>
          <a:p>
            <a:endParaRPr lang="en-US" dirty="0"/>
          </a:p>
          <a:p>
            <a:endParaRPr lang="en-US" dirty="0"/>
          </a:p>
          <a:p>
            <a:endParaRPr lang="en-US" dirty="0"/>
          </a:p>
          <a:p>
            <a:r>
              <a:rPr lang="en-US" dirty="0"/>
              <a:t>Perform all the similarity Measures on 2 Chosen Documents</a:t>
            </a:r>
          </a:p>
        </p:txBody>
      </p:sp>
    </p:spTree>
    <p:extLst>
      <p:ext uri="{BB962C8B-B14F-4D97-AF65-F5344CB8AC3E}">
        <p14:creationId xmlns:p14="http://schemas.microsoft.com/office/powerpoint/2010/main" val="2492301097"/>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93B42B4-6E92-2CAC-BFF9-C7E24DFDAE5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CD3EF42-AC26-3A45-1907-E83A5AD0E7EC}"/>
              </a:ext>
            </a:extLst>
          </p:cNvPr>
          <p:cNvSpPr>
            <a:spLocks noGrp="1"/>
          </p:cNvSpPr>
          <p:nvPr>
            <p:ph type="title"/>
          </p:nvPr>
        </p:nvSpPr>
        <p:spPr/>
        <p:txBody>
          <a:bodyPr/>
          <a:lstStyle/>
          <a:p>
            <a:r>
              <a:rPr lang="en-US" dirty="0"/>
              <a:t>Unit 1: Vector Space Model of Retrieval</a:t>
            </a:r>
          </a:p>
        </p:txBody>
      </p:sp>
      <p:sp>
        <p:nvSpPr>
          <p:cNvPr id="3" name="Content Placeholder 2">
            <a:extLst>
              <a:ext uri="{FF2B5EF4-FFF2-40B4-BE49-F238E27FC236}">
                <a16:creationId xmlns:a16="http://schemas.microsoft.com/office/drawing/2014/main" id="{08A5EF63-9722-16E9-C17C-DC22FCE43521}"/>
              </a:ext>
            </a:extLst>
          </p:cNvPr>
          <p:cNvSpPr>
            <a:spLocks noGrp="1"/>
          </p:cNvSpPr>
          <p:nvPr>
            <p:ph idx="1"/>
          </p:nvPr>
        </p:nvSpPr>
        <p:spPr/>
        <p:txBody>
          <a:bodyPr>
            <a:normAutofit fontScale="55000" lnSpcReduction="20000"/>
          </a:bodyPr>
          <a:lstStyle/>
          <a:p>
            <a:r>
              <a:rPr lang="en-US" strike="sngStrike" dirty="0"/>
              <a:t>Word Statistics</a:t>
            </a:r>
          </a:p>
          <a:p>
            <a:r>
              <a:rPr lang="en-US" strike="sngStrike" dirty="0"/>
              <a:t>Text preprocessing</a:t>
            </a:r>
          </a:p>
          <a:p>
            <a:r>
              <a:rPr lang="en-US" strike="sngStrike" dirty="0"/>
              <a:t>Term Weighing</a:t>
            </a:r>
          </a:p>
          <a:p>
            <a:r>
              <a:rPr lang="en-US" strike="sngStrike" dirty="0"/>
              <a:t>Similarity Function</a:t>
            </a:r>
          </a:p>
          <a:p>
            <a:r>
              <a:rPr lang="en-US" dirty="0"/>
              <a:t>Indexing</a:t>
            </a:r>
          </a:p>
          <a:p>
            <a:r>
              <a:rPr lang="en-US" dirty="0"/>
              <a:t>Relevance Feedback</a:t>
            </a:r>
          </a:p>
          <a:p>
            <a:r>
              <a:rPr lang="en-US" dirty="0"/>
              <a:t>Query Expansion(With Local Analysis from External Resources)</a:t>
            </a:r>
          </a:p>
          <a:p>
            <a:r>
              <a:rPr lang="en-US" dirty="0"/>
              <a:t>The impact of Document Normalization</a:t>
            </a:r>
          </a:p>
          <a:p>
            <a:r>
              <a:rPr lang="en-US" dirty="0"/>
              <a:t>Multi-Field Retrieval</a:t>
            </a:r>
          </a:p>
          <a:p>
            <a:r>
              <a:rPr lang="en-US" dirty="0"/>
              <a:t>Evaluation of Retrieval</a:t>
            </a:r>
          </a:p>
          <a:p>
            <a:r>
              <a:rPr lang="en-US" dirty="0"/>
              <a:t>Applications</a:t>
            </a:r>
          </a:p>
          <a:p>
            <a:r>
              <a:rPr lang="en-US" dirty="0"/>
              <a:t>Disadvantages</a:t>
            </a:r>
          </a:p>
          <a:p>
            <a:r>
              <a:rPr lang="en-US" dirty="0"/>
              <a:t>Incentives for Engaging in Electronic Commerce</a:t>
            </a:r>
          </a:p>
          <a:p>
            <a:r>
              <a:rPr lang="en-US" dirty="0"/>
              <a:t>Forces behind E-</a:t>
            </a:r>
            <a:r>
              <a:rPr lang="en-US" dirty="0" err="1"/>
              <a:t>commerece</a:t>
            </a:r>
            <a:endParaRPr lang="en-US" dirty="0"/>
          </a:p>
        </p:txBody>
      </p:sp>
    </p:spTree>
    <p:extLst>
      <p:ext uri="{BB962C8B-B14F-4D97-AF65-F5344CB8AC3E}">
        <p14:creationId xmlns:p14="http://schemas.microsoft.com/office/powerpoint/2010/main" val="927170321"/>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B75611D-FF3A-B399-72BB-D17254D059E6}"/>
              </a:ext>
            </a:extLst>
          </p:cNvPr>
          <p:cNvSpPr>
            <a:spLocks noGrp="1"/>
          </p:cNvSpPr>
          <p:nvPr>
            <p:ph type="title"/>
          </p:nvPr>
        </p:nvSpPr>
        <p:spPr/>
        <p:txBody>
          <a:bodyPr/>
          <a:lstStyle/>
          <a:p>
            <a:r>
              <a:rPr lang="en-US" dirty="0"/>
              <a:t>Positional Index</a:t>
            </a:r>
            <a:br>
              <a:rPr lang="en-US" dirty="0"/>
            </a:br>
            <a:endParaRPr lang="en-US" dirty="0"/>
          </a:p>
        </p:txBody>
      </p:sp>
      <p:sp>
        <p:nvSpPr>
          <p:cNvPr id="5" name="TextBox 4">
            <a:extLst>
              <a:ext uri="{FF2B5EF4-FFF2-40B4-BE49-F238E27FC236}">
                <a16:creationId xmlns:a16="http://schemas.microsoft.com/office/drawing/2014/main" id="{852502F4-CC30-91FE-855F-091A285F7786}"/>
              </a:ext>
            </a:extLst>
          </p:cNvPr>
          <p:cNvSpPr txBox="1"/>
          <p:nvPr/>
        </p:nvSpPr>
        <p:spPr>
          <a:xfrm>
            <a:off x="838200" y="1485900"/>
            <a:ext cx="10791825" cy="2215991"/>
          </a:xfrm>
          <a:prstGeom prst="rect">
            <a:avLst/>
          </a:prstGeom>
          <a:noFill/>
        </p:spPr>
        <p:txBody>
          <a:bodyPr wrap="square" rtlCol="0">
            <a:spAutoFit/>
          </a:bodyPr>
          <a:lstStyle/>
          <a:p>
            <a:pPr algn="just"/>
            <a:r>
              <a:rPr lang="en-IN" sz="2400" dirty="0"/>
              <a:t>A positional index is a type of inverted index used in information retrieval systems that not only records which documents contain a given term but also stores the positions (or offsets) of occurrences of that term within each document. This additional positional information  allows for more advanced retrieval techniques, such as phrase search, proximity search, and phrase highlighting.</a:t>
            </a:r>
          </a:p>
          <a:p>
            <a:r>
              <a:rPr lang="en-IN" i="1" dirty="0"/>
              <a:t> </a:t>
            </a:r>
            <a:endParaRPr lang="en-IN" dirty="0"/>
          </a:p>
        </p:txBody>
      </p:sp>
    </p:spTree>
    <p:extLst>
      <p:ext uri="{BB962C8B-B14F-4D97-AF65-F5344CB8AC3E}">
        <p14:creationId xmlns:p14="http://schemas.microsoft.com/office/powerpoint/2010/main" val="2034596819"/>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8A5BD0C-F035-209C-A72E-C893C4EF24BE}"/>
              </a:ext>
            </a:extLst>
          </p:cNvPr>
          <p:cNvSpPr>
            <a:spLocks noGrp="1"/>
          </p:cNvSpPr>
          <p:nvPr>
            <p:ph type="title"/>
          </p:nvPr>
        </p:nvSpPr>
        <p:spPr/>
        <p:txBody>
          <a:bodyPr/>
          <a:lstStyle/>
          <a:p>
            <a:r>
              <a:rPr lang="en-US" dirty="0"/>
              <a:t>Basic Inverted Index</a:t>
            </a:r>
            <a:br>
              <a:rPr lang="en-US" dirty="0"/>
            </a:br>
            <a:endParaRPr lang="en-US" dirty="0"/>
          </a:p>
        </p:txBody>
      </p:sp>
      <p:sp>
        <p:nvSpPr>
          <p:cNvPr id="3" name="Content Placeholder 2">
            <a:extLst>
              <a:ext uri="{FF2B5EF4-FFF2-40B4-BE49-F238E27FC236}">
                <a16:creationId xmlns:a16="http://schemas.microsoft.com/office/drawing/2014/main" id="{DCF508C9-847D-98A2-CFF8-6CED61861994}"/>
              </a:ext>
            </a:extLst>
          </p:cNvPr>
          <p:cNvSpPr>
            <a:spLocks noGrp="1"/>
          </p:cNvSpPr>
          <p:nvPr>
            <p:ph idx="1"/>
          </p:nvPr>
        </p:nvSpPr>
        <p:spPr/>
        <p:txBody>
          <a:bodyPr>
            <a:normAutofit lnSpcReduction="10000"/>
          </a:bodyPr>
          <a:lstStyle/>
          <a:p>
            <a:pPr algn="just"/>
            <a:r>
              <a:rPr lang="en-US" dirty="0"/>
              <a:t>In a basic inverted index, for each term encountered in the document collection, the index maintains a posting list, which is a list of document identifiers (or pointers to documents) where the term occurs. For example:</a:t>
            </a:r>
          </a:p>
          <a:p>
            <a:pPr marL="1371600" lvl="3" indent="0">
              <a:buNone/>
            </a:pPr>
            <a:endParaRPr lang="en-US" sz="4000" dirty="0"/>
          </a:p>
          <a:p>
            <a:pPr marL="1371600" lvl="3" indent="0">
              <a:buNone/>
            </a:pPr>
            <a:r>
              <a:rPr lang="en-US" sz="4000" dirty="0"/>
              <a:t>Term: Document IDs</a:t>
            </a:r>
          </a:p>
          <a:p>
            <a:pPr marL="1371600" lvl="3" indent="0">
              <a:buNone/>
            </a:pPr>
            <a:r>
              <a:rPr lang="en-US" sz="4000" dirty="0"/>
              <a:t>---------------------</a:t>
            </a:r>
          </a:p>
          <a:p>
            <a:pPr marL="1371600" lvl="3" indent="0">
              <a:buNone/>
            </a:pPr>
            <a:r>
              <a:rPr lang="en-US" sz="4000" dirty="0"/>
              <a:t>cat: [1, 3, 5]</a:t>
            </a:r>
          </a:p>
          <a:p>
            <a:pPr marL="1371600" lvl="3" indent="0">
              <a:buNone/>
            </a:pPr>
            <a:r>
              <a:rPr lang="en-US" sz="4000" dirty="0"/>
              <a:t>dog: [2, 4, 5, 6]</a:t>
            </a:r>
          </a:p>
          <a:p>
            <a:endParaRPr lang="en-US" dirty="0"/>
          </a:p>
        </p:txBody>
      </p:sp>
    </p:spTree>
    <p:extLst>
      <p:ext uri="{BB962C8B-B14F-4D97-AF65-F5344CB8AC3E}">
        <p14:creationId xmlns:p14="http://schemas.microsoft.com/office/powerpoint/2010/main" val="2143302865"/>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3A7401E-A8AD-9A54-D5B0-09A6C51C6059}"/>
              </a:ext>
            </a:extLst>
          </p:cNvPr>
          <p:cNvSpPr>
            <a:spLocks noGrp="1"/>
          </p:cNvSpPr>
          <p:nvPr>
            <p:ph type="title"/>
          </p:nvPr>
        </p:nvSpPr>
        <p:spPr/>
        <p:txBody>
          <a:bodyPr/>
          <a:lstStyle/>
          <a:p>
            <a:r>
              <a:rPr lang="en-US" dirty="0"/>
              <a:t>Positional Index Extension</a:t>
            </a:r>
            <a:br>
              <a:rPr lang="en-US" dirty="0"/>
            </a:br>
            <a:endParaRPr lang="en-US" dirty="0"/>
          </a:p>
        </p:txBody>
      </p:sp>
      <p:sp>
        <p:nvSpPr>
          <p:cNvPr id="3" name="Content Placeholder 2">
            <a:extLst>
              <a:ext uri="{FF2B5EF4-FFF2-40B4-BE49-F238E27FC236}">
                <a16:creationId xmlns:a16="http://schemas.microsoft.com/office/drawing/2014/main" id="{39C13953-AC03-35F1-9CE4-F20B2B8090F4}"/>
              </a:ext>
            </a:extLst>
          </p:cNvPr>
          <p:cNvSpPr>
            <a:spLocks noGrp="1"/>
          </p:cNvSpPr>
          <p:nvPr>
            <p:ph idx="1"/>
          </p:nvPr>
        </p:nvSpPr>
        <p:spPr/>
        <p:txBody>
          <a:bodyPr>
            <a:normAutofit/>
          </a:bodyPr>
          <a:lstStyle/>
          <a:p>
            <a:pPr algn="just"/>
            <a:r>
              <a:rPr lang="en-IN" dirty="0"/>
              <a:t>In a positional index, each entry in the posting list not only contains the document ID but also includes the positions of occurrences of the term within the document. For example:</a:t>
            </a:r>
          </a:p>
          <a:p>
            <a:pPr marL="1371600" lvl="3" indent="0" algn="just">
              <a:buNone/>
            </a:pPr>
            <a:r>
              <a:rPr lang="en-IN" sz="2400" dirty="0"/>
              <a:t>Term: (Document ID, Positions)</a:t>
            </a:r>
          </a:p>
          <a:p>
            <a:pPr marL="1371600" lvl="3" indent="0" algn="just">
              <a:buNone/>
            </a:pPr>
            <a:r>
              <a:rPr lang="en-IN" sz="2400" dirty="0"/>
              <a:t>------------------------------</a:t>
            </a:r>
          </a:p>
          <a:p>
            <a:pPr marL="1371600" lvl="3" indent="0" algn="just">
              <a:buNone/>
            </a:pPr>
            <a:r>
              <a:rPr lang="en-IN" sz="2400" dirty="0"/>
              <a:t>cat: [(1, [3]), (3, [2, 5]), (5, [7])]</a:t>
            </a:r>
          </a:p>
          <a:p>
            <a:pPr marL="1371600" lvl="3" indent="0" algn="just">
              <a:buNone/>
            </a:pPr>
            <a:r>
              <a:rPr lang="en-IN" sz="2400" dirty="0"/>
              <a:t>dog: [(2, [2]), (4, [1, 4]), (5, [3, 6]), (6, [2])]</a:t>
            </a:r>
          </a:p>
          <a:p>
            <a:pPr algn="just"/>
            <a:r>
              <a:rPr lang="en-IN" dirty="0"/>
              <a:t>Here, Here, the numbers within the square brackets represent the positions of occurrences of the term within the corresponding document.</a:t>
            </a:r>
          </a:p>
          <a:p>
            <a:endParaRPr lang="en-US" dirty="0"/>
          </a:p>
        </p:txBody>
      </p:sp>
    </p:spTree>
    <p:extLst>
      <p:ext uri="{BB962C8B-B14F-4D97-AF65-F5344CB8AC3E}">
        <p14:creationId xmlns:p14="http://schemas.microsoft.com/office/powerpoint/2010/main" val="3656088700"/>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D5AFC20-0C29-391E-F1E7-A025A3AB4C2C}"/>
              </a:ext>
            </a:extLst>
          </p:cNvPr>
          <p:cNvSpPr>
            <a:spLocks noGrp="1"/>
          </p:cNvSpPr>
          <p:nvPr>
            <p:ph type="title"/>
          </p:nvPr>
        </p:nvSpPr>
        <p:spPr/>
        <p:txBody>
          <a:bodyPr/>
          <a:lstStyle/>
          <a:p>
            <a:r>
              <a:rPr lang="en-US" dirty="0"/>
              <a:t>Advantages of Positional Index</a:t>
            </a:r>
            <a:br>
              <a:rPr lang="en-US" dirty="0"/>
            </a:br>
            <a:endParaRPr lang="en-US" dirty="0"/>
          </a:p>
        </p:txBody>
      </p:sp>
      <p:sp>
        <p:nvSpPr>
          <p:cNvPr id="3" name="Content Placeholder 2">
            <a:extLst>
              <a:ext uri="{FF2B5EF4-FFF2-40B4-BE49-F238E27FC236}">
                <a16:creationId xmlns:a16="http://schemas.microsoft.com/office/drawing/2014/main" id="{01CF3B3A-8474-995D-9FAD-F8EB26F8A7CD}"/>
              </a:ext>
            </a:extLst>
          </p:cNvPr>
          <p:cNvSpPr>
            <a:spLocks noGrp="1"/>
          </p:cNvSpPr>
          <p:nvPr>
            <p:ph idx="1"/>
          </p:nvPr>
        </p:nvSpPr>
        <p:spPr/>
        <p:txBody>
          <a:bodyPr>
            <a:normAutofit/>
          </a:bodyPr>
          <a:lstStyle/>
          <a:p>
            <a:r>
              <a:rPr lang="en-US" dirty="0"/>
              <a:t>Phrase Search: With positional information, it becomes possible to perform phrase searches, where the query consists of multiple terms that must appear in a specific sequence within the document.</a:t>
            </a:r>
          </a:p>
          <a:p>
            <a:r>
              <a:rPr lang="en-US" dirty="0"/>
              <a:t>Proximity Search: Positional information enables proximity searches, where the query specifies a maximum allowable distance between the occurrences of multiple terms. </a:t>
            </a:r>
          </a:p>
          <a:p>
            <a:r>
              <a:rPr lang="en-US" dirty="0"/>
              <a:t> Phrase Highlighting: Positional information can be used to highlight matched phrases within retrieved documents, improving the user experience in search applications.</a:t>
            </a:r>
          </a:p>
          <a:p>
            <a:endParaRPr lang="en-US" dirty="0"/>
          </a:p>
        </p:txBody>
      </p:sp>
    </p:spTree>
    <p:extLst>
      <p:ext uri="{BB962C8B-B14F-4D97-AF65-F5344CB8AC3E}">
        <p14:creationId xmlns:p14="http://schemas.microsoft.com/office/powerpoint/2010/main" val="3678327553"/>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D2C09C8-3DB2-6ED5-FBA3-906AE84F5B93}"/>
              </a:ext>
            </a:extLst>
          </p:cNvPr>
          <p:cNvSpPr>
            <a:spLocks noGrp="1"/>
          </p:cNvSpPr>
          <p:nvPr>
            <p:ph type="title"/>
          </p:nvPr>
        </p:nvSpPr>
        <p:spPr/>
        <p:txBody>
          <a:bodyPr/>
          <a:lstStyle/>
          <a:p>
            <a:r>
              <a:rPr lang="en-US" dirty="0"/>
              <a:t>Applications of Positional Index</a:t>
            </a:r>
            <a:br>
              <a:rPr lang="en-US" dirty="0"/>
            </a:br>
            <a:endParaRPr lang="en-US" dirty="0"/>
          </a:p>
        </p:txBody>
      </p:sp>
      <p:sp>
        <p:nvSpPr>
          <p:cNvPr id="3" name="Content Placeholder 2">
            <a:extLst>
              <a:ext uri="{FF2B5EF4-FFF2-40B4-BE49-F238E27FC236}">
                <a16:creationId xmlns:a16="http://schemas.microsoft.com/office/drawing/2014/main" id="{5FCEEB64-6BA0-A6C5-5C28-FA7562AE263F}"/>
              </a:ext>
            </a:extLst>
          </p:cNvPr>
          <p:cNvSpPr>
            <a:spLocks noGrp="1"/>
          </p:cNvSpPr>
          <p:nvPr>
            <p:ph idx="1"/>
          </p:nvPr>
        </p:nvSpPr>
        <p:spPr/>
        <p:txBody>
          <a:bodyPr/>
          <a:lstStyle/>
          <a:p>
            <a:pPr algn="just"/>
            <a:r>
              <a:rPr lang="en-IN" dirty="0"/>
              <a:t>Positional indexes are commonly used in search engines, where they enable more precise and context-aware searches.</a:t>
            </a:r>
          </a:p>
          <a:p>
            <a:pPr algn="just"/>
            <a:r>
              <a:rPr lang="en-IN" dirty="0"/>
              <a:t>They are also used in text mining and natural language processing tasks, such as named entity recognition, entity linking, and sentiment analysis, where the relative positions of terms within documents are important.</a:t>
            </a:r>
          </a:p>
          <a:p>
            <a:endParaRPr lang="en-US" dirty="0"/>
          </a:p>
        </p:txBody>
      </p:sp>
    </p:spTree>
    <p:extLst>
      <p:ext uri="{BB962C8B-B14F-4D97-AF65-F5344CB8AC3E}">
        <p14:creationId xmlns:p14="http://schemas.microsoft.com/office/powerpoint/2010/main" val="1184834254"/>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6A3B7AC-3B1E-D099-F47A-A7D214AA43BD}"/>
              </a:ext>
            </a:extLst>
          </p:cNvPr>
          <p:cNvSpPr>
            <a:spLocks noGrp="1"/>
          </p:cNvSpPr>
          <p:nvPr>
            <p:ph type="title"/>
          </p:nvPr>
        </p:nvSpPr>
        <p:spPr/>
        <p:txBody>
          <a:bodyPr/>
          <a:lstStyle/>
          <a:p>
            <a:r>
              <a:rPr lang="en-US" dirty="0"/>
              <a:t>Challenges and Considerations</a:t>
            </a:r>
            <a:br>
              <a:rPr lang="en-US" dirty="0"/>
            </a:br>
            <a:endParaRPr lang="en-US" dirty="0"/>
          </a:p>
        </p:txBody>
      </p:sp>
      <p:sp>
        <p:nvSpPr>
          <p:cNvPr id="3" name="Content Placeholder 2">
            <a:extLst>
              <a:ext uri="{FF2B5EF4-FFF2-40B4-BE49-F238E27FC236}">
                <a16:creationId xmlns:a16="http://schemas.microsoft.com/office/drawing/2014/main" id="{55C0592D-1405-AD7D-5931-B2F922E97AD8}"/>
              </a:ext>
            </a:extLst>
          </p:cNvPr>
          <p:cNvSpPr>
            <a:spLocks noGrp="1"/>
          </p:cNvSpPr>
          <p:nvPr>
            <p:ph idx="1"/>
          </p:nvPr>
        </p:nvSpPr>
        <p:spPr/>
        <p:txBody>
          <a:bodyPr>
            <a:normAutofit fontScale="85000" lnSpcReduction="10000"/>
          </a:bodyPr>
          <a:lstStyle/>
          <a:p>
            <a:r>
              <a:rPr lang="en-US" dirty="0"/>
              <a:t>Increased Storage Requirements: Storing positional information increases the storage requirements of the index compared to a basic inverted index.</a:t>
            </a:r>
          </a:p>
          <a:p>
            <a:r>
              <a:rPr lang="en-US" dirty="0"/>
              <a:t> Query Processing Complexity: Retrieving documents based on positional information may involve additional computational overhead during query processing.</a:t>
            </a:r>
          </a:p>
          <a:p>
            <a:r>
              <a:rPr lang="en-US" dirty="0"/>
              <a:t>Index Maintenance: Updating a positional index when documents are added, deleted, or modified requires careful handling of positional information to ensure index consistency.</a:t>
            </a:r>
          </a:p>
          <a:p>
            <a:r>
              <a:rPr lang="en-US" dirty="0"/>
              <a:t>In summary, a positional index is a variant of the inverted index that includes positional information, enabling more advanced search capabilities such as phrase search and proximity search. Despite the additional storage and computational overhead, positional indexes are valuable for applications that require precise and context-aware information retrieval</a:t>
            </a:r>
          </a:p>
          <a:p>
            <a:endParaRPr lang="en-US" dirty="0"/>
          </a:p>
        </p:txBody>
      </p:sp>
    </p:spTree>
    <p:extLst>
      <p:ext uri="{BB962C8B-B14F-4D97-AF65-F5344CB8AC3E}">
        <p14:creationId xmlns:p14="http://schemas.microsoft.com/office/powerpoint/2010/main" val="247667872"/>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805311D-A274-DF64-27D8-BF66BAE090BB}"/>
              </a:ext>
            </a:extLst>
          </p:cNvPr>
          <p:cNvSpPr>
            <a:spLocks noGrp="1"/>
          </p:cNvSpPr>
          <p:nvPr>
            <p:ph type="title"/>
          </p:nvPr>
        </p:nvSpPr>
        <p:spPr/>
        <p:txBody>
          <a:bodyPr/>
          <a:lstStyle/>
          <a:p>
            <a:r>
              <a:rPr lang="en-US" dirty="0"/>
              <a:t>Index Construction</a:t>
            </a:r>
            <a:br>
              <a:rPr lang="en-US" dirty="0"/>
            </a:br>
            <a:endParaRPr lang="en-US" dirty="0"/>
          </a:p>
        </p:txBody>
      </p:sp>
      <p:sp>
        <p:nvSpPr>
          <p:cNvPr id="3" name="Content Placeholder 2">
            <a:extLst>
              <a:ext uri="{FF2B5EF4-FFF2-40B4-BE49-F238E27FC236}">
                <a16:creationId xmlns:a16="http://schemas.microsoft.com/office/drawing/2014/main" id="{99C123DF-A8C9-1E6D-68DB-174253BBEB48}"/>
              </a:ext>
            </a:extLst>
          </p:cNvPr>
          <p:cNvSpPr>
            <a:spLocks noGrp="1"/>
          </p:cNvSpPr>
          <p:nvPr>
            <p:ph idx="1"/>
          </p:nvPr>
        </p:nvSpPr>
        <p:spPr/>
        <p:txBody>
          <a:bodyPr>
            <a:normAutofit fontScale="92500" lnSpcReduction="20000"/>
          </a:bodyPr>
          <a:lstStyle/>
          <a:p>
            <a:r>
              <a:rPr lang="en-US" dirty="0"/>
              <a:t>Index construction is a critical phase in the development of an information retrieval (IR) system.</a:t>
            </a:r>
          </a:p>
          <a:p>
            <a:r>
              <a:rPr lang="en-US" dirty="0"/>
              <a:t>It involves the creation of data structures that enable efficient and effective retrieval of relevant documents in response to user queries. Index construction typically consists of several key steps:</a:t>
            </a:r>
          </a:p>
          <a:p>
            <a:pPr marL="0" indent="0">
              <a:buNone/>
            </a:pPr>
            <a:r>
              <a:rPr lang="en-US" dirty="0"/>
              <a:t>1. Document Preprocessing:</a:t>
            </a:r>
          </a:p>
          <a:p>
            <a:pPr marL="0" indent="0">
              <a:buNone/>
            </a:pPr>
            <a:r>
              <a:rPr lang="en-US" dirty="0"/>
              <a:t>2. Term Extraction:</a:t>
            </a:r>
          </a:p>
          <a:p>
            <a:pPr marL="0" indent="0">
              <a:buNone/>
            </a:pPr>
            <a:r>
              <a:rPr lang="en-IN" i="1" dirty="0"/>
              <a:t>3</a:t>
            </a:r>
            <a:r>
              <a:rPr lang="en-IN" dirty="0"/>
              <a:t>. Indexing</a:t>
            </a:r>
            <a:r>
              <a:rPr lang="en-IN" i="1" dirty="0"/>
              <a:t>:</a:t>
            </a:r>
            <a:endParaRPr lang="en-IN" dirty="0"/>
          </a:p>
          <a:p>
            <a:pPr marL="0" indent="0">
              <a:buNone/>
            </a:pPr>
            <a:r>
              <a:rPr lang="en-US" dirty="0"/>
              <a:t>4. Index Compression</a:t>
            </a:r>
          </a:p>
          <a:p>
            <a:pPr marL="0" indent="0">
              <a:buNone/>
            </a:pPr>
            <a:r>
              <a:rPr lang="en-US" dirty="0"/>
              <a:t>5. Index Optimization</a:t>
            </a:r>
          </a:p>
          <a:p>
            <a:pPr marL="0" indent="0">
              <a:buNone/>
            </a:pPr>
            <a:r>
              <a:rPr lang="en-US" dirty="0"/>
              <a:t>6. Index Storage</a:t>
            </a:r>
          </a:p>
          <a:p>
            <a:pPr marL="0" indent="0">
              <a:buNone/>
            </a:pPr>
            <a:endParaRPr lang="en-US" dirty="0"/>
          </a:p>
          <a:p>
            <a:pPr marL="0" indent="0">
              <a:buNone/>
            </a:pPr>
            <a:endParaRPr lang="en-US" dirty="0"/>
          </a:p>
          <a:p>
            <a:endParaRPr lang="en-US" dirty="0"/>
          </a:p>
        </p:txBody>
      </p:sp>
    </p:spTree>
    <p:extLst>
      <p:ext uri="{BB962C8B-B14F-4D97-AF65-F5344CB8AC3E}">
        <p14:creationId xmlns:p14="http://schemas.microsoft.com/office/powerpoint/2010/main" val="830534719"/>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D758C5-0BDF-5C8B-C788-A9ADAA46A250}"/>
              </a:ext>
            </a:extLst>
          </p:cNvPr>
          <p:cNvSpPr>
            <a:spLocks noGrp="1"/>
          </p:cNvSpPr>
          <p:nvPr>
            <p:ph type="title"/>
          </p:nvPr>
        </p:nvSpPr>
        <p:spPr/>
        <p:txBody>
          <a:bodyPr/>
          <a:lstStyle/>
          <a:p>
            <a:r>
              <a:rPr lang="en-US" dirty="0"/>
              <a:t>Merge based Index Model</a:t>
            </a:r>
            <a:br>
              <a:rPr lang="en-US" dirty="0"/>
            </a:br>
            <a:endParaRPr lang="en-US" dirty="0"/>
          </a:p>
        </p:txBody>
      </p:sp>
      <p:sp>
        <p:nvSpPr>
          <p:cNvPr id="3" name="Content Placeholder 2">
            <a:extLst>
              <a:ext uri="{FF2B5EF4-FFF2-40B4-BE49-F238E27FC236}">
                <a16:creationId xmlns:a16="http://schemas.microsoft.com/office/drawing/2014/main" id="{B1E462F7-9127-DA72-11E7-97BA592B1A12}"/>
              </a:ext>
            </a:extLst>
          </p:cNvPr>
          <p:cNvSpPr>
            <a:spLocks noGrp="1"/>
          </p:cNvSpPr>
          <p:nvPr>
            <p:ph idx="1"/>
          </p:nvPr>
        </p:nvSpPr>
        <p:spPr/>
        <p:txBody>
          <a:bodyPr>
            <a:normAutofit/>
          </a:bodyPr>
          <a:lstStyle/>
          <a:p>
            <a:pPr algn="just"/>
            <a:r>
              <a:rPr lang="en-US" dirty="0"/>
              <a:t>The merge-based index model is a method used in information retrieval (IR) systems for constructing inverted indexes from a large collection of documents efficiently. </a:t>
            </a:r>
          </a:p>
          <a:p>
            <a:pPr algn="just"/>
            <a:r>
              <a:rPr lang="en-US" dirty="0"/>
              <a:t>In this model, the process involves merging smaller index segments or postings lists to create a larger inverted index.</a:t>
            </a:r>
          </a:p>
          <a:p>
            <a:pPr algn="just"/>
            <a:r>
              <a:rPr lang="en-US" dirty="0"/>
              <a:t>This approach is particularly useful when dealing with large-scale document collections where indexing the entire corpus in memory may not be feasible due to resource constraints.</a:t>
            </a:r>
          </a:p>
          <a:p>
            <a:pPr marL="0" indent="0">
              <a:buNone/>
            </a:pPr>
            <a:endParaRPr lang="en-US" dirty="0"/>
          </a:p>
        </p:txBody>
      </p:sp>
    </p:spTree>
    <p:extLst>
      <p:ext uri="{BB962C8B-B14F-4D97-AF65-F5344CB8AC3E}">
        <p14:creationId xmlns:p14="http://schemas.microsoft.com/office/powerpoint/2010/main" val="133545231"/>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4C81391-43E9-ACA1-4460-CFA4AE7F806D}"/>
              </a:ext>
            </a:extLst>
          </p:cNvPr>
          <p:cNvSpPr>
            <a:spLocks noGrp="1"/>
          </p:cNvSpPr>
          <p:nvPr>
            <p:ph type="title"/>
          </p:nvPr>
        </p:nvSpPr>
        <p:spPr/>
        <p:txBody>
          <a:bodyPr/>
          <a:lstStyle/>
          <a:p>
            <a:r>
              <a:rPr lang="en-US" dirty="0"/>
              <a:t>Overview of the merge-based index model</a:t>
            </a:r>
            <a:br>
              <a:rPr lang="en-US" dirty="0"/>
            </a:br>
            <a:endParaRPr lang="en-US" dirty="0"/>
          </a:p>
        </p:txBody>
      </p:sp>
      <p:sp>
        <p:nvSpPr>
          <p:cNvPr id="3" name="Content Placeholder 2">
            <a:extLst>
              <a:ext uri="{FF2B5EF4-FFF2-40B4-BE49-F238E27FC236}">
                <a16:creationId xmlns:a16="http://schemas.microsoft.com/office/drawing/2014/main" id="{2EFA5AC1-8328-5509-1F6A-142E5D19A897}"/>
              </a:ext>
            </a:extLst>
          </p:cNvPr>
          <p:cNvSpPr>
            <a:spLocks noGrp="1"/>
          </p:cNvSpPr>
          <p:nvPr>
            <p:ph idx="1"/>
          </p:nvPr>
        </p:nvSpPr>
        <p:spPr/>
        <p:txBody>
          <a:bodyPr>
            <a:normAutofit fontScale="62500" lnSpcReduction="20000"/>
          </a:bodyPr>
          <a:lstStyle/>
          <a:p>
            <a:pPr marL="0" indent="0" algn="just">
              <a:buNone/>
            </a:pPr>
            <a:r>
              <a:rPr lang="en-US" dirty="0"/>
              <a:t>1. Document Processing</a:t>
            </a:r>
          </a:p>
          <a:p>
            <a:pPr marL="0" indent="0" algn="just">
              <a:buNone/>
            </a:pPr>
            <a:r>
              <a:rPr lang="en-US" dirty="0"/>
              <a:t>2. Partitioning</a:t>
            </a:r>
          </a:p>
          <a:p>
            <a:pPr marL="0" indent="0" algn="just">
              <a:buNone/>
            </a:pPr>
            <a:r>
              <a:rPr lang="en-US" dirty="0"/>
              <a:t>3. Local Indexing</a:t>
            </a:r>
          </a:p>
          <a:p>
            <a:pPr marL="0" indent="0" algn="just">
              <a:buNone/>
            </a:pPr>
            <a:r>
              <a:rPr lang="en-US" dirty="0"/>
              <a:t>4. Merge Operation</a:t>
            </a:r>
          </a:p>
          <a:p>
            <a:pPr marL="0" indent="0" algn="just">
              <a:buNone/>
            </a:pPr>
            <a:r>
              <a:rPr lang="en-IN" i="1" dirty="0"/>
              <a:t>5. </a:t>
            </a:r>
            <a:r>
              <a:rPr lang="en-IN" dirty="0"/>
              <a:t>Merge Strategies: </a:t>
            </a:r>
            <a:r>
              <a:rPr lang="en-IN" sz="2900" dirty="0"/>
              <a:t>Several merge strategies can be employed to efficiently merge index segments:</a:t>
            </a:r>
          </a:p>
          <a:p>
            <a:pPr algn="just"/>
            <a:r>
              <a:rPr lang="en-IN" sz="2900" dirty="0"/>
              <a:t> Two-Way Merge: In the two-way merge strategy, pairs of index segments are merged iteratively until a single merged index is obtained.</a:t>
            </a:r>
          </a:p>
          <a:p>
            <a:pPr algn="just"/>
            <a:r>
              <a:rPr lang="en-IN" sz="2900" dirty="0"/>
              <a:t> Multi-Way Merge: The multi-way merge strategy merges multiple index segments simultaneously, often using priority queues or external sorting techniques to manage memory usage and optimize performance.</a:t>
            </a:r>
          </a:p>
          <a:p>
            <a:pPr algn="just"/>
            <a:r>
              <a:rPr lang="en-IN" sz="2900" dirty="0"/>
              <a:t>Incremental Merge: In the incremental merge strategy, index segments are merged incrementally </a:t>
            </a:r>
            <a:r>
              <a:rPr lang="en-IN" dirty="0"/>
              <a:t>as new documents are added to the collection or existing documents are updated. This approach enables continuous index maintenance without reindexing the entire collection.</a:t>
            </a:r>
          </a:p>
          <a:p>
            <a:pPr marL="0" indent="0" algn="just">
              <a:buNone/>
            </a:pPr>
            <a:r>
              <a:rPr lang="en-IN" i="1" dirty="0"/>
              <a:t>6. </a:t>
            </a:r>
            <a:r>
              <a:rPr lang="en-IN" dirty="0"/>
              <a:t>Index Compression:</a:t>
            </a:r>
          </a:p>
          <a:p>
            <a:pPr marL="0" indent="0" algn="just">
              <a:buNone/>
            </a:pPr>
            <a:r>
              <a:rPr lang="en-IN" dirty="0"/>
              <a:t>7. Index Storage</a:t>
            </a:r>
          </a:p>
          <a:p>
            <a:pPr algn="just"/>
            <a:endParaRPr lang="en-IN" dirty="0"/>
          </a:p>
          <a:p>
            <a:endParaRPr lang="en-IN" dirty="0"/>
          </a:p>
          <a:p>
            <a:pPr algn="just"/>
            <a:endParaRPr lang="en-IN" sz="2900" dirty="0"/>
          </a:p>
          <a:p>
            <a:endParaRPr lang="en-US" dirty="0"/>
          </a:p>
          <a:p>
            <a:endParaRPr lang="en-US" dirty="0"/>
          </a:p>
        </p:txBody>
      </p:sp>
    </p:spTree>
    <p:extLst>
      <p:ext uri="{BB962C8B-B14F-4D97-AF65-F5344CB8AC3E}">
        <p14:creationId xmlns:p14="http://schemas.microsoft.com/office/powerpoint/2010/main" val="1899185300"/>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952EC2B-D02B-F127-EB55-C3F8C085BE73}"/>
              </a:ext>
            </a:extLst>
          </p:cNvPr>
          <p:cNvSpPr>
            <a:spLocks noGrp="1"/>
          </p:cNvSpPr>
          <p:nvPr>
            <p:ph type="title"/>
          </p:nvPr>
        </p:nvSpPr>
        <p:spPr/>
        <p:txBody>
          <a:bodyPr/>
          <a:lstStyle/>
          <a:p>
            <a:r>
              <a:rPr lang="en-US" dirty="0"/>
              <a:t>Python Lab 4</a:t>
            </a:r>
          </a:p>
        </p:txBody>
      </p:sp>
      <p:sp>
        <p:nvSpPr>
          <p:cNvPr id="3" name="Content Placeholder 2">
            <a:extLst>
              <a:ext uri="{FF2B5EF4-FFF2-40B4-BE49-F238E27FC236}">
                <a16:creationId xmlns:a16="http://schemas.microsoft.com/office/drawing/2014/main" id="{F715BD57-102B-88B4-0F28-7A9D73A5B2C9}"/>
              </a:ext>
            </a:extLst>
          </p:cNvPr>
          <p:cNvSpPr>
            <a:spLocks noGrp="1"/>
          </p:cNvSpPr>
          <p:nvPr>
            <p:ph idx="1"/>
          </p:nvPr>
        </p:nvSpPr>
        <p:spPr/>
        <p:txBody>
          <a:bodyPr/>
          <a:lstStyle/>
          <a:p>
            <a:r>
              <a:rPr lang="en-US" dirty="0">
                <a:hlinkClick r:id="rId2"/>
              </a:rPr>
              <a:t>https://colab.research.google.com/drive/1zUl8octlhHdmRokzEAipnCF48pLDXnPZ?usp=sharing</a:t>
            </a:r>
            <a:endParaRPr lang="en-US" dirty="0"/>
          </a:p>
          <a:p>
            <a:endParaRPr lang="en-US" dirty="0"/>
          </a:p>
          <a:p>
            <a:endParaRPr lang="en-US" dirty="0"/>
          </a:p>
          <a:p>
            <a:r>
              <a:rPr lang="en-US" dirty="0"/>
              <a:t>Create Simple Index, Positional Index and Merge Based Index for any document.</a:t>
            </a:r>
          </a:p>
        </p:txBody>
      </p:sp>
    </p:spTree>
    <p:extLst>
      <p:ext uri="{BB962C8B-B14F-4D97-AF65-F5344CB8AC3E}">
        <p14:creationId xmlns:p14="http://schemas.microsoft.com/office/powerpoint/2010/main" val="767488303"/>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4854505-5745-346C-9912-3CE62647C7A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06E3DB2-9C26-31CC-FC7B-6BB96C950095}"/>
              </a:ext>
            </a:extLst>
          </p:cNvPr>
          <p:cNvSpPr>
            <a:spLocks noGrp="1"/>
          </p:cNvSpPr>
          <p:nvPr>
            <p:ph type="title"/>
          </p:nvPr>
        </p:nvSpPr>
        <p:spPr/>
        <p:txBody>
          <a:bodyPr/>
          <a:lstStyle/>
          <a:p>
            <a:r>
              <a:rPr lang="en-US" dirty="0"/>
              <a:t>Unit 1: Vector Space Model of Retrieval</a:t>
            </a:r>
          </a:p>
        </p:txBody>
      </p:sp>
      <p:sp>
        <p:nvSpPr>
          <p:cNvPr id="3" name="Content Placeholder 2">
            <a:extLst>
              <a:ext uri="{FF2B5EF4-FFF2-40B4-BE49-F238E27FC236}">
                <a16:creationId xmlns:a16="http://schemas.microsoft.com/office/drawing/2014/main" id="{8421115F-B6DA-56A9-5C48-344285A2A1CC}"/>
              </a:ext>
            </a:extLst>
          </p:cNvPr>
          <p:cNvSpPr>
            <a:spLocks noGrp="1"/>
          </p:cNvSpPr>
          <p:nvPr>
            <p:ph idx="1"/>
          </p:nvPr>
        </p:nvSpPr>
        <p:spPr/>
        <p:txBody>
          <a:bodyPr>
            <a:normAutofit fontScale="55000" lnSpcReduction="20000"/>
          </a:bodyPr>
          <a:lstStyle/>
          <a:p>
            <a:r>
              <a:rPr lang="en-US" strike="sngStrike" dirty="0"/>
              <a:t>Word Statistics</a:t>
            </a:r>
          </a:p>
          <a:p>
            <a:r>
              <a:rPr lang="en-US" strike="sngStrike" dirty="0"/>
              <a:t>Text preprocessing</a:t>
            </a:r>
          </a:p>
          <a:p>
            <a:r>
              <a:rPr lang="en-US" strike="sngStrike" dirty="0"/>
              <a:t>Term Weighing</a:t>
            </a:r>
          </a:p>
          <a:p>
            <a:r>
              <a:rPr lang="en-US" strike="sngStrike" dirty="0"/>
              <a:t>Similarity Function</a:t>
            </a:r>
          </a:p>
          <a:p>
            <a:r>
              <a:rPr lang="en-US" strike="sngStrike" dirty="0"/>
              <a:t>Indexing</a:t>
            </a:r>
          </a:p>
          <a:p>
            <a:r>
              <a:rPr lang="en-US" dirty="0"/>
              <a:t>Relevance Feedback</a:t>
            </a:r>
          </a:p>
          <a:p>
            <a:r>
              <a:rPr lang="en-US" dirty="0"/>
              <a:t>Query Expansion(With Local Analysis from External Resources)</a:t>
            </a:r>
          </a:p>
          <a:p>
            <a:r>
              <a:rPr lang="en-US" dirty="0"/>
              <a:t>The impact of Document Normalization</a:t>
            </a:r>
          </a:p>
          <a:p>
            <a:r>
              <a:rPr lang="en-US" dirty="0"/>
              <a:t>Multi-Field Retrieval</a:t>
            </a:r>
          </a:p>
          <a:p>
            <a:r>
              <a:rPr lang="en-US" dirty="0"/>
              <a:t>Evaluation of Retrieval</a:t>
            </a:r>
          </a:p>
          <a:p>
            <a:r>
              <a:rPr lang="en-US" dirty="0"/>
              <a:t>Applications</a:t>
            </a:r>
          </a:p>
          <a:p>
            <a:r>
              <a:rPr lang="en-US" dirty="0"/>
              <a:t>Disadvantages</a:t>
            </a:r>
          </a:p>
          <a:p>
            <a:r>
              <a:rPr lang="en-US" dirty="0"/>
              <a:t>Incentives for Engaging in Electronic Commerce</a:t>
            </a:r>
          </a:p>
          <a:p>
            <a:r>
              <a:rPr lang="en-US" dirty="0"/>
              <a:t>Forces behind E-</a:t>
            </a:r>
            <a:r>
              <a:rPr lang="en-US" dirty="0" err="1"/>
              <a:t>commerece</a:t>
            </a:r>
            <a:endParaRPr lang="en-US" dirty="0"/>
          </a:p>
        </p:txBody>
      </p:sp>
    </p:spTree>
    <p:extLst>
      <p:ext uri="{BB962C8B-B14F-4D97-AF65-F5344CB8AC3E}">
        <p14:creationId xmlns:p14="http://schemas.microsoft.com/office/powerpoint/2010/main" val="551290955"/>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F086792-1997-488F-7DF8-EE690C01AB02}"/>
              </a:ext>
            </a:extLst>
          </p:cNvPr>
          <p:cNvSpPr>
            <a:spLocks noGrp="1"/>
          </p:cNvSpPr>
          <p:nvPr>
            <p:ph type="title"/>
          </p:nvPr>
        </p:nvSpPr>
        <p:spPr/>
        <p:txBody>
          <a:bodyPr/>
          <a:lstStyle/>
          <a:p>
            <a:r>
              <a:rPr lang="en-US" dirty="0"/>
              <a:t>Relevance Feedback</a:t>
            </a:r>
          </a:p>
        </p:txBody>
      </p:sp>
      <p:sp>
        <p:nvSpPr>
          <p:cNvPr id="3" name="Content Placeholder 2">
            <a:extLst>
              <a:ext uri="{FF2B5EF4-FFF2-40B4-BE49-F238E27FC236}">
                <a16:creationId xmlns:a16="http://schemas.microsoft.com/office/drawing/2014/main" id="{96793EEC-D629-97B7-5A2F-599ADF468C63}"/>
              </a:ext>
            </a:extLst>
          </p:cNvPr>
          <p:cNvSpPr>
            <a:spLocks noGrp="1"/>
          </p:cNvSpPr>
          <p:nvPr>
            <p:ph idx="1"/>
          </p:nvPr>
        </p:nvSpPr>
        <p:spPr/>
        <p:txBody>
          <a:bodyPr/>
          <a:lstStyle/>
          <a:p>
            <a:r>
              <a:rPr lang="en-US" dirty="0"/>
              <a:t>Relevance feedback query expansion is a technique used in information retrieval to improve the relevance of search results by incorporating feedback from the user about the retrieved documents.</a:t>
            </a:r>
          </a:p>
          <a:p>
            <a:r>
              <a:rPr lang="en-US" dirty="0"/>
              <a:t>It aims to refine the original query by adding additional terms that are likely to capture the user’s information need more accurately, based on the relevance judgments provided by the user.</a:t>
            </a:r>
          </a:p>
          <a:p>
            <a:endParaRPr lang="en-US" dirty="0"/>
          </a:p>
        </p:txBody>
      </p:sp>
    </p:spTree>
    <p:extLst>
      <p:ext uri="{BB962C8B-B14F-4D97-AF65-F5344CB8AC3E}">
        <p14:creationId xmlns:p14="http://schemas.microsoft.com/office/powerpoint/2010/main" val="1150778178"/>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AEFA2CA-638F-5422-6CD2-5A855EEE50F6}"/>
              </a:ext>
            </a:extLst>
          </p:cNvPr>
          <p:cNvSpPr>
            <a:spLocks noGrp="1"/>
          </p:cNvSpPr>
          <p:nvPr>
            <p:ph type="title"/>
          </p:nvPr>
        </p:nvSpPr>
        <p:spPr/>
        <p:txBody>
          <a:bodyPr>
            <a:normAutofit fontScale="90000"/>
          </a:bodyPr>
          <a:lstStyle/>
          <a:p>
            <a:r>
              <a:rPr lang="en-US" dirty="0"/>
              <a:t>How relevance feedback query expansion works:</a:t>
            </a:r>
            <a:br>
              <a:rPr lang="en-US" dirty="0"/>
            </a:br>
            <a:endParaRPr lang="en-US" dirty="0"/>
          </a:p>
        </p:txBody>
      </p:sp>
      <p:sp>
        <p:nvSpPr>
          <p:cNvPr id="3" name="Content Placeholder 2">
            <a:extLst>
              <a:ext uri="{FF2B5EF4-FFF2-40B4-BE49-F238E27FC236}">
                <a16:creationId xmlns:a16="http://schemas.microsoft.com/office/drawing/2014/main" id="{4C4BEC2A-6B0D-53CE-93B8-FB7C939A96D6}"/>
              </a:ext>
            </a:extLst>
          </p:cNvPr>
          <p:cNvSpPr>
            <a:spLocks noGrp="1"/>
          </p:cNvSpPr>
          <p:nvPr>
            <p:ph idx="1"/>
          </p:nvPr>
        </p:nvSpPr>
        <p:spPr/>
        <p:txBody>
          <a:bodyPr>
            <a:normAutofit fontScale="62500" lnSpcReduction="20000"/>
          </a:bodyPr>
          <a:lstStyle/>
          <a:p>
            <a:r>
              <a:rPr lang="en-US" dirty="0"/>
              <a:t>Initial Query Processing</a:t>
            </a:r>
          </a:p>
          <a:p>
            <a:r>
              <a:rPr lang="en-US" dirty="0"/>
              <a:t>Relevance Feedback</a:t>
            </a:r>
          </a:p>
          <a:p>
            <a:r>
              <a:rPr lang="en-US" dirty="0"/>
              <a:t>Query Expansion: Various techniques can be used for query expansion, including:</a:t>
            </a:r>
          </a:p>
          <a:p>
            <a:pPr marL="0" indent="0">
              <a:buNone/>
            </a:pPr>
            <a:r>
              <a:rPr lang="en-US" dirty="0"/>
              <a:t>1. Rocchio Algorithm: The Rocchio algorithm adjusts the original query vector based on the centroids of the relevant and non-relevant document vectors in the vector space model.</a:t>
            </a:r>
          </a:p>
          <a:p>
            <a:pPr marL="0" indent="0">
              <a:buNone/>
            </a:pPr>
            <a:r>
              <a:rPr lang="en-US" dirty="0"/>
              <a:t>2. Term Weighting: Terms from relevant documents may be assigned higher weights in the expanded query to emphasize their importance.</a:t>
            </a:r>
          </a:p>
          <a:p>
            <a:pPr marL="0" indent="0">
              <a:buNone/>
            </a:pPr>
            <a:r>
              <a:rPr lang="en-US" dirty="0"/>
              <a:t>3.  Synonym and Thesaurus Lookup: Synonyms, related terms, or concepts may be added to the query based on a thesaurus or semantic database.</a:t>
            </a:r>
          </a:p>
          <a:p>
            <a:pPr marL="0" indent="0">
              <a:buNone/>
            </a:pPr>
            <a:r>
              <a:rPr lang="en-US" dirty="0"/>
              <a:t>4. Word Embeddings: Word embeddings models, such as Word2Vec or </a:t>
            </a:r>
            <a:r>
              <a:rPr lang="en-US" dirty="0" err="1"/>
              <a:t>GloVe</a:t>
            </a:r>
            <a:r>
              <a:rPr lang="en-US" dirty="0"/>
              <a:t>, can be used to find semantically similar terms to expand the query</a:t>
            </a:r>
          </a:p>
          <a:p>
            <a:pPr marL="0" indent="0">
              <a:buNone/>
            </a:pPr>
            <a:r>
              <a:rPr lang="en-US" dirty="0"/>
              <a:t>5. Feedback-based Expansion: Terms explicitly highlighted or annotated by the user in the relevant documents may be added to the query.</a:t>
            </a:r>
          </a:p>
          <a:p>
            <a:r>
              <a:rPr lang="en-IN" sz="2900" dirty="0"/>
              <a:t>Re-Retrieval</a:t>
            </a:r>
          </a:p>
          <a:p>
            <a:r>
              <a:rPr lang="en-IN" sz="2900" dirty="0"/>
              <a:t>Presentation of Results</a:t>
            </a:r>
          </a:p>
          <a:p>
            <a:endParaRPr lang="en-IN" sz="2900" dirty="0"/>
          </a:p>
          <a:p>
            <a:pPr marL="0" indent="0">
              <a:buNone/>
            </a:pPr>
            <a:endParaRPr lang="en-US" dirty="0"/>
          </a:p>
          <a:p>
            <a:endParaRPr lang="en-US" dirty="0"/>
          </a:p>
        </p:txBody>
      </p:sp>
    </p:spTree>
    <p:extLst>
      <p:ext uri="{BB962C8B-B14F-4D97-AF65-F5344CB8AC3E}">
        <p14:creationId xmlns:p14="http://schemas.microsoft.com/office/powerpoint/2010/main" val="4148355510"/>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BA5C69-B822-9D04-7931-EB7AC9ECB9A5}"/>
              </a:ext>
            </a:extLst>
          </p:cNvPr>
          <p:cNvSpPr>
            <a:spLocks noGrp="1"/>
          </p:cNvSpPr>
          <p:nvPr>
            <p:ph type="title"/>
          </p:nvPr>
        </p:nvSpPr>
        <p:spPr/>
        <p:txBody>
          <a:bodyPr/>
          <a:lstStyle/>
          <a:p>
            <a:r>
              <a:rPr lang="en-US" dirty="0"/>
              <a:t>Python Lab 5</a:t>
            </a:r>
          </a:p>
        </p:txBody>
      </p:sp>
      <p:sp>
        <p:nvSpPr>
          <p:cNvPr id="3" name="Content Placeholder 2">
            <a:extLst>
              <a:ext uri="{FF2B5EF4-FFF2-40B4-BE49-F238E27FC236}">
                <a16:creationId xmlns:a16="http://schemas.microsoft.com/office/drawing/2014/main" id="{9B3FD2CE-798C-2996-3858-B9FB40CF7BC1}"/>
              </a:ext>
            </a:extLst>
          </p:cNvPr>
          <p:cNvSpPr>
            <a:spLocks noGrp="1"/>
          </p:cNvSpPr>
          <p:nvPr>
            <p:ph idx="1"/>
          </p:nvPr>
        </p:nvSpPr>
        <p:spPr/>
        <p:txBody>
          <a:bodyPr/>
          <a:lstStyle/>
          <a:p>
            <a:r>
              <a:rPr lang="en-US" dirty="0">
                <a:hlinkClick r:id="rId2"/>
              </a:rPr>
              <a:t>https://colab.research.google.com/drive/1G_Gci9v5UGOrZ8FC44bOhN7xMxGAwnvr?usp=sharing</a:t>
            </a:r>
            <a:endParaRPr lang="en-US" dirty="0"/>
          </a:p>
          <a:p>
            <a:endParaRPr lang="en-US" dirty="0"/>
          </a:p>
          <a:p>
            <a:r>
              <a:rPr lang="en-US" dirty="0"/>
              <a:t>Relevance Feedback Analysis using Rocchio Algorithm</a:t>
            </a:r>
          </a:p>
        </p:txBody>
      </p:sp>
    </p:spTree>
    <p:extLst>
      <p:ext uri="{BB962C8B-B14F-4D97-AF65-F5344CB8AC3E}">
        <p14:creationId xmlns:p14="http://schemas.microsoft.com/office/powerpoint/2010/main" val="1025585522"/>
      </p:ext>
    </p:extLst>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133CB4A-9608-3779-6ADE-85EBEF4CA30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2640637-EF53-0F91-C4FC-6B197437826F}"/>
              </a:ext>
            </a:extLst>
          </p:cNvPr>
          <p:cNvSpPr>
            <a:spLocks noGrp="1"/>
          </p:cNvSpPr>
          <p:nvPr>
            <p:ph type="title"/>
          </p:nvPr>
        </p:nvSpPr>
        <p:spPr/>
        <p:txBody>
          <a:bodyPr/>
          <a:lstStyle/>
          <a:p>
            <a:r>
              <a:rPr lang="en-US" dirty="0"/>
              <a:t>Unit 1: Vector Space Model of Retrieval</a:t>
            </a:r>
          </a:p>
        </p:txBody>
      </p:sp>
      <p:sp>
        <p:nvSpPr>
          <p:cNvPr id="3" name="Content Placeholder 2">
            <a:extLst>
              <a:ext uri="{FF2B5EF4-FFF2-40B4-BE49-F238E27FC236}">
                <a16:creationId xmlns:a16="http://schemas.microsoft.com/office/drawing/2014/main" id="{D79EE32F-FB55-34E5-C9F4-562B47A3B5B0}"/>
              </a:ext>
            </a:extLst>
          </p:cNvPr>
          <p:cNvSpPr>
            <a:spLocks noGrp="1"/>
          </p:cNvSpPr>
          <p:nvPr>
            <p:ph idx="1"/>
          </p:nvPr>
        </p:nvSpPr>
        <p:spPr/>
        <p:txBody>
          <a:bodyPr>
            <a:normAutofit fontScale="55000" lnSpcReduction="20000"/>
          </a:bodyPr>
          <a:lstStyle/>
          <a:p>
            <a:r>
              <a:rPr lang="en-US" strike="sngStrike" dirty="0"/>
              <a:t>Word Statistics</a:t>
            </a:r>
          </a:p>
          <a:p>
            <a:r>
              <a:rPr lang="en-US" strike="sngStrike" dirty="0"/>
              <a:t>Text preprocessing</a:t>
            </a:r>
          </a:p>
          <a:p>
            <a:r>
              <a:rPr lang="en-US" strike="sngStrike" dirty="0"/>
              <a:t>Term Weighing</a:t>
            </a:r>
          </a:p>
          <a:p>
            <a:r>
              <a:rPr lang="en-US" strike="sngStrike" dirty="0"/>
              <a:t>Similarity Function</a:t>
            </a:r>
          </a:p>
          <a:p>
            <a:r>
              <a:rPr lang="en-US" strike="sngStrike" dirty="0"/>
              <a:t>Indexing</a:t>
            </a:r>
          </a:p>
          <a:p>
            <a:r>
              <a:rPr lang="en-US" strike="sngStrike" dirty="0"/>
              <a:t>Relevance Feedback</a:t>
            </a:r>
          </a:p>
          <a:p>
            <a:r>
              <a:rPr lang="en-US" dirty="0"/>
              <a:t>Query Expansion(With Local Analysis from External Resources)</a:t>
            </a:r>
          </a:p>
          <a:p>
            <a:r>
              <a:rPr lang="en-US" dirty="0"/>
              <a:t>The impact of Document Normalization</a:t>
            </a:r>
          </a:p>
          <a:p>
            <a:r>
              <a:rPr lang="en-US" dirty="0"/>
              <a:t>Multi-Field Retrieval</a:t>
            </a:r>
          </a:p>
          <a:p>
            <a:r>
              <a:rPr lang="en-US" dirty="0"/>
              <a:t>Evaluation of Retrieval</a:t>
            </a:r>
          </a:p>
          <a:p>
            <a:r>
              <a:rPr lang="en-US" dirty="0"/>
              <a:t>Applications</a:t>
            </a:r>
          </a:p>
          <a:p>
            <a:r>
              <a:rPr lang="en-US" dirty="0"/>
              <a:t>Disadvantages</a:t>
            </a:r>
          </a:p>
          <a:p>
            <a:r>
              <a:rPr lang="en-US" dirty="0"/>
              <a:t>Incentives for Engaging in Electronic Commerce</a:t>
            </a:r>
          </a:p>
          <a:p>
            <a:r>
              <a:rPr lang="en-US" dirty="0"/>
              <a:t>Forces behind E-</a:t>
            </a:r>
            <a:r>
              <a:rPr lang="en-US" dirty="0" err="1"/>
              <a:t>commerece</a:t>
            </a:r>
            <a:endParaRPr lang="en-US" dirty="0"/>
          </a:p>
        </p:txBody>
      </p:sp>
    </p:spTree>
    <p:extLst>
      <p:ext uri="{BB962C8B-B14F-4D97-AF65-F5344CB8AC3E}">
        <p14:creationId xmlns:p14="http://schemas.microsoft.com/office/powerpoint/2010/main" val="2398462129"/>
      </p:ext>
    </p:extLst>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71467B8-7554-9A5C-1176-20D39873675D}"/>
              </a:ext>
            </a:extLst>
          </p:cNvPr>
          <p:cNvSpPr>
            <a:spLocks noGrp="1"/>
          </p:cNvSpPr>
          <p:nvPr>
            <p:ph type="title"/>
          </p:nvPr>
        </p:nvSpPr>
        <p:spPr/>
        <p:txBody>
          <a:bodyPr>
            <a:normAutofit fontScale="90000"/>
          </a:bodyPr>
          <a:lstStyle/>
          <a:p>
            <a:r>
              <a:rPr lang="en-US" dirty="0"/>
              <a:t>Query expansion (with local analysis – from external resources)</a:t>
            </a:r>
            <a:br>
              <a:rPr lang="en-US" dirty="0"/>
            </a:br>
            <a:endParaRPr lang="en-US" dirty="0"/>
          </a:p>
        </p:txBody>
      </p:sp>
      <p:sp>
        <p:nvSpPr>
          <p:cNvPr id="3" name="Content Placeholder 2">
            <a:extLst>
              <a:ext uri="{FF2B5EF4-FFF2-40B4-BE49-F238E27FC236}">
                <a16:creationId xmlns:a16="http://schemas.microsoft.com/office/drawing/2014/main" id="{81652D43-DD86-5A5B-CA82-74A95693DBA1}"/>
              </a:ext>
            </a:extLst>
          </p:cNvPr>
          <p:cNvSpPr>
            <a:spLocks noGrp="1"/>
          </p:cNvSpPr>
          <p:nvPr>
            <p:ph idx="1"/>
          </p:nvPr>
        </p:nvSpPr>
        <p:spPr/>
        <p:txBody>
          <a:bodyPr/>
          <a:lstStyle/>
          <a:p>
            <a:pPr algn="just"/>
            <a:r>
              <a:rPr lang="en-US" dirty="0"/>
              <a:t>Query expansion with local analysis from external resources is a technique used in information retrieval to improve the relevance of search results by augmenting the original user query with additional terms or phrases. </a:t>
            </a:r>
          </a:p>
          <a:p>
            <a:pPr algn="just"/>
            <a:r>
              <a:rPr lang="en-US" dirty="0"/>
              <a:t>Unlike traditional query expansion methods that rely solely on the terms present in the document collection, this approach leverages external resources, such as knowledge bases, ontologies, or external corpora, to enrich the query with contextually relevant terms.</a:t>
            </a:r>
          </a:p>
          <a:p>
            <a:endParaRPr lang="en-US" dirty="0"/>
          </a:p>
          <a:p>
            <a:endParaRPr lang="en-US" dirty="0"/>
          </a:p>
        </p:txBody>
      </p:sp>
    </p:spTree>
    <p:extLst>
      <p:ext uri="{BB962C8B-B14F-4D97-AF65-F5344CB8AC3E}">
        <p14:creationId xmlns:p14="http://schemas.microsoft.com/office/powerpoint/2010/main" val="1664204314"/>
      </p:ext>
    </p:extLst>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57056F8-2805-406B-67D0-66713E3547AA}"/>
              </a:ext>
            </a:extLst>
          </p:cNvPr>
          <p:cNvSpPr>
            <a:spLocks noGrp="1"/>
          </p:cNvSpPr>
          <p:nvPr>
            <p:ph type="title"/>
          </p:nvPr>
        </p:nvSpPr>
        <p:spPr/>
        <p:txBody>
          <a:bodyPr>
            <a:normAutofit fontScale="90000"/>
          </a:bodyPr>
          <a:lstStyle/>
          <a:p>
            <a:r>
              <a:rPr lang="en-US" dirty="0"/>
              <a:t>Query expansion (with local analysis – from external resources)</a:t>
            </a:r>
            <a:br>
              <a:rPr lang="en-US" dirty="0"/>
            </a:br>
            <a:endParaRPr lang="en-US" dirty="0"/>
          </a:p>
        </p:txBody>
      </p:sp>
      <p:sp>
        <p:nvSpPr>
          <p:cNvPr id="3" name="Content Placeholder 2">
            <a:extLst>
              <a:ext uri="{FF2B5EF4-FFF2-40B4-BE49-F238E27FC236}">
                <a16:creationId xmlns:a16="http://schemas.microsoft.com/office/drawing/2014/main" id="{8813461B-CF38-B999-E326-2EF4D48C911E}"/>
              </a:ext>
            </a:extLst>
          </p:cNvPr>
          <p:cNvSpPr>
            <a:spLocks noGrp="1"/>
          </p:cNvSpPr>
          <p:nvPr>
            <p:ph idx="1"/>
          </p:nvPr>
        </p:nvSpPr>
        <p:spPr/>
        <p:txBody>
          <a:bodyPr>
            <a:normAutofit fontScale="92500" lnSpcReduction="20000"/>
          </a:bodyPr>
          <a:lstStyle/>
          <a:p>
            <a:pPr marL="0" indent="0">
              <a:buNone/>
            </a:pPr>
            <a:r>
              <a:rPr lang="en-IN" i="1" dirty="0"/>
              <a:t>1. </a:t>
            </a:r>
            <a:r>
              <a:rPr lang="en-IN" dirty="0"/>
              <a:t>Initial Query Processing:</a:t>
            </a:r>
          </a:p>
          <a:p>
            <a:pPr marL="0" indent="0">
              <a:buNone/>
            </a:pPr>
            <a:r>
              <a:rPr lang="en-IN" dirty="0"/>
              <a:t>The retrieval process starts with an initial user query, typically consisting of a set of keywords</a:t>
            </a:r>
          </a:p>
          <a:p>
            <a:pPr marL="0" indent="0">
              <a:buNone/>
            </a:pPr>
            <a:r>
              <a:rPr lang="en-IN" dirty="0"/>
              <a:t>or phrases that describe the user's information need.</a:t>
            </a:r>
          </a:p>
          <a:p>
            <a:pPr marL="0" indent="0">
              <a:buNone/>
            </a:pPr>
            <a:r>
              <a:rPr lang="en-IN" dirty="0"/>
              <a:t>2. Local Analysis:</a:t>
            </a:r>
          </a:p>
          <a:p>
            <a:pPr marL="0" indent="0">
              <a:buNone/>
            </a:pPr>
            <a:r>
              <a:rPr lang="en-IN" dirty="0"/>
              <a:t>The original query is </a:t>
            </a:r>
            <a:r>
              <a:rPr lang="en-IN" dirty="0" err="1"/>
              <a:t>analyzed</a:t>
            </a:r>
            <a:r>
              <a:rPr lang="en-IN" dirty="0"/>
              <a:t> locally within the document collection to identify terms that are likely to be relevant to the user's query based on their co-occurrence patterns or semantic similarity with the query terms. Techniques such as term frequency-inverse document frequency (TF-IDF), co-occurrence analysis, or latent semantic analysis (LSA) may be employed to identify important terms or concepts within the document collection.</a:t>
            </a:r>
          </a:p>
          <a:p>
            <a:endParaRPr lang="en-US" dirty="0"/>
          </a:p>
        </p:txBody>
      </p:sp>
    </p:spTree>
    <p:extLst>
      <p:ext uri="{BB962C8B-B14F-4D97-AF65-F5344CB8AC3E}">
        <p14:creationId xmlns:p14="http://schemas.microsoft.com/office/powerpoint/2010/main" val="553676664"/>
      </p:ext>
    </p:extLst>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5E1B5AEA-01E1-3F38-932E-5AE163FCBCC8}"/>
              </a:ext>
            </a:extLst>
          </p:cNvPr>
          <p:cNvSpPr>
            <a:spLocks noGrp="1"/>
          </p:cNvSpPr>
          <p:nvPr>
            <p:ph idx="1"/>
          </p:nvPr>
        </p:nvSpPr>
        <p:spPr>
          <a:xfrm>
            <a:off x="838200" y="297180"/>
            <a:ext cx="10515600" cy="5879783"/>
          </a:xfrm>
        </p:spPr>
        <p:txBody>
          <a:bodyPr>
            <a:normAutofit/>
          </a:bodyPr>
          <a:lstStyle/>
          <a:p>
            <a:pPr marL="0" indent="0">
              <a:buNone/>
            </a:pPr>
            <a:r>
              <a:rPr lang="en-US" dirty="0"/>
              <a:t>3. External Resources:</a:t>
            </a:r>
          </a:p>
          <a:p>
            <a:pPr marL="0" indent="0" algn="just">
              <a:buNone/>
            </a:pPr>
            <a:r>
              <a:rPr lang="en-IN" dirty="0"/>
              <a:t>External resources, such as domain-specific knowledge bases, ontologies, or external corpora, are consulted to retrieve additional terms or concepts related to the original query.  These external resources provide contextual information and semantic relationships that may not be explicitly present in the document collection but are relevant to the user's information need.</a:t>
            </a:r>
          </a:p>
          <a:p>
            <a:pPr marL="0" indent="0">
              <a:buNone/>
            </a:pPr>
            <a:r>
              <a:rPr lang="en-IN" dirty="0"/>
              <a:t>4. Query Expansion:</a:t>
            </a:r>
          </a:p>
          <a:p>
            <a:pPr marL="0" indent="0" algn="just">
              <a:buNone/>
            </a:pPr>
            <a:r>
              <a:rPr lang="en-IN" dirty="0"/>
              <a:t>The terms or concepts obtained from the external resources are added to the original query to expand its scope and capture a broader range of relevant documents. Techniques such as term weighting, relevance feedback, or semantic similarity measures maybe used to determine the importance or relevance of the expanded terms relative to the original query.</a:t>
            </a:r>
          </a:p>
          <a:p>
            <a:endParaRPr lang="en-US" dirty="0"/>
          </a:p>
          <a:p>
            <a:endParaRPr lang="en-US" dirty="0"/>
          </a:p>
        </p:txBody>
      </p:sp>
    </p:spTree>
    <p:extLst>
      <p:ext uri="{BB962C8B-B14F-4D97-AF65-F5344CB8AC3E}">
        <p14:creationId xmlns:p14="http://schemas.microsoft.com/office/powerpoint/2010/main" val="629298121"/>
      </p:ext>
    </p:extLst>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1F5149C6-DC7C-9440-569D-A881FDA50BB8}"/>
              </a:ext>
            </a:extLst>
          </p:cNvPr>
          <p:cNvSpPr>
            <a:spLocks noGrp="1"/>
          </p:cNvSpPr>
          <p:nvPr>
            <p:ph idx="1"/>
          </p:nvPr>
        </p:nvSpPr>
        <p:spPr>
          <a:xfrm>
            <a:off x="838200" y="297180"/>
            <a:ext cx="10515600" cy="5879783"/>
          </a:xfrm>
        </p:spPr>
        <p:txBody>
          <a:bodyPr>
            <a:normAutofit/>
          </a:bodyPr>
          <a:lstStyle/>
          <a:p>
            <a:pPr marL="0" indent="0">
              <a:buNone/>
            </a:pPr>
            <a:r>
              <a:rPr lang="en-IN" i="1" dirty="0"/>
              <a:t>5</a:t>
            </a:r>
            <a:r>
              <a:rPr lang="en-IN" dirty="0"/>
              <a:t>. Re-Retrieval:</a:t>
            </a:r>
          </a:p>
          <a:p>
            <a:pPr marL="0" indent="0" algn="just">
              <a:buNone/>
            </a:pPr>
            <a:r>
              <a:rPr lang="en-IN" dirty="0"/>
              <a:t>The expanded query is used to perform another round of retrieval from the document collection, incorporating both the original query terms and the expanded terms. The retrieval system ranks the retrieved documents based on their relevance to the expanded query, taking into account the enriched representation of the user's information need.</a:t>
            </a:r>
          </a:p>
          <a:p>
            <a:pPr marL="0" indent="0">
              <a:buNone/>
            </a:pPr>
            <a:r>
              <a:rPr lang="en-US" dirty="0"/>
              <a:t>6. Presentation of Results:</a:t>
            </a:r>
          </a:p>
          <a:p>
            <a:pPr marL="0" indent="0" algn="just">
              <a:buNone/>
            </a:pPr>
            <a:r>
              <a:rPr lang="en-US" dirty="0"/>
              <a:t>The final ranked list of documents, incorporating the expanded query terms, is presented to the user as the search results. The user can then review the documents and find the information they are looking for, with potentially improved relevance due to the incorporation of additional terms from external resources.</a:t>
            </a:r>
          </a:p>
        </p:txBody>
      </p:sp>
    </p:spTree>
    <p:extLst>
      <p:ext uri="{BB962C8B-B14F-4D97-AF65-F5344CB8AC3E}">
        <p14:creationId xmlns:p14="http://schemas.microsoft.com/office/powerpoint/2010/main" val="173884102"/>
      </p:ext>
    </p:extLst>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00D0C45-6F3A-EF1B-CC91-A9638E3E6005}"/>
              </a:ext>
            </a:extLst>
          </p:cNvPr>
          <p:cNvSpPr>
            <a:spLocks noGrp="1"/>
          </p:cNvSpPr>
          <p:nvPr>
            <p:ph type="title"/>
          </p:nvPr>
        </p:nvSpPr>
        <p:spPr/>
        <p:txBody>
          <a:bodyPr>
            <a:normAutofit fontScale="90000"/>
          </a:bodyPr>
          <a:lstStyle/>
          <a:p>
            <a:r>
              <a:rPr lang="en-US" dirty="0"/>
              <a:t>Query expansion (with local analysis – from external resources)</a:t>
            </a:r>
            <a:br>
              <a:rPr lang="en-US" dirty="0"/>
            </a:br>
            <a:endParaRPr lang="en-US" dirty="0"/>
          </a:p>
        </p:txBody>
      </p:sp>
      <p:sp>
        <p:nvSpPr>
          <p:cNvPr id="3" name="Content Placeholder 2">
            <a:extLst>
              <a:ext uri="{FF2B5EF4-FFF2-40B4-BE49-F238E27FC236}">
                <a16:creationId xmlns:a16="http://schemas.microsoft.com/office/drawing/2014/main" id="{E1C779BE-8364-12B5-8E09-50000FEBDE8B}"/>
              </a:ext>
            </a:extLst>
          </p:cNvPr>
          <p:cNvSpPr>
            <a:spLocks noGrp="1"/>
          </p:cNvSpPr>
          <p:nvPr>
            <p:ph idx="1"/>
          </p:nvPr>
        </p:nvSpPr>
        <p:spPr/>
        <p:txBody>
          <a:bodyPr/>
          <a:lstStyle/>
          <a:p>
            <a:r>
              <a:rPr lang="en-US" dirty="0"/>
              <a:t>By leveraging external resources to enrich the original user query, query expansion with local analysis from external resources can help bridge the gap between the user's information need and the documents available in the collection, leading to more accurate and satisfying search results.</a:t>
            </a:r>
          </a:p>
          <a:p>
            <a:endParaRPr lang="en-US" dirty="0"/>
          </a:p>
        </p:txBody>
      </p:sp>
    </p:spTree>
    <p:extLst>
      <p:ext uri="{BB962C8B-B14F-4D97-AF65-F5344CB8AC3E}">
        <p14:creationId xmlns:p14="http://schemas.microsoft.com/office/powerpoint/2010/main" val="1310835726"/>
      </p:ext>
    </p:extLst>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F5DB645-D1EB-F244-8DC7-9BE2CEB6CF7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BE87146-80AA-4580-6928-8D0CA73CA647}"/>
              </a:ext>
            </a:extLst>
          </p:cNvPr>
          <p:cNvSpPr>
            <a:spLocks noGrp="1"/>
          </p:cNvSpPr>
          <p:nvPr>
            <p:ph type="title"/>
          </p:nvPr>
        </p:nvSpPr>
        <p:spPr/>
        <p:txBody>
          <a:bodyPr/>
          <a:lstStyle/>
          <a:p>
            <a:r>
              <a:rPr lang="en-US" dirty="0"/>
              <a:t>Unit 1: Vector Space Model of Retrieval</a:t>
            </a:r>
          </a:p>
        </p:txBody>
      </p:sp>
      <p:sp>
        <p:nvSpPr>
          <p:cNvPr id="3" name="Content Placeholder 2">
            <a:extLst>
              <a:ext uri="{FF2B5EF4-FFF2-40B4-BE49-F238E27FC236}">
                <a16:creationId xmlns:a16="http://schemas.microsoft.com/office/drawing/2014/main" id="{8EA3F81A-060D-A6F7-46C6-393BF9A01AD2}"/>
              </a:ext>
            </a:extLst>
          </p:cNvPr>
          <p:cNvSpPr>
            <a:spLocks noGrp="1"/>
          </p:cNvSpPr>
          <p:nvPr>
            <p:ph idx="1"/>
          </p:nvPr>
        </p:nvSpPr>
        <p:spPr/>
        <p:txBody>
          <a:bodyPr>
            <a:normAutofit fontScale="55000" lnSpcReduction="20000"/>
          </a:bodyPr>
          <a:lstStyle/>
          <a:p>
            <a:r>
              <a:rPr lang="en-US" strike="sngStrike" dirty="0"/>
              <a:t>Word Statistics</a:t>
            </a:r>
          </a:p>
          <a:p>
            <a:r>
              <a:rPr lang="en-US" strike="sngStrike" dirty="0"/>
              <a:t>Text preprocessing</a:t>
            </a:r>
          </a:p>
          <a:p>
            <a:r>
              <a:rPr lang="en-US" strike="sngStrike" dirty="0"/>
              <a:t>Term Weighing</a:t>
            </a:r>
          </a:p>
          <a:p>
            <a:r>
              <a:rPr lang="en-US" strike="sngStrike" dirty="0"/>
              <a:t>Similarity Function</a:t>
            </a:r>
          </a:p>
          <a:p>
            <a:r>
              <a:rPr lang="en-US" strike="sngStrike" dirty="0"/>
              <a:t>Indexing</a:t>
            </a:r>
          </a:p>
          <a:p>
            <a:r>
              <a:rPr lang="en-US" strike="sngStrike" dirty="0"/>
              <a:t>Relevance Feedback</a:t>
            </a:r>
          </a:p>
          <a:p>
            <a:r>
              <a:rPr lang="en-US" strike="sngStrike" dirty="0"/>
              <a:t>Query Expansion(With Local Analysis from External Resources)</a:t>
            </a:r>
          </a:p>
          <a:p>
            <a:r>
              <a:rPr lang="en-US" dirty="0"/>
              <a:t>The impact of Document Normalization</a:t>
            </a:r>
          </a:p>
          <a:p>
            <a:r>
              <a:rPr lang="en-US" dirty="0"/>
              <a:t>Multi-Field Retrieval</a:t>
            </a:r>
          </a:p>
          <a:p>
            <a:r>
              <a:rPr lang="en-US" dirty="0"/>
              <a:t>Evaluation of Retrieval</a:t>
            </a:r>
          </a:p>
          <a:p>
            <a:r>
              <a:rPr lang="en-US" dirty="0"/>
              <a:t>Applications</a:t>
            </a:r>
          </a:p>
          <a:p>
            <a:r>
              <a:rPr lang="en-US" dirty="0"/>
              <a:t>Disadvantages</a:t>
            </a:r>
          </a:p>
          <a:p>
            <a:r>
              <a:rPr lang="en-US" dirty="0"/>
              <a:t>Incentives for Engaging in Electronic Commerce</a:t>
            </a:r>
          </a:p>
          <a:p>
            <a:r>
              <a:rPr lang="en-US" dirty="0"/>
              <a:t>Forces behind E-</a:t>
            </a:r>
            <a:r>
              <a:rPr lang="en-US" dirty="0" err="1"/>
              <a:t>commerece</a:t>
            </a:r>
            <a:endParaRPr lang="en-US" dirty="0"/>
          </a:p>
        </p:txBody>
      </p:sp>
    </p:spTree>
    <p:extLst>
      <p:ext uri="{BB962C8B-B14F-4D97-AF65-F5344CB8AC3E}">
        <p14:creationId xmlns:p14="http://schemas.microsoft.com/office/powerpoint/2010/main" val="3917689794"/>
      </p:ext>
    </p:extLst>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13BC838-B584-DC3B-A114-B2D03A209BE7}"/>
              </a:ext>
            </a:extLst>
          </p:cNvPr>
          <p:cNvSpPr>
            <a:spLocks noGrp="1"/>
          </p:cNvSpPr>
          <p:nvPr>
            <p:ph type="title"/>
          </p:nvPr>
        </p:nvSpPr>
        <p:spPr/>
        <p:txBody>
          <a:bodyPr/>
          <a:lstStyle/>
          <a:p>
            <a:r>
              <a:rPr lang="en-US" dirty="0"/>
              <a:t>The impact of document normalization</a:t>
            </a:r>
            <a:br>
              <a:rPr lang="en-US" dirty="0"/>
            </a:br>
            <a:endParaRPr lang="en-US" dirty="0"/>
          </a:p>
        </p:txBody>
      </p:sp>
      <p:sp>
        <p:nvSpPr>
          <p:cNvPr id="3" name="Content Placeholder 2">
            <a:extLst>
              <a:ext uri="{FF2B5EF4-FFF2-40B4-BE49-F238E27FC236}">
                <a16:creationId xmlns:a16="http://schemas.microsoft.com/office/drawing/2014/main" id="{F3EE324F-7910-F2E5-00BC-326870A06E28}"/>
              </a:ext>
            </a:extLst>
          </p:cNvPr>
          <p:cNvSpPr>
            <a:spLocks noGrp="1"/>
          </p:cNvSpPr>
          <p:nvPr>
            <p:ph idx="1"/>
          </p:nvPr>
        </p:nvSpPr>
        <p:spPr/>
        <p:txBody>
          <a:bodyPr/>
          <a:lstStyle/>
          <a:p>
            <a:pPr algn="just"/>
            <a:r>
              <a:rPr lang="en-US" dirty="0"/>
              <a:t>Document normalization refers to the process of standardizing or transforming documents in a text corpus to a common representation, often to improve the performance of information retrieval (IR)systems. </a:t>
            </a:r>
          </a:p>
          <a:p>
            <a:pPr algn="just"/>
            <a:r>
              <a:rPr lang="en-US" dirty="0"/>
              <a:t>The impact of document normalization on IR systems can be significant and can influence various aspects of retrieval effectiveness.</a:t>
            </a:r>
          </a:p>
          <a:p>
            <a:endParaRPr lang="en-US" dirty="0"/>
          </a:p>
        </p:txBody>
      </p:sp>
    </p:spTree>
    <p:extLst>
      <p:ext uri="{BB962C8B-B14F-4D97-AF65-F5344CB8AC3E}">
        <p14:creationId xmlns:p14="http://schemas.microsoft.com/office/powerpoint/2010/main" val="1582931235"/>
      </p:ext>
    </p:extLst>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04D12DC-B240-EC24-67E9-4B723FAD6B1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F7BB9E3-AB1F-2704-7A17-CD3813D1A1D5}"/>
              </a:ext>
            </a:extLst>
          </p:cNvPr>
          <p:cNvSpPr>
            <a:spLocks noGrp="1"/>
          </p:cNvSpPr>
          <p:nvPr>
            <p:ph type="title"/>
          </p:nvPr>
        </p:nvSpPr>
        <p:spPr/>
        <p:txBody>
          <a:bodyPr/>
          <a:lstStyle/>
          <a:p>
            <a:r>
              <a:rPr lang="en-US" dirty="0"/>
              <a:t>The impact of document normalization</a:t>
            </a:r>
            <a:br>
              <a:rPr lang="en-US" dirty="0"/>
            </a:br>
            <a:endParaRPr lang="en-US" dirty="0"/>
          </a:p>
        </p:txBody>
      </p:sp>
      <p:sp>
        <p:nvSpPr>
          <p:cNvPr id="3" name="Content Placeholder 2">
            <a:extLst>
              <a:ext uri="{FF2B5EF4-FFF2-40B4-BE49-F238E27FC236}">
                <a16:creationId xmlns:a16="http://schemas.microsoft.com/office/drawing/2014/main" id="{B3D53116-1884-7D0F-14F7-03AD398037B8}"/>
              </a:ext>
            </a:extLst>
          </p:cNvPr>
          <p:cNvSpPr>
            <a:spLocks noGrp="1"/>
          </p:cNvSpPr>
          <p:nvPr>
            <p:ph idx="1"/>
          </p:nvPr>
        </p:nvSpPr>
        <p:spPr/>
        <p:txBody>
          <a:bodyPr>
            <a:normAutofit lnSpcReduction="10000"/>
          </a:bodyPr>
          <a:lstStyle/>
          <a:p>
            <a:pPr algn="just"/>
            <a:r>
              <a:rPr lang="en-IN" dirty="0"/>
              <a:t>Improved Retrieval Accuracy: Document normalization can help improve the accuracy of retrieval by reducing the variability in document representations. By standardizing aspects such as capitalization, punctuation, and word forms (e.g., converting words to their base forms through stemming or lemmatization), normalization ensures that similar documents are more likely to be retrieved for a given query.  For example, without normalization, "car" and "cars" might be treated as different terms, leading to potentially relevant documents being missed. Normalization ensures that variations of terms are mapped to a common representation, increasing the likelihood of retrieving relevant documents.</a:t>
            </a:r>
          </a:p>
          <a:p>
            <a:endParaRPr lang="en-IN" dirty="0"/>
          </a:p>
          <a:p>
            <a:endParaRPr lang="en-US" dirty="0"/>
          </a:p>
        </p:txBody>
      </p:sp>
    </p:spTree>
    <p:extLst>
      <p:ext uri="{BB962C8B-B14F-4D97-AF65-F5344CB8AC3E}">
        <p14:creationId xmlns:p14="http://schemas.microsoft.com/office/powerpoint/2010/main" val="2011726675"/>
      </p:ext>
    </p:extLst>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E2AEE20-D62B-9DD0-E80E-13256C7E51C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DF6A730-7948-0DC8-2943-400E7D28FDBE}"/>
              </a:ext>
            </a:extLst>
          </p:cNvPr>
          <p:cNvSpPr>
            <a:spLocks noGrp="1"/>
          </p:cNvSpPr>
          <p:nvPr>
            <p:ph type="title"/>
          </p:nvPr>
        </p:nvSpPr>
        <p:spPr/>
        <p:txBody>
          <a:bodyPr/>
          <a:lstStyle/>
          <a:p>
            <a:r>
              <a:rPr lang="en-US" dirty="0"/>
              <a:t>The impact of document normalization</a:t>
            </a:r>
            <a:br>
              <a:rPr lang="en-US" dirty="0"/>
            </a:br>
            <a:endParaRPr lang="en-US" dirty="0"/>
          </a:p>
        </p:txBody>
      </p:sp>
      <p:sp>
        <p:nvSpPr>
          <p:cNvPr id="3" name="Content Placeholder 2">
            <a:extLst>
              <a:ext uri="{FF2B5EF4-FFF2-40B4-BE49-F238E27FC236}">
                <a16:creationId xmlns:a16="http://schemas.microsoft.com/office/drawing/2014/main" id="{A93F4CEB-674D-A219-A95F-EC130824B069}"/>
              </a:ext>
            </a:extLst>
          </p:cNvPr>
          <p:cNvSpPr>
            <a:spLocks noGrp="1"/>
          </p:cNvSpPr>
          <p:nvPr>
            <p:ph idx="1"/>
          </p:nvPr>
        </p:nvSpPr>
        <p:spPr/>
        <p:txBody>
          <a:bodyPr>
            <a:normAutofit/>
          </a:bodyPr>
          <a:lstStyle/>
          <a:p>
            <a:pPr algn="just"/>
            <a:r>
              <a:rPr lang="en-IN" b="1" dirty="0"/>
              <a:t>Reduced Lexical Ambiguity</a:t>
            </a:r>
            <a:r>
              <a:rPr lang="en-IN" dirty="0"/>
              <a:t>: Document normalization techniques such as stemming and lemmatization can help reduce lexical ambiguity by transforming words to their base forms. This reduces the number of distinct terms in the vocabulary and helps capture the semantic similarity between related terms.</a:t>
            </a:r>
          </a:p>
          <a:p>
            <a:pPr algn="just"/>
            <a:r>
              <a:rPr lang="en-IN" dirty="0"/>
              <a:t>By reducing lexical variation, normalization can lead to more accurate retrieval results, especially in cases where documents contain synonyms, misspellings, or morphological variations of terms.</a:t>
            </a:r>
          </a:p>
          <a:p>
            <a:endParaRPr lang="en-IN" dirty="0"/>
          </a:p>
          <a:p>
            <a:endParaRPr lang="en-IN" dirty="0"/>
          </a:p>
          <a:p>
            <a:endParaRPr lang="en-US" dirty="0"/>
          </a:p>
        </p:txBody>
      </p:sp>
    </p:spTree>
    <p:extLst>
      <p:ext uri="{BB962C8B-B14F-4D97-AF65-F5344CB8AC3E}">
        <p14:creationId xmlns:p14="http://schemas.microsoft.com/office/powerpoint/2010/main" val="2694166820"/>
      </p:ext>
    </p:extLst>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551ABB4-A3C4-D67F-BEE3-F4B6999C8F6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3069CA0-11CB-5084-D048-3191D32C2379}"/>
              </a:ext>
            </a:extLst>
          </p:cNvPr>
          <p:cNvSpPr>
            <a:spLocks noGrp="1"/>
          </p:cNvSpPr>
          <p:nvPr>
            <p:ph type="title"/>
          </p:nvPr>
        </p:nvSpPr>
        <p:spPr/>
        <p:txBody>
          <a:bodyPr/>
          <a:lstStyle/>
          <a:p>
            <a:r>
              <a:rPr lang="en-US" dirty="0"/>
              <a:t>The impact of document normalization</a:t>
            </a:r>
            <a:br>
              <a:rPr lang="en-US" dirty="0"/>
            </a:br>
            <a:endParaRPr lang="en-US" dirty="0"/>
          </a:p>
        </p:txBody>
      </p:sp>
      <p:sp>
        <p:nvSpPr>
          <p:cNvPr id="3" name="Content Placeholder 2">
            <a:extLst>
              <a:ext uri="{FF2B5EF4-FFF2-40B4-BE49-F238E27FC236}">
                <a16:creationId xmlns:a16="http://schemas.microsoft.com/office/drawing/2014/main" id="{A8E9A6CA-814A-D901-CDD9-874059E72DAD}"/>
              </a:ext>
            </a:extLst>
          </p:cNvPr>
          <p:cNvSpPr>
            <a:spLocks noGrp="1"/>
          </p:cNvSpPr>
          <p:nvPr>
            <p:ph idx="1"/>
          </p:nvPr>
        </p:nvSpPr>
        <p:spPr/>
        <p:txBody>
          <a:bodyPr>
            <a:normAutofit/>
          </a:bodyPr>
          <a:lstStyle/>
          <a:p>
            <a:pPr algn="just"/>
            <a:r>
              <a:rPr lang="en-IN" b="1" dirty="0"/>
              <a:t>Minimized Effects of Stop Words</a:t>
            </a:r>
            <a:r>
              <a:rPr lang="en-IN" dirty="0"/>
              <a:t>: Stop words, such as "and," "the," and "of," are common words that occur frequently in documents but typically carry little semantic meaning. Normalization often involves removing stop words from documents to reduce noise in the index and improve retrieval efficiency.</a:t>
            </a:r>
          </a:p>
          <a:p>
            <a:pPr algn="just"/>
            <a:r>
              <a:rPr lang="en-IN" dirty="0"/>
              <a:t> By eliminating stop words, normalization can focus retrieval efforts on content-bearing terms that are more indicative of document relevance, thereby improving the precision of retrieval results.</a:t>
            </a:r>
          </a:p>
          <a:p>
            <a:endParaRPr lang="en-IN" dirty="0"/>
          </a:p>
          <a:p>
            <a:endParaRPr lang="en-IN" dirty="0"/>
          </a:p>
          <a:p>
            <a:endParaRPr lang="en-US" dirty="0"/>
          </a:p>
        </p:txBody>
      </p:sp>
    </p:spTree>
    <p:extLst>
      <p:ext uri="{BB962C8B-B14F-4D97-AF65-F5344CB8AC3E}">
        <p14:creationId xmlns:p14="http://schemas.microsoft.com/office/powerpoint/2010/main" val="4269780542"/>
      </p:ext>
    </p:extLst>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323963E-072C-984B-B0F6-6531E820634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DD2AE6E-1472-D4FD-C5B7-E1128B96823A}"/>
              </a:ext>
            </a:extLst>
          </p:cNvPr>
          <p:cNvSpPr>
            <a:spLocks noGrp="1"/>
          </p:cNvSpPr>
          <p:nvPr>
            <p:ph type="title"/>
          </p:nvPr>
        </p:nvSpPr>
        <p:spPr/>
        <p:txBody>
          <a:bodyPr/>
          <a:lstStyle/>
          <a:p>
            <a:r>
              <a:rPr lang="en-US" dirty="0"/>
              <a:t>The impact of document normalization</a:t>
            </a:r>
            <a:br>
              <a:rPr lang="en-US" dirty="0"/>
            </a:br>
            <a:endParaRPr lang="en-US" dirty="0"/>
          </a:p>
        </p:txBody>
      </p:sp>
      <p:sp>
        <p:nvSpPr>
          <p:cNvPr id="3" name="Content Placeholder 2">
            <a:extLst>
              <a:ext uri="{FF2B5EF4-FFF2-40B4-BE49-F238E27FC236}">
                <a16:creationId xmlns:a16="http://schemas.microsoft.com/office/drawing/2014/main" id="{BF7153F8-87A8-D10C-C97E-B33815843105}"/>
              </a:ext>
            </a:extLst>
          </p:cNvPr>
          <p:cNvSpPr>
            <a:spLocks noGrp="1"/>
          </p:cNvSpPr>
          <p:nvPr>
            <p:ph idx="1"/>
          </p:nvPr>
        </p:nvSpPr>
        <p:spPr/>
        <p:txBody>
          <a:bodyPr>
            <a:normAutofit/>
          </a:bodyPr>
          <a:lstStyle/>
          <a:p>
            <a:pPr algn="just"/>
            <a:r>
              <a:rPr lang="en-IN" b="1" dirty="0"/>
              <a:t>Enhanced Computational Efficiency </a:t>
            </a:r>
            <a:r>
              <a:rPr lang="en-IN" dirty="0"/>
              <a:t>: Normalization can contribute to improved computational efficiency in IR systems by reducing the size of the index and decreasing the processing time required for query evaluation.</a:t>
            </a:r>
          </a:p>
          <a:p>
            <a:pPr algn="just"/>
            <a:r>
              <a:rPr lang="en-IN" dirty="0"/>
              <a:t> By standardizing document representations and reducing the number of distinct terms, normalization can lead to smaller index sizes and faster retrieval times, especially in large-scale document collections.</a:t>
            </a:r>
          </a:p>
          <a:p>
            <a:endParaRPr lang="en-IN" dirty="0"/>
          </a:p>
          <a:p>
            <a:endParaRPr lang="en-IN" dirty="0"/>
          </a:p>
          <a:p>
            <a:endParaRPr lang="en-US" dirty="0"/>
          </a:p>
        </p:txBody>
      </p:sp>
    </p:spTree>
    <p:extLst>
      <p:ext uri="{BB962C8B-B14F-4D97-AF65-F5344CB8AC3E}">
        <p14:creationId xmlns:p14="http://schemas.microsoft.com/office/powerpoint/2010/main" val="3773530781"/>
      </p:ext>
    </p:extLst>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9A50183-16CB-E3F4-942E-6ABB4528E27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61C4065-139E-2660-6FAA-F192683C628A}"/>
              </a:ext>
            </a:extLst>
          </p:cNvPr>
          <p:cNvSpPr>
            <a:spLocks noGrp="1"/>
          </p:cNvSpPr>
          <p:nvPr>
            <p:ph type="title"/>
          </p:nvPr>
        </p:nvSpPr>
        <p:spPr/>
        <p:txBody>
          <a:bodyPr/>
          <a:lstStyle/>
          <a:p>
            <a:r>
              <a:rPr lang="en-US" dirty="0"/>
              <a:t>The impact of document normalization</a:t>
            </a:r>
            <a:br>
              <a:rPr lang="en-US" dirty="0"/>
            </a:br>
            <a:endParaRPr lang="en-US" dirty="0"/>
          </a:p>
        </p:txBody>
      </p:sp>
      <p:sp>
        <p:nvSpPr>
          <p:cNvPr id="3" name="Content Placeholder 2">
            <a:extLst>
              <a:ext uri="{FF2B5EF4-FFF2-40B4-BE49-F238E27FC236}">
                <a16:creationId xmlns:a16="http://schemas.microsoft.com/office/drawing/2014/main" id="{92629E22-5A01-A2CD-1E1D-5BC8A3F7624D}"/>
              </a:ext>
            </a:extLst>
          </p:cNvPr>
          <p:cNvSpPr>
            <a:spLocks noGrp="1"/>
          </p:cNvSpPr>
          <p:nvPr>
            <p:ph idx="1"/>
          </p:nvPr>
        </p:nvSpPr>
        <p:spPr/>
        <p:txBody>
          <a:bodyPr>
            <a:normAutofit/>
          </a:bodyPr>
          <a:lstStyle/>
          <a:p>
            <a:pPr algn="just"/>
            <a:r>
              <a:rPr lang="en-IN" b="1" dirty="0"/>
              <a:t>Impact on Recall and Precision </a:t>
            </a:r>
            <a:r>
              <a:rPr lang="en-IN" dirty="0"/>
              <a:t>: Document normalization can have varying effects on recall (the proportion of relevant documents retrieved) and precision (the proportion of retrieved documents that are relevant).</a:t>
            </a:r>
          </a:p>
          <a:p>
            <a:pPr algn="just"/>
            <a:r>
              <a:rPr lang="en-IN" dirty="0"/>
              <a:t>While normalization techniques such as stemming and lemmatization can improve recall by capturing variations of terms, they may also introduce noise or ambiguity that could affect precision. The choice of normalization technique should be carefully evaluated to strike a balance between recall and precision.</a:t>
            </a:r>
          </a:p>
          <a:p>
            <a:endParaRPr lang="en-IN" dirty="0"/>
          </a:p>
          <a:p>
            <a:endParaRPr lang="en-IN" dirty="0"/>
          </a:p>
          <a:p>
            <a:endParaRPr lang="en-US" dirty="0"/>
          </a:p>
        </p:txBody>
      </p:sp>
    </p:spTree>
    <p:extLst>
      <p:ext uri="{BB962C8B-B14F-4D97-AF65-F5344CB8AC3E}">
        <p14:creationId xmlns:p14="http://schemas.microsoft.com/office/powerpoint/2010/main" val="1929491059"/>
      </p:ext>
    </p:extLst>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00A63CE-DFCD-9C60-D993-731FCE248BE8}"/>
              </a:ext>
            </a:extLst>
          </p:cNvPr>
          <p:cNvSpPr>
            <a:spLocks noGrp="1"/>
          </p:cNvSpPr>
          <p:nvPr>
            <p:ph type="title"/>
          </p:nvPr>
        </p:nvSpPr>
        <p:spPr/>
        <p:txBody>
          <a:bodyPr/>
          <a:lstStyle/>
          <a:p>
            <a:r>
              <a:rPr lang="en-US" dirty="0"/>
              <a:t>The impact of document normalization</a:t>
            </a:r>
          </a:p>
        </p:txBody>
      </p:sp>
      <p:sp>
        <p:nvSpPr>
          <p:cNvPr id="3" name="Content Placeholder 2">
            <a:extLst>
              <a:ext uri="{FF2B5EF4-FFF2-40B4-BE49-F238E27FC236}">
                <a16:creationId xmlns:a16="http://schemas.microsoft.com/office/drawing/2014/main" id="{EB834929-2A6D-03F1-A524-FD53AB36E209}"/>
              </a:ext>
            </a:extLst>
          </p:cNvPr>
          <p:cNvSpPr>
            <a:spLocks noGrp="1"/>
          </p:cNvSpPr>
          <p:nvPr>
            <p:ph idx="1"/>
          </p:nvPr>
        </p:nvSpPr>
        <p:spPr/>
        <p:txBody>
          <a:bodyPr>
            <a:normAutofit/>
          </a:bodyPr>
          <a:lstStyle/>
          <a:p>
            <a:pPr algn="just"/>
            <a:r>
              <a:rPr lang="en-US" dirty="0"/>
              <a:t>In summary, document normalization plays a crucial role in information retrieval by standardizing document representations, reducing lexical ambiguity, minimizing the effects of stop words, enhancing computational efficiency and ultimately improving the accuracy of retrieval results.</a:t>
            </a:r>
          </a:p>
          <a:p>
            <a:pPr algn="just"/>
            <a:r>
              <a:rPr lang="en-US" dirty="0"/>
              <a:t>However, the impact of normalization on retrieval effectiveness may vary depending on factors such as the characteristics of the document collection, the choice of normalization techniques, and the specific retrieval tasks at hand.</a:t>
            </a:r>
          </a:p>
          <a:p>
            <a:endParaRPr lang="en-US" dirty="0"/>
          </a:p>
        </p:txBody>
      </p:sp>
    </p:spTree>
    <p:extLst>
      <p:ext uri="{BB962C8B-B14F-4D97-AF65-F5344CB8AC3E}">
        <p14:creationId xmlns:p14="http://schemas.microsoft.com/office/powerpoint/2010/main" val="2434532864"/>
      </p:ext>
    </p:extLst>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9937815-149D-439B-4E0C-6D54D968199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D0E1F81-D5DD-3314-8811-F9E813AF3C28}"/>
              </a:ext>
            </a:extLst>
          </p:cNvPr>
          <p:cNvSpPr>
            <a:spLocks noGrp="1"/>
          </p:cNvSpPr>
          <p:nvPr>
            <p:ph type="title"/>
          </p:nvPr>
        </p:nvSpPr>
        <p:spPr/>
        <p:txBody>
          <a:bodyPr/>
          <a:lstStyle/>
          <a:p>
            <a:r>
              <a:rPr lang="en-US" dirty="0"/>
              <a:t>Unit 1: Vector Space Model of Retrieval</a:t>
            </a:r>
          </a:p>
        </p:txBody>
      </p:sp>
      <p:sp>
        <p:nvSpPr>
          <p:cNvPr id="3" name="Content Placeholder 2">
            <a:extLst>
              <a:ext uri="{FF2B5EF4-FFF2-40B4-BE49-F238E27FC236}">
                <a16:creationId xmlns:a16="http://schemas.microsoft.com/office/drawing/2014/main" id="{E68377E7-2E8C-ADAD-D83F-0E7375501522}"/>
              </a:ext>
            </a:extLst>
          </p:cNvPr>
          <p:cNvSpPr>
            <a:spLocks noGrp="1"/>
          </p:cNvSpPr>
          <p:nvPr>
            <p:ph idx="1"/>
          </p:nvPr>
        </p:nvSpPr>
        <p:spPr/>
        <p:txBody>
          <a:bodyPr>
            <a:normAutofit fontScale="55000" lnSpcReduction="20000"/>
          </a:bodyPr>
          <a:lstStyle/>
          <a:p>
            <a:r>
              <a:rPr lang="en-US" strike="sngStrike" dirty="0"/>
              <a:t>Word Statistics</a:t>
            </a:r>
          </a:p>
          <a:p>
            <a:r>
              <a:rPr lang="en-US" strike="sngStrike" dirty="0"/>
              <a:t>Text preprocessing</a:t>
            </a:r>
          </a:p>
          <a:p>
            <a:r>
              <a:rPr lang="en-US" strike="sngStrike" dirty="0"/>
              <a:t>Term Weighing</a:t>
            </a:r>
          </a:p>
          <a:p>
            <a:r>
              <a:rPr lang="en-US" strike="sngStrike" dirty="0"/>
              <a:t>Similarity Function</a:t>
            </a:r>
          </a:p>
          <a:p>
            <a:r>
              <a:rPr lang="en-US" strike="sngStrike" dirty="0"/>
              <a:t>Indexing</a:t>
            </a:r>
          </a:p>
          <a:p>
            <a:r>
              <a:rPr lang="en-US" strike="sngStrike" dirty="0"/>
              <a:t>Relevance Feedback</a:t>
            </a:r>
          </a:p>
          <a:p>
            <a:r>
              <a:rPr lang="en-US" strike="sngStrike" dirty="0"/>
              <a:t>Query Expansion(With Local Analysis from External Resources)</a:t>
            </a:r>
          </a:p>
          <a:p>
            <a:r>
              <a:rPr lang="en-US" strike="sngStrike" dirty="0"/>
              <a:t>The impact of Document Normalization</a:t>
            </a:r>
          </a:p>
          <a:p>
            <a:r>
              <a:rPr lang="en-US" dirty="0"/>
              <a:t>Multi-Field Retrieval</a:t>
            </a:r>
          </a:p>
          <a:p>
            <a:r>
              <a:rPr lang="en-US" dirty="0"/>
              <a:t>Evaluation of Retrieval</a:t>
            </a:r>
          </a:p>
          <a:p>
            <a:r>
              <a:rPr lang="en-US" dirty="0"/>
              <a:t>Applications</a:t>
            </a:r>
          </a:p>
          <a:p>
            <a:r>
              <a:rPr lang="en-US" dirty="0"/>
              <a:t>Disadvantages</a:t>
            </a:r>
          </a:p>
          <a:p>
            <a:r>
              <a:rPr lang="en-US" dirty="0"/>
              <a:t>Incentives for Engaging in Electronic Commerce</a:t>
            </a:r>
          </a:p>
          <a:p>
            <a:r>
              <a:rPr lang="en-US" dirty="0"/>
              <a:t>Forces behind E-</a:t>
            </a:r>
            <a:r>
              <a:rPr lang="en-US" dirty="0" err="1"/>
              <a:t>commerece</a:t>
            </a:r>
            <a:endParaRPr lang="en-US" dirty="0"/>
          </a:p>
        </p:txBody>
      </p:sp>
    </p:spTree>
    <p:extLst>
      <p:ext uri="{BB962C8B-B14F-4D97-AF65-F5344CB8AC3E}">
        <p14:creationId xmlns:p14="http://schemas.microsoft.com/office/powerpoint/2010/main" val="3352797227"/>
      </p:ext>
    </p:extLst>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435D29A-86FC-1D8B-05DC-2C011C9EBA8E}"/>
              </a:ext>
            </a:extLst>
          </p:cNvPr>
          <p:cNvSpPr>
            <a:spLocks noGrp="1"/>
          </p:cNvSpPr>
          <p:nvPr>
            <p:ph type="title"/>
          </p:nvPr>
        </p:nvSpPr>
        <p:spPr/>
        <p:txBody>
          <a:bodyPr/>
          <a:lstStyle/>
          <a:p>
            <a:r>
              <a:rPr lang="en-US" dirty="0"/>
              <a:t>Multi-Field Retrieval</a:t>
            </a:r>
          </a:p>
        </p:txBody>
      </p:sp>
      <p:sp>
        <p:nvSpPr>
          <p:cNvPr id="3" name="Content Placeholder 2">
            <a:extLst>
              <a:ext uri="{FF2B5EF4-FFF2-40B4-BE49-F238E27FC236}">
                <a16:creationId xmlns:a16="http://schemas.microsoft.com/office/drawing/2014/main" id="{502859AA-B70D-30D1-547B-379FA7EF4511}"/>
              </a:ext>
            </a:extLst>
          </p:cNvPr>
          <p:cNvSpPr>
            <a:spLocks noGrp="1"/>
          </p:cNvSpPr>
          <p:nvPr>
            <p:ph idx="1"/>
          </p:nvPr>
        </p:nvSpPr>
        <p:spPr/>
        <p:txBody>
          <a:bodyPr>
            <a:normAutofit/>
          </a:bodyPr>
          <a:lstStyle/>
          <a:p>
            <a:pPr algn="just"/>
            <a:r>
              <a:rPr lang="en-US" dirty="0"/>
              <a:t>The term "multi-field retrieval model" typically refers to an information retrieval model that considers multiple fields or attributes of documents when performing retrieval. These fields could include different aspects of the documents, such as title, body, author, date, category, etc. </a:t>
            </a:r>
          </a:p>
          <a:p>
            <a:pPr algn="just"/>
            <a:r>
              <a:rPr lang="en-US" dirty="0"/>
              <a:t>Multifield retrieval models aim to improve the relevance of retrieved documents by incorporating information from multiple fields and weighting them appropriately during the retrieval process.</a:t>
            </a:r>
          </a:p>
          <a:p>
            <a:endParaRPr lang="en-US" dirty="0"/>
          </a:p>
        </p:txBody>
      </p:sp>
    </p:spTree>
    <p:extLst>
      <p:ext uri="{BB962C8B-B14F-4D97-AF65-F5344CB8AC3E}">
        <p14:creationId xmlns:p14="http://schemas.microsoft.com/office/powerpoint/2010/main" val="4148338838"/>
      </p:ext>
    </p:extLst>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5B06615-1020-92A6-CF8E-7F3D605D3454}"/>
              </a:ext>
            </a:extLst>
          </p:cNvPr>
          <p:cNvSpPr>
            <a:spLocks noGrp="1"/>
          </p:cNvSpPr>
          <p:nvPr>
            <p:ph type="title"/>
          </p:nvPr>
        </p:nvSpPr>
        <p:spPr/>
        <p:txBody>
          <a:bodyPr/>
          <a:lstStyle/>
          <a:p>
            <a:r>
              <a:rPr lang="en-US" dirty="0"/>
              <a:t>Overview of the multi-field retrieval model</a:t>
            </a:r>
            <a:br>
              <a:rPr lang="en-US" dirty="0"/>
            </a:br>
            <a:endParaRPr lang="en-US" dirty="0"/>
          </a:p>
        </p:txBody>
      </p:sp>
      <p:sp>
        <p:nvSpPr>
          <p:cNvPr id="3" name="Content Placeholder 2">
            <a:extLst>
              <a:ext uri="{FF2B5EF4-FFF2-40B4-BE49-F238E27FC236}">
                <a16:creationId xmlns:a16="http://schemas.microsoft.com/office/drawing/2014/main" id="{F1F6836B-D9DA-7A92-8CB8-081971440F5E}"/>
              </a:ext>
            </a:extLst>
          </p:cNvPr>
          <p:cNvSpPr>
            <a:spLocks noGrp="1"/>
          </p:cNvSpPr>
          <p:nvPr>
            <p:ph idx="1"/>
          </p:nvPr>
        </p:nvSpPr>
        <p:spPr/>
        <p:txBody>
          <a:bodyPr>
            <a:normAutofit fontScale="92500" lnSpcReduction="20000"/>
          </a:bodyPr>
          <a:lstStyle/>
          <a:p>
            <a:pPr marL="0" indent="0" algn="just">
              <a:buNone/>
            </a:pPr>
            <a:r>
              <a:rPr lang="en-US" dirty="0"/>
              <a:t>1. Document Representation: In a multi-field retrieval model, each document is represented as a combination of fields, where each field corresponds to a specific attribute or aspect of the document.</a:t>
            </a:r>
          </a:p>
          <a:p>
            <a:pPr marL="0" indent="0" algn="just">
              <a:buNone/>
            </a:pPr>
            <a:r>
              <a:rPr lang="en-US" dirty="0"/>
              <a:t>* For example, a document may have fields such as title, body, author, date, and category. Each field contains textual or structured information related to that aspect of the document.</a:t>
            </a:r>
          </a:p>
          <a:p>
            <a:pPr marL="0" indent="0" algn="just">
              <a:buNone/>
            </a:pPr>
            <a:r>
              <a:rPr lang="en-US" dirty="0"/>
              <a:t>2. Field Weighting: In multi-field retrieval, different fields may contribute differently to the overall relevance of a document to a query.</a:t>
            </a:r>
          </a:p>
          <a:p>
            <a:pPr marL="0" indent="0" algn="just">
              <a:buNone/>
            </a:pPr>
            <a:r>
              <a:rPr lang="en-US" dirty="0"/>
              <a:t> For example, the title field may be considered more important than the body field for certain types of queries. Field weighting techniques assign weights to each field based on its importance or relevance to the query. These weights can be determined empirically or based on domain knowledge.</a:t>
            </a:r>
          </a:p>
          <a:p>
            <a:pPr marL="0" indent="0">
              <a:buNone/>
            </a:pPr>
            <a:endParaRPr lang="en-US" dirty="0"/>
          </a:p>
          <a:p>
            <a:pPr marL="0" indent="0">
              <a:buNone/>
            </a:pPr>
            <a:endParaRPr lang="en-US" dirty="0"/>
          </a:p>
          <a:p>
            <a:endParaRPr lang="en-US" dirty="0"/>
          </a:p>
        </p:txBody>
      </p:sp>
    </p:spTree>
    <p:extLst>
      <p:ext uri="{BB962C8B-B14F-4D97-AF65-F5344CB8AC3E}">
        <p14:creationId xmlns:p14="http://schemas.microsoft.com/office/powerpoint/2010/main" val="4121879867"/>
      </p:ext>
    </p:extLst>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1B5AF1E-5DAC-82F2-1E9D-2FDDE624EBE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5ECFFC8-BCEF-31F9-DF99-6CBE94F26FC6}"/>
              </a:ext>
            </a:extLst>
          </p:cNvPr>
          <p:cNvSpPr>
            <a:spLocks noGrp="1"/>
          </p:cNvSpPr>
          <p:nvPr>
            <p:ph type="title"/>
          </p:nvPr>
        </p:nvSpPr>
        <p:spPr/>
        <p:txBody>
          <a:bodyPr/>
          <a:lstStyle/>
          <a:p>
            <a:r>
              <a:rPr lang="en-US" dirty="0"/>
              <a:t>Overview of the multi-field retrieval model</a:t>
            </a:r>
            <a:br>
              <a:rPr lang="en-US" dirty="0"/>
            </a:br>
            <a:endParaRPr lang="en-US" dirty="0"/>
          </a:p>
        </p:txBody>
      </p:sp>
      <p:sp>
        <p:nvSpPr>
          <p:cNvPr id="3" name="Content Placeholder 2">
            <a:extLst>
              <a:ext uri="{FF2B5EF4-FFF2-40B4-BE49-F238E27FC236}">
                <a16:creationId xmlns:a16="http://schemas.microsoft.com/office/drawing/2014/main" id="{56997840-DB57-BA73-F12C-D4BE20C5725E}"/>
              </a:ext>
            </a:extLst>
          </p:cNvPr>
          <p:cNvSpPr>
            <a:spLocks noGrp="1"/>
          </p:cNvSpPr>
          <p:nvPr>
            <p:ph idx="1"/>
          </p:nvPr>
        </p:nvSpPr>
        <p:spPr/>
        <p:txBody>
          <a:bodyPr>
            <a:normAutofit fontScale="92500" lnSpcReduction="20000"/>
          </a:bodyPr>
          <a:lstStyle/>
          <a:p>
            <a:pPr marL="0" indent="0" algn="just">
              <a:buNone/>
            </a:pPr>
            <a:r>
              <a:rPr lang="en-US" dirty="0"/>
              <a:t>3. Query Processing: When a user submits a query to the retrieval system, the query may contain terms or keywords that are associated with specific fields.</a:t>
            </a:r>
          </a:p>
          <a:p>
            <a:pPr marL="0" indent="0" algn="just">
              <a:buNone/>
            </a:pPr>
            <a:r>
              <a:rPr lang="en-US" dirty="0"/>
              <a:t>*For example, a user may specify that they are interested in documents with certain terms appearing in the title field, while other terms may be more flexible in their field assignment. The retrieval system processes the query and retrieves documents that match the query terms across the specified fields.</a:t>
            </a:r>
          </a:p>
          <a:p>
            <a:pPr marL="0" indent="0" algn="just">
              <a:buNone/>
            </a:pPr>
            <a:r>
              <a:rPr lang="en-US" dirty="0"/>
              <a:t>4. Field-Specific Ranking : </a:t>
            </a:r>
            <a:r>
              <a:rPr lang="en-IN" dirty="0"/>
              <a:t>After retrieving documents that match the query terms, the multi-field retrieval model ranks these documents based on their relevance to the query, considering the weights assigned to each field. Documents that contain query terms in more important fields or fields with higher weights are given higher rankings in the search results.</a:t>
            </a:r>
          </a:p>
          <a:p>
            <a:pPr marL="0" indent="0">
              <a:buNone/>
            </a:pPr>
            <a:endParaRPr lang="en-US" dirty="0"/>
          </a:p>
          <a:p>
            <a:endParaRPr lang="en-US" dirty="0"/>
          </a:p>
        </p:txBody>
      </p:sp>
    </p:spTree>
    <p:extLst>
      <p:ext uri="{BB962C8B-B14F-4D97-AF65-F5344CB8AC3E}">
        <p14:creationId xmlns:p14="http://schemas.microsoft.com/office/powerpoint/2010/main" val="3040863440"/>
      </p:ext>
    </p:extLst>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44EE448-6EDA-99BC-00AD-DA86B1AC83C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70E78EC-0B26-24BD-81CD-128AEAD9B003}"/>
              </a:ext>
            </a:extLst>
          </p:cNvPr>
          <p:cNvSpPr>
            <a:spLocks noGrp="1"/>
          </p:cNvSpPr>
          <p:nvPr>
            <p:ph type="title"/>
          </p:nvPr>
        </p:nvSpPr>
        <p:spPr/>
        <p:txBody>
          <a:bodyPr/>
          <a:lstStyle/>
          <a:p>
            <a:r>
              <a:rPr lang="en-US" dirty="0"/>
              <a:t>Overview of the multi-field retrieval model</a:t>
            </a:r>
            <a:br>
              <a:rPr lang="en-US" dirty="0"/>
            </a:br>
            <a:endParaRPr lang="en-US" dirty="0"/>
          </a:p>
        </p:txBody>
      </p:sp>
      <p:sp>
        <p:nvSpPr>
          <p:cNvPr id="3" name="Content Placeholder 2">
            <a:extLst>
              <a:ext uri="{FF2B5EF4-FFF2-40B4-BE49-F238E27FC236}">
                <a16:creationId xmlns:a16="http://schemas.microsoft.com/office/drawing/2014/main" id="{C66CE24C-045F-FC3E-F553-2C47EAB71817}"/>
              </a:ext>
            </a:extLst>
          </p:cNvPr>
          <p:cNvSpPr>
            <a:spLocks noGrp="1"/>
          </p:cNvSpPr>
          <p:nvPr>
            <p:ph idx="1"/>
          </p:nvPr>
        </p:nvSpPr>
        <p:spPr/>
        <p:txBody>
          <a:bodyPr>
            <a:normAutofit/>
          </a:bodyPr>
          <a:lstStyle/>
          <a:p>
            <a:pPr marL="0" indent="0" algn="just">
              <a:buNone/>
            </a:pPr>
            <a:r>
              <a:rPr lang="en-US" dirty="0"/>
              <a:t>5. Integration of Field Scores: The relevance scores obtained from individual fields are typically integrated to produce a final ranking score for each document. This integration process can be performed using various methods, such as linear combination, weighted sum, or machine learning algorithms.</a:t>
            </a:r>
          </a:p>
          <a:p>
            <a:pPr marL="0" indent="0" algn="just">
              <a:buNone/>
            </a:pPr>
            <a:r>
              <a:rPr lang="en-US" dirty="0"/>
              <a:t>6. Presentation of Results : </a:t>
            </a:r>
            <a:r>
              <a:rPr lang="en-IN" dirty="0"/>
              <a:t>The final ranked list of documents, incorporating scores from multiple fields, is presented to the user as the search results. The user can then review the documents and find the information they are looking for, with potentially improved relevance due to the consideration of multiple fields</a:t>
            </a:r>
          </a:p>
          <a:p>
            <a:pPr marL="0" indent="0">
              <a:buNone/>
            </a:pPr>
            <a:endParaRPr lang="en-US" dirty="0"/>
          </a:p>
          <a:p>
            <a:endParaRPr lang="en-US" dirty="0"/>
          </a:p>
        </p:txBody>
      </p:sp>
    </p:spTree>
    <p:extLst>
      <p:ext uri="{BB962C8B-B14F-4D97-AF65-F5344CB8AC3E}">
        <p14:creationId xmlns:p14="http://schemas.microsoft.com/office/powerpoint/2010/main" val="2694735492"/>
      </p:ext>
    </p:extLst>
  </p:cSld>
  <p:clrMapOvr>
    <a:masterClrMapping/>
  </p:clrMapOvr>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931224B-F8C0-29A4-0F59-2321DDF8180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3EFDEE2-901B-81D5-C681-C5178E936AD5}"/>
              </a:ext>
            </a:extLst>
          </p:cNvPr>
          <p:cNvSpPr>
            <a:spLocks noGrp="1"/>
          </p:cNvSpPr>
          <p:nvPr>
            <p:ph type="title"/>
          </p:nvPr>
        </p:nvSpPr>
        <p:spPr/>
        <p:txBody>
          <a:bodyPr/>
          <a:lstStyle/>
          <a:p>
            <a:r>
              <a:rPr lang="en-US" dirty="0"/>
              <a:t>Overview of the multi-field retrieval model</a:t>
            </a:r>
            <a:br>
              <a:rPr lang="en-US" dirty="0"/>
            </a:br>
            <a:endParaRPr lang="en-US" dirty="0"/>
          </a:p>
        </p:txBody>
      </p:sp>
      <p:sp>
        <p:nvSpPr>
          <p:cNvPr id="3" name="Content Placeholder 2">
            <a:extLst>
              <a:ext uri="{FF2B5EF4-FFF2-40B4-BE49-F238E27FC236}">
                <a16:creationId xmlns:a16="http://schemas.microsoft.com/office/drawing/2014/main" id="{8324F90A-6FF5-C142-E988-A02065DBD550}"/>
              </a:ext>
            </a:extLst>
          </p:cNvPr>
          <p:cNvSpPr>
            <a:spLocks noGrp="1"/>
          </p:cNvSpPr>
          <p:nvPr>
            <p:ph idx="1"/>
          </p:nvPr>
        </p:nvSpPr>
        <p:spPr/>
        <p:txBody>
          <a:bodyPr>
            <a:normAutofit/>
          </a:bodyPr>
          <a:lstStyle/>
          <a:p>
            <a:pPr marL="0" indent="0" algn="just">
              <a:buNone/>
            </a:pPr>
            <a:r>
              <a:rPr lang="en-IN" dirty="0"/>
              <a:t>Overall, the multi-field retrieval model offers a flexible and effective approach to information retrieval by considering multiple aspects of documents and incorporating them into the retrieval process. By weighting fields appropriately and integrating field-specific scores, multi-field retrieval models can improve the relevance and quality of retrieved documents, leading to a better user experience in search applications.</a:t>
            </a:r>
          </a:p>
          <a:p>
            <a:pPr marL="0" indent="0" algn="just">
              <a:buNone/>
            </a:pPr>
            <a:endParaRPr lang="en-US" dirty="0"/>
          </a:p>
          <a:p>
            <a:pPr marL="0" indent="0">
              <a:buNone/>
            </a:pPr>
            <a:endParaRPr lang="en-US" dirty="0"/>
          </a:p>
        </p:txBody>
      </p:sp>
    </p:spTree>
    <p:extLst>
      <p:ext uri="{BB962C8B-B14F-4D97-AF65-F5344CB8AC3E}">
        <p14:creationId xmlns:p14="http://schemas.microsoft.com/office/powerpoint/2010/main" val="3232516393"/>
      </p:ext>
    </p:extLst>
  </p:cSld>
  <p:clrMapOvr>
    <a:masterClrMapping/>
  </p:clrMapOvr>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FECC1A5-DD6C-7F30-FFD1-75E34D5C6D1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C99CB77-EB5D-8D71-04E4-A1E4C908E25A}"/>
              </a:ext>
            </a:extLst>
          </p:cNvPr>
          <p:cNvSpPr>
            <a:spLocks noGrp="1"/>
          </p:cNvSpPr>
          <p:nvPr>
            <p:ph type="title"/>
          </p:nvPr>
        </p:nvSpPr>
        <p:spPr/>
        <p:txBody>
          <a:bodyPr/>
          <a:lstStyle/>
          <a:p>
            <a:r>
              <a:rPr lang="en-US" dirty="0"/>
              <a:t>Unit 1: Vector Space Model of Retrieval</a:t>
            </a:r>
          </a:p>
        </p:txBody>
      </p:sp>
      <p:sp>
        <p:nvSpPr>
          <p:cNvPr id="3" name="Content Placeholder 2">
            <a:extLst>
              <a:ext uri="{FF2B5EF4-FFF2-40B4-BE49-F238E27FC236}">
                <a16:creationId xmlns:a16="http://schemas.microsoft.com/office/drawing/2014/main" id="{2107B696-9A53-78B9-011A-795311A35068}"/>
              </a:ext>
            </a:extLst>
          </p:cNvPr>
          <p:cNvSpPr>
            <a:spLocks noGrp="1"/>
          </p:cNvSpPr>
          <p:nvPr>
            <p:ph idx="1"/>
          </p:nvPr>
        </p:nvSpPr>
        <p:spPr/>
        <p:txBody>
          <a:bodyPr>
            <a:normAutofit fontScale="55000" lnSpcReduction="20000"/>
          </a:bodyPr>
          <a:lstStyle/>
          <a:p>
            <a:r>
              <a:rPr lang="en-US" strike="sngStrike" dirty="0"/>
              <a:t>Word Statistics</a:t>
            </a:r>
          </a:p>
          <a:p>
            <a:r>
              <a:rPr lang="en-US" strike="sngStrike" dirty="0"/>
              <a:t>Text preprocessing</a:t>
            </a:r>
          </a:p>
          <a:p>
            <a:r>
              <a:rPr lang="en-US" strike="sngStrike" dirty="0"/>
              <a:t>Term Weighing</a:t>
            </a:r>
          </a:p>
          <a:p>
            <a:r>
              <a:rPr lang="en-US" strike="sngStrike" dirty="0"/>
              <a:t>Similarity Function</a:t>
            </a:r>
          </a:p>
          <a:p>
            <a:r>
              <a:rPr lang="en-US" strike="sngStrike" dirty="0"/>
              <a:t>Indexing</a:t>
            </a:r>
          </a:p>
          <a:p>
            <a:r>
              <a:rPr lang="en-US" strike="sngStrike" dirty="0"/>
              <a:t>Relevance Feedback</a:t>
            </a:r>
          </a:p>
          <a:p>
            <a:r>
              <a:rPr lang="en-US" strike="sngStrike" dirty="0"/>
              <a:t>Query Expansion(With Local Analysis from External Resources)</a:t>
            </a:r>
          </a:p>
          <a:p>
            <a:r>
              <a:rPr lang="en-US" strike="sngStrike" dirty="0"/>
              <a:t>The impact of Document Normalization</a:t>
            </a:r>
          </a:p>
          <a:p>
            <a:r>
              <a:rPr lang="en-US" strike="sngStrike" dirty="0"/>
              <a:t>Multi-Field Retrieval</a:t>
            </a:r>
          </a:p>
          <a:p>
            <a:r>
              <a:rPr lang="en-US" dirty="0"/>
              <a:t>Evaluation of Retrieval</a:t>
            </a:r>
          </a:p>
          <a:p>
            <a:r>
              <a:rPr lang="en-US" dirty="0"/>
              <a:t>Applications</a:t>
            </a:r>
          </a:p>
          <a:p>
            <a:r>
              <a:rPr lang="en-US" dirty="0"/>
              <a:t>Disadvantages</a:t>
            </a:r>
          </a:p>
          <a:p>
            <a:r>
              <a:rPr lang="en-US" dirty="0"/>
              <a:t>Incentives for Engaging in Electronic Commerce</a:t>
            </a:r>
          </a:p>
          <a:p>
            <a:r>
              <a:rPr lang="en-US" dirty="0"/>
              <a:t>Forces behind E-</a:t>
            </a:r>
            <a:r>
              <a:rPr lang="en-US" dirty="0" err="1"/>
              <a:t>commerece</a:t>
            </a:r>
            <a:endParaRPr lang="en-US" dirty="0"/>
          </a:p>
        </p:txBody>
      </p:sp>
    </p:spTree>
    <p:extLst>
      <p:ext uri="{BB962C8B-B14F-4D97-AF65-F5344CB8AC3E}">
        <p14:creationId xmlns:p14="http://schemas.microsoft.com/office/powerpoint/2010/main" val="2133119568"/>
      </p:ext>
    </p:extLst>
  </p:cSld>
  <p:clrMapOvr>
    <a:masterClrMapping/>
  </p:clrMapOvr>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7470FAF-9AC8-FE5E-6CC0-615E852B4130}"/>
              </a:ext>
            </a:extLst>
          </p:cNvPr>
          <p:cNvSpPr>
            <a:spLocks noGrp="1"/>
          </p:cNvSpPr>
          <p:nvPr>
            <p:ph type="title"/>
          </p:nvPr>
        </p:nvSpPr>
        <p:spPr/>
        <p:txBody>
          <a:bodyPr/>
          <a:lstStyle/>
          <a:p>
            <a:r>
              <a:rPr lang="en-US" dirty="0"/>
              <a:t>Evaluation of IR Systems</a:t>
            </a:r>
          </a:p>
        </p:txBody>
      </p:sp>
      <p:sp>
        <p:nvSpPr>
          <p:cNvPr id="3" name="Content Placeholder 2">
            <a:extLst>
              <a:ext uri="{FF2B5EF4-FFF2-40B4-BE49-F238E27FC236}">
                <a16:creationId xmlns:a16="http://schemas.microsoft.com/office/drawing/2014/main" id="{029F2A33-73A4-53DE-A4E6-311A120D5CE0}"/>
              </a:ext>
            </a:extLst>
          </p:cNvPr>
          <p:cNvSpPr>
            <a:spLocks noGrp="1"/>
          </p:cNvSpPr>
          <p:nvPr>
            <p:ph idx="1"/>
          </p:nvPr>
        </p:nvSpPr>
        <p:spPr/>
        <p:txBody>
          <a:bodyPr/>
          <a:lstStyle/>
          <a:p>
            <a:pPr algn="just"/>
            <a:r>
              <a:rPr lang="en-US" dirty="0"/>
              <a:t>Evaluation of Information Retrieval (IR) systems is crucial for assessing their effectiveness, performance, and user satisfaction. Various evaluation metrics and methodologies are employed to measure the quality of retrieval results and to compare different retrieval algorithms and systems.</a:t>
            </a:r>
          </a:p>
          <a:p>
            <a:endParaRPr lang="en-US" dirty="0"/>
          </a:p>
        </p:txBody>
      </p:sp>
    </p:spTree>
    <p:extLst>
      <p:ext uri="{BB962C8B-B14F-4D97-AF65-F5344CB8AC3E}">
        <p14:creationId xmlns:p14="http://schemas.microsoft.com/office/powerpoint/2010/main" val="4051247316"/>
      </p:ext>
    </p:extLst>
  </p:cSld>
  <p:clrMapOvr>
    <a:masterClrMapping/>
  </p:clrMapOvr>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49128E7-F4F3-F6BE-6F2C-E24E96082540}"/>
              </a:ext>
            </a:extLst>
          </p:cNvPr>
          <p:cNvSpPr>
            <a:spLocks noGrp="1"/>
          </p:cNvSpPr>
          <p:nvPr>
            <p:ph type="title"/>
          </p:nvPr>
        </p:nvSpPr>
        <p:spPr/>
        <p:txBody>
          <a:bodyPr>
            <a:normAutofit fontScale="90000"/>
          </a:bodyPr>
          <a:lstStyle/>
          <a:p>
            <a:r>
              <a:rPr lang="en-IN" dirty="0">
                <a:effectLst/>
                <a:latin typeface="Helvetica" pitchFamily="2" charset="0"/>
              </a:rPr>
              <a:t>key aspects of the evaluation of IR systems</a:t>
            </a:r>
            <a:br>
              <a:rPr lang="en-IN" dirty="0">
                <a:effectLst/>
                <a:latin typeface="Helvetica" pitchFamily="2" charset="0"/>
              </a:rPr>
            </a:br>
            <a:endParaRPr lang="en-US" dirty="0"/>
          </a:p>
        </p:txBody>
      </p:sp>
      <p:sp>
        <p:nvSpPr>
          <p:cNvPr id="3" name="Content Placeholder 2">
            <a:extLst>
              <a:ext uri="{FF2B5EF4-FFF2-40B4-BE49-F238E27FC236}">
                <a16:creationId xmlns:a16="http://schemas.microsoft.com/office/drawing/2014/main" id="{FE29DCAE-F019-A647-1DFF-7A3912027984}"/>
              </a:ext>
            </a:extLst>
          </p:cNvPr>
          <p:cNvSpPr>
            <a:spLocks noGrp="1"/>
          </p:cNvSpPr>
          <p:nvPr>
            <p:ph idx="1"/>
          </p:nvPr>
        </p:nvSpPr>
        <p:spPr/>
        <p:txBody>
          <a:bodyPr/>
          <a:lstStyle/>
          <a:p>
            <a:pPr marL="0" indent="0" algn="just">
              <a:buNone/>
            </a:pPr>
            <a:r>
              <a:rPr lang="en-US" dirty="0"/>
              <a:t>1. Relevance Judgment: Relevance judgment is the process of determining whether a document retrieved by the system is relevant to the user's information need. It involves human assessors or judges who evaluate the retrieved documents based on predefined criteria. Relevance judgments can be binary (relevant or non-relevant), graded (on a scale), or multidimensional (covering different aspects of relevance).</a:t>
            </a:r>
          </a:p>
          <a:p>
            <a:pPr marL="0" indent="0">
              <a:buNone/>
            </a:pPr>
            <a:endParaRPr lang="en-US" dirty="0"/>
          </a:p>
          <a:p>
            <a:endParaRPr lang="en-US" dirty="0"/>
          </a:p>
        </p:txBody>
      </p:sp>
    </p:spTree>
    <p:extLst>
      <p:ext uri="{BB962C8B-B14F-4D97-AF65-F5344CB8AC3E}">
        <p14:creationId xmlns:p14="http://schemas.microsoft.com/office/powerpoint/2010/main" val="3511312627"/>
      </p:ext>
    </p:extLst>
  </p:cSld>
  <p:clrMapOvr>
    <a:masterClrMapping/>
  </p:clrMapOvr>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341E00E-457B-54A3-24EF-6E5B3D58170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20B392C-B6AF-0213-B046-3D990516DFAB}"/>
              </a:ext>
            </a:extLst>
          </p:cNvPr>
          <p:cNvSpPr>
            <a:spLocks noGrp="1"/>
          </p:cNvSpPr>
          <p:nvPr>
            <p:ph type="title"/>
          </p:nvPr>
        </p:nvSpPr>
        <p:spPr/>
        <p:txBody>
          <a:bodyPr>
            <a:normAutofit fontScale="90000"/>
          </a:bodyPr>
          <a:lstStyle/>
          <a:p>
            <a:r>
              <a:rPr lang="en-IN" dirty="0">
                <a:effectLst/>
                <a:latin typeface="Helvetica" pitchFamily="2" charset="0"/>
              </a:rPr>
              <a:t>key aspects of the evaluation of IR systems</a:t>
            </a:r>
            <a:br>
              <a:rPr lang="en-IN" dirty="0">
                <a:effectLst/>
                <a:latin typeface="Helvetica" pitchFamily="2" charset="0"/>
              </a:rPr>
            </a:br>
            <a:endParaRPr lang="en-US" dirty="0"/>
          </a:p>
        </p:txBody>
      </p:sp>
      <p:sp>
        <p:nvSpPr>
          <p:cNvPr id="3" name="Content Placeholder 2">
            <a:extLst>
              <a:ext uri="{FF2B5EF4-FFF2-40B4-BE49-F238E27FC236}">
                <a16:creationId xmlns:a16="http://schemas.microsoft.com/office/drawing/2014/main" id="{85F3A7C5-DE9F-E2D1-83B4-09F65EE7718D}"/>
              </a:ext>
            </a:extLst>
          </p:cNvPr>
          <p:cNvSpPr>
            <a:spLocks noGrp="1"/>
          </p:cNvSpPr>
          <p:nvPr>
            <p:ph idx="1"/>
          </p:nvPr>
        </p:nvSpPr>
        <p:spPr/>
        <p:txBody>
          <a:bodyPr>
            <a:normAutofit fontScale="77500" lnSpcReduction="20000"/>
          </a:bodyPr>
          <a:lstStyle/>
          <a:p>
            <a:pPr marL="0" indent="0">
              <a:buNone/>
            </a:pPr>
            <a:r>
              <a:rPr lang="en-US" dirty="0"/>
              <a:t>2. Evaluation Metrics: </a:t>
            </a:r>
          </a:p>
          <a:p>
            <a:r>
              <a:rPr lang="en-IN" dirty="0"/>
              <a:t>Precision and Recall: Precision measures the proportion of retrieved documents that are relevant, while recall measures the proportion of relevant documents that are retrieved.</a:t>
            </a:r>
          </a:p>
          <a:p>
            <a:r>
              <a:rPr lang="en-IN" dirty="0"/>
              <a:t>F1 Score: The F1 score is the harmonic mean of precision and recall, providing a balanced measure of retrieval performance.</a:t>
            </a:r>
          </a:p>
          <a:p>
            <a:r>
              <a:rPr lang="en-IN" dirty="0"/>
              <a:t>Mean Average Precision (MAP): MAP calculates the average precision across multiple queries, providing an overall measure of retrieval effectiveness.</a:t>
            </a:r>
          </a:p>
          <a:p>
            <a:r>
              <a:rPr lang="en-IN" dirty="0"/>
              <a:t>Normalized Discounted Cumulative Gain (NDCG): NDCG evaluates the ranking quality of retrieved documents, considering both relevance and ranking position.</a:t>
            </a:r>
          </a:p>
          <a:p>
            <a:r>
              <a:rPr lang="en-IN" dirty="0"/>
              <a:t>Precision at k (</a:t>
            </a:r>
            <a:r>
              <a:rPr lang="en-IN" dirty="0" err="1"/>
              <a:t>P@k</a:t>
            </a:r>
            <a:r>
              <a:rPr lang="en-IN" dirty="0"/>
              <a:t>): Precision measured at a specific rank k in the ranked list of retrieved documents.</a:t>
            </a:r>
          </a:p>
          <a:p>
            <a:r>
              <a:rPr lang="en-IN" dirty="0"/>
              <a:t>Mean Reciprocal Rank (MRR): MRR measures the effectiveness of retrieving the highest-ranked relevant document for each query.</a:t>
            </a:r>
          </a:p>
          <a:p>
            <a:pPr marL="0" indent="0">
              <a:buNone/>
            </a:pPr>
            <a:endParaRPr lang="en-US" dirty="0"/>
          </a:p>
          <a:p>
            <a:endParaRPr lang="en-US" dirty="0"/>
          </a:p>
        </p:txBody>
      </p:sp>
    </p:spTree>
    <p:extLst>
      <p:ext uri="{BB962C8B-B14F-4D97-AF65-F5344CB8AC3E}">
        <p14:creationId xmlns:p14="http://schemas.microsoft.com/office/powerpoint/2010/main" val="2943181882"/>
      </p:ext>
    </p:extLst>
  </p:cSld>
  <p:clrMapOvr>
    <a:masterClrMapping/>
  </p:clrMapOvr>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93E5516-27B1-06E4-DADB-B77AD6DDE2D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B9F3038-7D80-43C5-4A78-FE1ECAAD080A}"/>
              </a:ext>
            </a:extLst>
          </p:cNvPr>
          <p:cNvSpPr>
            <a:spLocks noGrp="1"/>
          </p:cNvSpPr>
          <p:nvPr>
            <p:ph type="title"/>
          </p:nvPr>
        </p:nvSpPr>
        <p:spPr/>
        <p:txBody>
          <a:bodyPr>
            <a:normAutofit fontScale="90000"/>
          </a:bodyPr>
          <a:lstStyle/>
          <a:p>
            <a:r>
              <a:rPr lang="en-IN" dirty="0">
                <a:effectLst/>
                <a:latin typeface="Helvetica" pitchFamily="2" charset="0"/>
              </a:rPr>
              <a:t>key aspects of the evaluation of IR systems</a:t>
            </a:r>
            <a:br>
              <a:rPr lang="en-IN" dirty="0">
                <a:effectLst/>
                <a:latin typeface="Helvetica" pitchFamily="2" charset="0"/>
              </a:rPr>
            </a:br>
            <a:endParaRPr lang="en-US" dirty="0"/>
          </a:p>
        </p:txBody>
      </p:sp>
      <p:sp>
        <p:nvSpPr>
          <p:cNvPr id="3" name="Content Placeholder 2">
            <a:extLst>
              <a:ext uri="{FF2B5EF4-FFF2-40B4-BE49-F238E27FC236}">
                <a16:creationId xmlns:a16="http://schemas.microsoft.com/office/drawing/2014/main" id="{52113FEC-F960-B172-804B-314CD4DD4278}"/>
              </a:ext>
            </a:extLst>
          </p:cNvPr>
          <p:cNvSpPr>
            <a:spLocks noGrp="1"/>
          </p:cNvSpPr>
          <p:nvPr>
            <p:ph idx="1"/>
          </p:nvPr>
        </p:nvSpPr>
        <p:spPr/>
        <p:txBody>
          <a:bodyPr>
            <a:normAutofit/>
          </a:bodyPr>
          <a:lstStyle/>
          <a:p>
            <a:pPr marL="0" indent="0">
              <a:buNone/>
            </a:pPr>
            <a:r>
              <a:rPr lang="en-US" dirty="0"/>
              <a:t>3. Test Collections</a:t>
            </a:r>
          </a:p>
          <a:p>
            <a:pPr algn="just"/>
            <a:r>
              <a:rPr lang="en-IN" dirty="0"/>
              <a:t>Test collections are curated datasets used for evaluating IR systems. </a:t>
            </a:r>
          </a:p>
          <a:p>
            <a:pPr algn="just"/>
            <a:r>
              <a:rPr lang="en-IN" dirty="0"/>
              <a:t>They consist of a set of queries, a document collection, and relevance judgments for each query-document pair.</a:t>
            </a:r>
          </a:p>
          <a:p>
            <a:pPr algn="just"/>
            <a:r>
              <a:rPr lang="en-IN" dirty="0"/>
              <a:t>Common test collections include the Cranfield collection, TREC (Text Retrieval Conference) datasets, and CLEF (Conference and Labs of the Evaluation Forum) datasets</a:t>
            </a:r>
          </a:p>
          <a:p>
            <a:pPr marL="0" indent="0">
              <a:buNone/>
            </a:pPr>
            <a:endParaRPr lang="en-US" dirty="0"/>
          </a:p>
          <a:p>
            <a:endParaRPr lang="en-US" dirty="0"/>
          </a:p>
        </p:txBody>
      </p:sp>
    </p:spTree>
    <p:extLst>
      <p:ext uri="{BB962C8B-B14F-4D97-AF65-F5344CB8AC3E}">
        <p14:creationId xmlns:p14="http://schemas.microsoft.com/office/powerpoint/2010/main" val="319477704"/>
      </p:ext>
    </p:extLst>
  </p:cSld>
  <p:clrMapOvr>
    <a:masterClrMapping/>
  </p:clrMapOvr>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2FD5141-41AB-319E-9F36-697DC72501D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8497D2B-5209-F6EA-228F-151B54089198}"/>
              </a:ext>
            </a:extLst>
          </p:cNvPr>
          <p:cNvSpPr>
            <a:spLocks noGrp="1"/>
          </p:cNvSpPr>
          <p:nvPr>
            <p:ph type="title"/>
          </p:nvPr>
        </p:nvSpPr>
        <p:spPr/>
        <p:txBody>
          <a:bodyPr>
            <a:normAutofit fontScale="90000"/>
          </a:bodyPr>
          <a:lstStyle/>
          <a:p>
            <a:r>
              <a:rPr lang="en-IN" dirty="0">
                <a:effectLst/>
                <a:latin typeface="Helvetica" pitchFamily="2" charset="0"/>
              </a:rPr>
              <a:t>key aspects of the evaluation of IR systems</a:t>
            </a:r>
            <a:br>
              <a:rPr lang="en-IN" dirty="0">
                <a:effectLst/>
                <a:latin typeface="Helvetica" pitchFamily="2" charset="0"/>
              </a:rPr>
            </a:br>
            <a:endParaRPr lang="en-US" dirty="0"/>
          </a:p>
        </p:txBody>
      </p:sp>
      <p:sp>
        <p:nvSpPr>
          <p:cNvPr id="3" name="Content Placeholder 2">
            <a:extLst>
              <a:ext uri="{FF2B5EF4-FFF2-40B4-BE49-F238E27FC236}">
                <a16:creationId xmlns:a16="http://schemas.microsoft.com/office/drawing/2014/main" id="{A9F2F9B8-217E-430C-71F4-4F4016951187}"/>
              </a:ext>
            </a:extLst>
          </p:cNvPr>
          <p:cNvSpPr>
            <a:spLocks noGrp="1"/>
          </p:cNvSpPr>
          <p:nvPr>
            <p:ph idx="1"/>
          </p:nvPr>
        </p:nvSpPr>
        <p:spPr/>
        <p:txBody>
          <a:bodyPr>
            <a:normAutofit/>
          </a:bodyPr>
          <a:lstStyle/>
          <a:p>
            <a:pPr marL="0" indent="0">
              <a:buNone/>
            </a:pPr>
            <a:r>
              <a:rPr lang="en-US" dirty="0"/>
              <a:t>4. Experimental Setup</a:t>
            </a:r>
          </a:p>
          <a:p>
            <a:pPr marL="0" indent="0">
              <a:buNone/>
            </a:pPr>
            <a:endParaRPr lang="en-US" dirty="0"/>
          </a:p>
          <a:p>
            <a:r>
              <a:rPr lang="en-IN" dirty="0"/>
              <a:t>Evaluation experiments involve running the IR system on the test collection and computing the evaluation metrics based on the retrieval results and relevance judgments.</a:t>
            </a:r>
          </a:p>
          <a:p>
            <a:r>
              <a:rPr lang="en-IN" dirty="0"/>
              <a:t>Cross-validation and randomization techniques may be used to ensure the robustness and reliability of the evaluation results.</a:t>
            </a:r>
          </a:p>
          <a:p>
            <a:pPr marL="0" indent="0">
              <a:buNone/>
            </a:pPr>
            <a:endParaRPr lang="en-US" dirty="0"/>
          </a:p>
          <a:p>
            <a:endParaRPr lang="en-US" dirty="0"/>
          </a:p>
        </p:txBody>
      </p:sp>
    </p:spTree>
    <p:extLst>
      <p:ext uri="{BB962C8B-B14F-4D97-AF65-F5344CB8AC3E}">
        <p14:creationId xmlns:p14="http://schemas.microsoft.com/office/powerpoint/2010/main" val="283379134"/>
      </p:ext>
    </p:extLst>
  </p:cSld>
  <p:clrMapOvr>
    <a:masterClrMapping/>
  </p:clrMapOvr>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C6F1B44-BE9C-7EE5-8F7D-7A7720843DD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73281AD-251D-8D2B-552F-0FCDF7E4D3C5}"/>
              </a:ext>
            </a:extLst>
          </p:cNvPr>
          <p:cNvSpPr>
            <a:spLocks noGrp="1"/>
          </p:cNvSpPr>
          <p:nvPr>
            <p:ph type="title"/>
          </p:nvPr>
        </p:nvSpPr>
        <p:spPr/>
        <p:txBody>
          <a:bodyPr>
            <a:normAutofit fontScale="90000"/>
          </a:bodyPr>
          <a:lstStyle/>
          <a:p>
            <a:r>
              <a:rPr lang="en-IN" dirty="0">
                <a:effectLst/>
                <a:latin typeface="Helvetica" pitchFamily="2" charset="0"/>
              </a:rPr>
              <a:t>key aspects of the evaluation of IR systems</a:t>
            </a:r>
            <a:br>
              <a:rPr lang="en-IN" dirty="0">
                <a:effectLst/>
                <a:latin typeface="Helvetica" pitchFamily="2" charset="0"/>
              </a:rPr>
            </a:br>
            <a:endParaRPr lang="en-US" dirty="0"/>
          </a:p>
        </p:txBody>
      </p:sp>
      <p:sp>
        <p:nvSpPr>
          <p:cNvPr id="3" name="Content Placeholder 2">
            <a:extLst>
              <a:ext uri="{FF2B5EF4-FFF2-40B4-BE49-F238E27FC236}">
                <a16:creationId xmlns:a16="http://schemas.microsoft.com/office/drawing/2014/main" id="{E517F4F6-DD58-A401-12F9-C5BE279A8C35}"/>
              </a:ext>
            </a:extLst>
          </p:cNvPr>
          <p:cNvSpPr>
            <a:spLocks noGrp="1"/>
          </p:cNvSpPr>
          <p:nvPr>
            <p:ph idx="1"/>
          </p:nvPr>
        </p:nvSpPr>
        <p:spPr/>
        <p:txBody>
          <a:bodyPr>
            <a:normAutofit/>
          </a:bodyPr>
          <a:lstStyle/>
          <a:p>
            <a:pPr marL="0" indent="0">
              <a:buNone/>
            </a:pPr>
            <a:r>
              <a:rPr lang="en-US" dirty="0"/>
              <a:t>4. User Studies</a:t>
            </a:r>
          </a:p>
          <a:p>
            <a:pPr algn="just"/>
            <a:r>
              <a:rPr lang="en-IN" dirty="0"/>
              <a:t>User studies involve soliciting feedback from actual users of the IR system to assess their satisfaction, usability, and perceived relevance of retrieved documents.</a:t>
            </a:r>
          </a:p>
          <a:p>
            <a:pPr algn="just"/>
            <a:r>
              <a:rPr lang="en-IN" dirty="0"/>
              <a:t>User studies may include surveys, interviews, or user interaction logging to gather qualitative and quantitative data on user </a:t>
            </a:r>
            <a:r>
              <a:rPr lang="en-IN" dirty="0" err="1"/>
              <a:t>behavior</a:t>
            </a:r>
            <a:r>
              <a:rPr lang="en-IN" dirty="0"/>
              <a:t> and preferences.</a:t>
            </a:r>
          </a:p>
          <a:p>
            <a:pPr marL="0" indent="0">
              <a:buNone/>
            </a:pPr>
            <a:endParaRPr lang="en-US" dirty="0"/>
          </a:p>
          <a:p>
            <a:endParaRPr lang="en-US" dirty="0"/>
          </a:p>
        </p:txBody>
      </p:sp>
    </p:spTree>
    <p:extLst>
      <p:ext uri="{BB962C8B-B14F-4D97-AF65-F5344CB8AC3E}">
        <p14:creationId xmlns:p14="http://schemas.microsoft.com/office/powerpoint/2010/main" val="994450795"/>
      </p:ext>
    </p:extLst>
  </p:cSld>
  <p:clrMapOvr>
    <a:masterClrMapping/>
  </p:clrMapOvr>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B95DEF0-F2D6-69CB-51EE-E30C6888A96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1276DA1-4DC7-E9E2-522B-778B52692FB8}"/>
              </a:ext>
            </a:extLst>
          </p:cNvPr>
          <p:cNvSpPr>
            <a:spLocks noGrp="1"/>
          </p:cNvSpPr>
          <p:nvPr>
            <p:ph type="title"/>
          </p:nvPr>
        </p:nvSpPr>
        <p:spPr/>
        <p:txBody>
          <a:bodyPr>
            <a:normAutofit fontScale="90000"/>
          </a:bodyPr>
          <a:lstStyle/>
          <a:p>
            <a:r>
              <a:rPr lang="en-IN" dirty="0">
                <a:effectLst/>
                <a:latin typeface="Helvetica" pitchFamily="2" charset="0"/>
              </a:rPr>
              <a:t>key aspects of the evaluation of IR systems</a:t>
            </a:r>
            <a:br>
              <a:rPr lang="en-IN" dirty="0">
                <a:effectLst/>
                <a:latin typeface="Helvetica" pitchFamily="2" charset="0"/>
              </a:rPr>
            </a:br>
            <a:endParaRPr lang="en-US" dirty="0"/>
          </a:p>
        </p:txBody>
      </p:sp>
      <p:sp>
        <p:nvSpPr>
          <p:cNvPr id="3" name="Content Placeholder 2">
            <a:extLst>
              <a:ext uri="{FF2B5EF4-FFF2-40B4-BE49-F238E27FC236}">
                <a16:creationId xmlns:a16="http://schemas.microsoft.com/office/drawing/2014/main" id="{1E5AF0F6-2C29-9F26-2B42-94EB5B25F817}"/>
              </a:ext>
            </a:extLst>
          </p:cNvPr>
          <p:cNvSpPr>
            <a:spLocks noGrp="1"/>
          </p:cNvSpPr>
          <p:nvPr>
            <p:ph idx="1"/>
          </p:nvPr>
        </p:nvSpPr>
        <p:spPr/>
        <p:txBody>
          <a:bodyPr>
            <a:normAutofit/>
          </a:bodyPr>
          <a:lstStyle/>
          <a:p>
            <a:pPr marL="0" indent="0">
              <a:buNone/>
            </a:pPr>
            <a:r>
              <a:rPr lang="en-US" dirty="0"/>
              <a:t>6. Benchmarking</a:t>
            </a:r>
          </a:p>
          <a:p>
            <a:pPr marL="0" indent="0">
              <a:buNone/>
            </a:pPr>
            <a:endParaRPr lang="en-US" dirty="0"/>
          </a:p>
          <a:p>
            <a:r>
              <a:rPr lang="en-IN" dirty="0"/>
              <a:t>Benchmarking involves comparing the performance of different IR systems or algorithms using standardized test collections and evaluation metrics.</a:t>
            </a:r>
          </a:p>
          <a:p>
            <a:r>
              <a:rPr lang="en-IN" dirty="0"/>
              <a:t>Benchmarking helps identify the strengths and weaknesses of different approaches and facilitates progress in the field by establishing baselines and best practices</a:t>
            </a:r>
          </a:p>
          <a:p>
            <a:pPr marL="0" indent="0">
              <a:buNone/>
            </a:pPr>
            <a:endParaRPr lang="en-US" dirty="0"/>
          </a:p>
          <a:p>
            <a:endParaRPr lang="en-US" dirty="0"/>
          </a:p>
        </p:txBody>
      </p:sp>
    </p:spTree>
    <p:extLst>
      <p:ext uri="{BB962C8B-B14F-4D97-AF65-F5344CB8AC3E}">
        <p14:creationId xmlns:p14="http://schemas.microsoft.com/office/powerpoint/2010/main" val="147379222"/>
      </p:ext>
    </p:extLst>
  </p:cSld>
  <p:clrMapOvr>
    <a:masterClrMapping/>
  </p:clrMapOvr>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2F49036-BF55-969F-D214-3646DC65D24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D7EA33D-B8C1-6461-332C-858A49464178}"/>
              </a:ext>
            </a:extLst>
          </p:cNvPr>
          <p:cNvSpPr>
            <a:spLocks noGrp="1"/>
          </p:cNvSpPr>
          <p:nvPr>
            <p:ph type="title"/>
          </p:nvPr>
        </p:nvSpPr>
        <p:spPr/>
        <p:txBody>
          <a:bodyPr>
            <a:normAutofit fontScale="90000"/>
          </a:bodyPr>
          <a:lstStyle/>
          <a:p>
            <a:r>
              <a:rPr lang="en-IN" dirty="0">
                <a:effectLst/>
                <a:latin typeface="Helvetica" pitchFamily="2" charset="0"/>
              </a:rPr>
              <a:t>key aspects of the evaluation of IR systems</a:t>
            </a:r>
            <a:br>
              <a:rPr lang="en-IN" dirty="0">
                <a:effectLst/>
                <a:latin typeface="Helvetica" pitchFamily="2" charset="0"/>
              </a:rPr>
            </a:br>
            <a:endParaRPr lang="en-US" dirty="0"/>
          </a:p>
        </p:txBody>
      </p:sp>
      <p:sp>
        <p:nvSpPr>
          <p:cNvPr id="3" name="Content Placeholder 2">
            <a:extLst>
              <a:ext uri="{FF2B5EF4-FFF2-40B4-BE49-F238E27FC236}">
                <a16:creationId xmlns:a16="http://schemas.microsoft.com/office/drawing/2014/main" id="{1920A158-F555-841F-D65D-4795A30DA670}"/>
              </a:ext>
            </a:extLst>
          </p:cNvPr>
          <p:cNvSpPr>
            <a:spLocks noGrp="1"/>
          </p:cNvSpPr>
          <p:nvPr>
            <p:ph idx="1"/>
          </p:nvPr>
        </p:nvSpPr>
        <p:spPr/>
        <p:txBody>
          <a:bodyPr>
            <a:normAutofit/>
          </a:bodyPr>
          <a:lstStyle/>
          <a:p>
            <a:pPr marL="0" indent="0">
              <a:buNone/>
            </a:pPr>
            <a:r>
              <a:rPr lang="en-US" dirty="0"/>
              <a:t>7. Iterative Improvement</a:t>
            </a:r>
          </a:p>
          <a:p>
            <a:pPr marL="0" indent="0">
              <a:buNone/>
            </a:pPr>
            <a:endParaRPr lang="en-US" dirty="0"/>
          </a:p>
          <a:p>
            <a:r>
              <a:rPr lang="en-IN" dirty="0"/>
              <a:t>Evaluation results are used to iteratively improve IR systems by fine-tuning algorithms, adjusting parameters, or incorporating user feedback.</a:t>
            </a:r>
          </a:p>
          <a:p>
            <a:r>
              <a:rPr lang="en-IN" dirty="0"/>
              <a:t>Continuous evaluation and feedback help ensure that IR systems meet the evolving needs and expectations of users.</a:t>
            </a:r>
          </a:p>
          <a:p>
            <a:pPr marL="0" indent="0">
              <a:buNone/>
            </a:pPr>
            <a:endParaRPr lang="en-US" dirty="0"/>
          </a:p>
          <a:p>
            <a:endParaRPr lang="en-US" dirty="0"/>
          </a:p>
        </p:txBody>
      </p:sp>
    </p:spTree>
    <p:extLst>
      <p:ext uri="{BB962C8B-B14F-4D97-AF65-F5344CB8AC3E}">
        <p14:creationId xmlns:p14="http://schemas.microsoft.com/office/powerpoint/2010/main" val="4176124893"/>
      </p:ext>
    </p:extLst>
  </p:cSld>
  <p:clrMapOvr>
    <a:masterClrMapping/>
  </p:clrMapOvr>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9991622-F3D3-69C3-3C5E-19B311ADF98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582F478-E787-34D7-981A-8CB68954D537}"/>
              </a:ext>
            </a:extLst>
          </p:cNvPr>
          <p:cNvSpPr>
            <a:spLocks noGrp="1"/>
          </p:cNvSpPr>
          <p:nvPr>
            <p:ph type="title"/>
          </p:nvPr>
        </p:nvSpPr>
        <p:spPr/>
        <p:txBody>
          <a:bodyPr>
            <a:normAutofit fontScale="90000"/>
          </a:bodyPr>
          <a:lstStyle/>
          <a:p>
            <a:r>
              <a:rPr lang="en-IN" dirty="0">
                <a:effectLst/>
                <a:latin typeface="Helvetica" pitchFamily="2" charset="0"/>
              </a:rPr>
              <a:t>key aspects of the evaluation of IR systems</a:t>
            </a:r>
            <a:br>
              <a:rPr lang="en-IN" dirty="0">
                <a:effectLst/>
                <a:latin typeface="Helvetica" pitchFamily="2" charset="0"/>
              </a:rPr>
            </a:br>
            <a:endParaRPr lang="en-US" dirty="0"/>
          </a:p>
        </p:txBody>
      </p:sp>
      <p:sp>
        <p:nvSpPr>
          <p:cNvPr id="3" name="Content Placeholder 2">
            <a:extLst>
              <a:ext uri="{FF2B5EF4-FFF2-40B4-BE49-F238E27FC236}">
                <a16:creationId xmlns:a16="http://schemas.microsoft.com/office/drawing/2014/main" id="{BA5194F2-17DB-73A0-1721-4F8F0CB51148}"/>
              </a:ext>
            </a:extLst>
          </p:cNvPr>
          <p:cNvSpPr>
            <a:spLocks noGrp="1"/>
          </p:cNvSpPr>
          <p:nvPr>
            <p:ph idx="1"/>
          </p:nvPr>
        </p:nvSpPr>
        <p:spPr/>
        <p:txBody>
          <a:bodyPr>
            <a:normAutofit/>
          </a:bodyPr>
          <a:lstStyle/>
          <a:p>
            <a:pPr algn="just"/>
            <a:r>
              <a:rPr lang="en-IN" dirty="0"/>
              <a:t>Overall, evaluation of IR systems is a multifaceted process that combines quantitative metrics, qualitative feedback, and real-world user experiences to assess and enhance retrieval effectiveness, efficiency, and user satisfaction.</a:t>
            </a:r>
          </a:p>
          <a:p>
            <a:pPr marL="0" indent="0" algn="just">
              <a:buNone/>
            </a:pPr>
            <a:endParaRPr lang="en-US" dirty="0"/>
          </a:p>
          <a:p>
            <a:endParaRPr lang="en-US" dirty="0"/>
          </a:p>
        </p:txBody>
      </p:sp>
    </p:spTree>
    <p:extLst>
      <p:ext uri="{BB962C8B-B14F-4D97-AF65-F5344CB8AC3E}">
        <p14:creationId xmlns:p14="http://schemas.microsoft.com/office/powerpoint/2010/main" val="2129820257"/>
      </p:ext>
    </p:extLst>
  </p:cSld>
  <p:clrMapOvr>
    <a:masterClrMapping/>
  </p:clrMapOvr>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C8DF6D9-07F9-D1AB-BE9A-598CD667D66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96ABF3D-DC8A-B862-D067-204C883878CD}"/>
              </a:ext>
            </a:extLst>
          </p:cNvPr>
          <p:cNvSpPr>
            <a:spLocks noGrp="1"/>
          </p:cNvSpPr>
          <p:nvPr>
            <p:ph type="title"/>
          </p:nvPr>
        </p:nvSpPr>
        <p:spPr/>
        <p:txBody>
          <a:bodyPr/>
          <a:lstStyle/>
          <a:p>
            <a:r>
              <a:rPr lang="en-US" dirty="0"/>
              <a:t>Unit 1: Vector Space Model of Retrieval</a:t>
            </a:r>
          </a:p>
        </p:txBody>
      </p:sp>
      <p:sp>
        <p:nvSpPr>
          <p:cNvPr id="3" name="Content Placeholder 2">
            <a:extLst>
              <a:ext uri="{FF2B5EF4-FFF2-40B4-BE49-F238E27FC236}">
                <a16:creationId xmlns:a16="http://schemas.microsoft.com/office/drawing/2014/main" id="{8930BC77-DC31-F2A4-EA9A-07A6E89AC89D}"/>
              </a:ext>
            </a:extLst>
          </p:cNvPr>
          <p:cNvSpPr>
            <a:spLocks noGrp="1"/>
          </p:cNvSpPr>
          <p:nvPr>
            <p:ph idx="1"/>
          </p:nvPr>
        </p:nvSpPr>
        <p:spPr/>
        <p:txBody>
          <a:bodyPr>
            <a:normAutofit fontScale="55000" lnSpcReduction="20000"/>
          </a:bodyPr>
          <a:lstStyle/>
          <a:p>
            <a:r>
              <a:rPr lang="en-US" strike="sngStrike" dirty="0"/>
              <a:t>Word Statistics</a:t>
            </a:r>
          </a:p>
          <a:p>
            <a:r>
              <a:rPr lang="en-US" strike="sngStrike" dirty="0"/>
              <a:t>Text preprocessing</a:t>
            </a:r>
          </a:p>
          <a:p>
            <a:r>
              <a:rPr lang="en-US" strike="sngStrike" dirty="0"/>
              <a:t>Term Weighing</a:t>
            </a:r>
          </a:p>
          <a:p>
            <a:r>
              <a:rPr lang="en-US" strike="sngStrike" dirty="0"/>
              <a:t>Similarity Function</a:t>
            </a:r>
          </a:p>
          <a:p>
            <a:r>
              <a:rPr lang="en-US" strike="sngStrike" dirty="0"/>
              <a:t>Indexing</a:t>
            </a:r>
          </a:p>
          <a:p>
            <a:r>
              <a:rPr lang="en-US" strike="sngStrike" dirty="0"/>
              <a:t>Relevance Feedback</a:t>
            </a:r>
          </a:p>
          <a:p>
            <a:r>
              <a:rPr lang="en-US" strike="sngStrike" dirty="0"/>
              <a:t>Query Expansion(With Local Analysis from External Resources)</a:t>
            </a:r>
          </a:p>
          <a:p>
            <a:r>
              <a:rPr lang="en-US" strike="sngStrike" dirty="0"/>
              <a:t>The impact of Document Normalization</a:t>
            </a:r>
          </a:p>
          <a:p>
            <a:r>
              <a:rPr lang="en-US" strike="sngStrike" dirty="0"/>
              <a:t>Multi-Field Retrieval</a:t>
            </a:r>
          </a:p>
          <a:p>
            <a:r>
              <a:rPr lang="en-US" strike="sngStrike" dirty="0"/>
              <a:t>Evaluation of Retrieval</a:t>
            </a:r>
          </a:p>
          <a:p>
            <a:r>
              <a:rPr lang="en-US" dirty="0"/>
              <a:t>Applications</a:t>
            </a:r>
          </a:p>
          <a:p>
            <a:r>
              <a:rPr lang="en-US" dirty="0"/>
              <a:t>Disadvantages</a:t>
            </a:r>
          </a:p>
          <a:p>
            <a:r>
              <a:rPr lang="en-US" dirty="0"/>
              <a:t>Incentives for Engaging in Electronic Commerce</a:t>
            </a:r>
          </a:p>
          <a:p>
            <a:r>
              <a:rPr lang="en-US" dirty="0"/>
              <a:t>Forces behind E-</a:t>
            </a:r>
            <a:r>
              <a:rPr lang="en-US" dirty="0" err="1"/>
              <a:t>commerece</a:t>
            </a:r>
            <a:endParaRPr lang="en-US" dirty="0"/>
          </a:p>
        </p:txBody>
      </p:sp>
    </p:spTree>
    <p:extLst>
      <p:ext uri="{BB962C8B-B14F-4D97-AF65-F5344CB8AC3E}">
        <p14:creationId xmlns:p14="http://schemas.microsoft.com/office/powerpoint/2010/main" val="1862451463"/>
      </p:ext>
    </p:extLst>
  </p:cSld>
  <p:clrMapOvr>
    <a:masterClrMapping/>
  </p:clrMapOvr>
</p:sld>
</file>

<file path=ppt/slides/slide1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07FF7B-C18A-1495-5811-B567487034D2}"/>
              </a:ext>
            </a:extLst>
          </p:cNvPr>
          <p:cNvSpPr>
            <a:spLocks noGrp="1"/>
          </p:cNvSpPr>
          <p:nvPr>
            <p:ph type="title"/>
          </p:nvPr>
        </p:nvSpPr>
        <p:spPr/>
        <p:txBody>
          <a:bodyPr>
            <a:normAutofit fontScale="90000"/>
          </a:bodyPr>
          <a:lstStyle/>
          <a:p>
            <a:r>
              <a:rPr lang="en-US" dirty="0"/>
              <a:t>Evaluation of retrieval. Applications. and Disadvantages</a:t>
            </a:r>
            <a:br>
              <a:rPr lang="en-US" dirty="0"/>
            </a:br>
            <a:endParaRPr lang="en-US" dirty="0"/>
          </a:p>
        </p:txBody>
      </p:sp>
      <p:sp>
        <p:nvSpPr>
          <p:cNvPr id="3" name="Content Placeholder 2">
            <a:extLst>
              <a:ext uri="{FF2B5EF4-FFF2-40B4-BE49-F238E27FC236}">
                <a16:creationId xmlns:a16="http://schemas.microsoft.com/office/drawing/2014/main" id="{F78A9F1F-38DD-71FD-9A5C-4446D13C1A5C}"/>
              </a:ext>
            </a:extLst>
          </p:cNvPr>
          <p:cNvSpPr>
            <a:spLocks noGrp="1"/>
          </p:cNvSpPr>
          <p:nvPr>
            <p:ph idx="1"/>
          </p:nvPr>
        </p:nvSpPr>
        <p:spPr/>
        <p:txBody>
          <a:bodyPr>
            <a:normAutofit fontScale="85000" lnSpcReduction="20000"/>
          </a:bodyPr>
          <a:lstStyle/>
          <a:p>
            <a:pPr marL="514350" indent="-514350">
              <a:buAutoNum type="arabicPeriod"/>
            </a:pPr>
            <a:r>
              <a:rPr lang="en-US" dirty="0"/>
              <a:t>Evaluation of Retrieval:</a:t>
            </a:r>
          </a:p>
          <a:p>
            <a:pPr algn="just"/>
            <a:r>
              <a:rPr lang="en-IN" dirty="0"/>
              <a:t>Metrics: Various metrics are used to evaluate the performance of retrieval systems, including precision, recall, F1 score, mean average precision (MAP), normalized discounted cumulative gain (</a:t>
            </a:r>
            <a:r>
              <a:rPr lang="en-IN" dirty="0" err="1"/>
              <a:t>nDCG</a:t>
            </a:r>
            <a:r>
              <a:rPr lang="en-IN" dirty="0"/>
              <a:t>), and precision-recall curves.</a:t>
            </a:r>
          </a:p>
          <a:p>
            <a:pPr algn="just"/>
            <a:r>
              <a:rPr lang="en-IN" dirty="0"/>
              <a:t>Test Collections: Evaluation is often conducted on standardized test collections, which consist of a set of queries, relevant documents for each query (judged by human assessors), and a retrieval system's output for those queries.</a:t>
            </a:r>
          </a:p>
          <a:p>
            <a:pPr algn="just"/>
            <a:r>
              <a:rPr lang="en-IN" dirty="0"/>
              <a:t>Cross-Validation: Cross-validation techniques, such as k-fold cross-validation or leave-</a:t>
            </a:r>
            <a:r>
              <a:rPr lang="en-IN" dirty="0" err="1"/>
              <a:t>oneout</a:t>
            </a:r>
            <a:r>
              <a:rPr lang="en-IN" dirty="0"/>
              <a:t> cross-validation, may be used to assess the robustness and generalization of retrieval models.</a:t>
            </a:r>
          </a:p>
          <a:p>
            <a:pPr algn="just"/>
            <a:r>
              <a:rPr lang="en-IN" dirty="0"/>
              <a:t>User Studies: In addition to traditional metrics, user studies and feedback are valuable for evaluating the effectiveness of retrieval systems in meeting user needs and preferences.</a:t>
            </a:r>
          </a:p>
          <a:p>
            <a:pPr marL="0" indent="0">
              <a:buNone/>
            </a:pPr>
            <a:endParaRPr lang="en-US" dirty="0"/>
          </a:p>
        </p:txBody>
      </p:sp>
    </p:spTree>
    <p:extLst>
      <p:ext uri="{BB962C8B-B14F-4D97-AF65-F5344CB8AC3E}">
        <p14:creationId xmlns:p14="http://schemas.microsoft.com/office/powerpoint/2010/main" val="825230528"/>
      </p:ext>
    </p:extLst>
  </p:cSld>
  <p:clrMapOvr>
    <a:masterClrMapping/>
  </p:clrMapOvr>
</p:sld>
</file>

<file path=ppt/slides/slide10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5B72A29-5B56-9211-5837-65779CF0E37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3B7944A-8B31-ADF6-4C88-BCE043212FD6}"/>
              </a:ext>
            </a:extLst>
          </p:cNvPr>
          <p:cNvSpPr>
            <a:spLocks noGrp="1"/>
          </p:cNvSpPr>
          <p:nvPr>
            <p:ph type="title"/>
          </p:nvPr>
        </p:nvSpPr>
        <p:spPr/>
        <p:txBody>
          <a:bodyPr>
            <a:normAutofit fontScale="90000"/>
          </a:bodyPr>
          <a:lstStyle/>
          <a:p>
            <a:r>
              <a:rPr lang="en-US" dirty="0"/>
              <a:t>Evaluation of retrieval. Applications. and Disadvantages</a:t>
            </a:r>
            <a:br>
              <a:rPr lang="en-US" dirty="0"/>
            </a:br>
            <a:endParaRPr lang="en-US" dirty="0"/>
          </a:p>
        </p:txBody>
      </p:sp>
      <p:sp>
        <p:nvSpPr>
          <p:cNvPr id="3" name="Content Placeholder 2">
            <a:extLst>
              <a:ext uri="{FF2B5EF4-FFF2-40B4-BE49-F238E27FC236}">
                <a16:creationId xmlns:a16="http://schemas.microsoft.com/office/drawing/2014/main" id="{F5076462-4F43-DB3D-17A3-206BA18FEAA2}"/>
              </a:ext>
            </a:extLst>
          </p:cNvPr>
          <p:cNvSpPr>
            <a:spLocks noGrp="1"/>
          </p:cNvSpPr>
          <p:nvPr>
            <p:ph idx="1"/>
          </p:nvPr>
        </p:nvSpPr>
        <p:spPr/>
        <p:txBody>
          <a:bodyPr>
            <a:normAutofit fontScale="85000" lnSpcReduction="20000"/>
          </a:bodyPr>
          <a:lstStyle/>
          <a:p>
            <a:pPr marL="0" indent="0">
              <a:buNone/>
            </a:pPr>
            <a:r>
              <a:rPr lang="en-IN" i="1" dirty="0"/>
              <a:t>2. </a:t>
            </a:r>
            <a:r>
              <a:rPr lang="en-IN" dirty="0"/>
              <a:t>Applications:</a:t>
            </a:r>
          </a:p>
          <a:p>
            <a:r>
              <a:rPr lang="en-IN" dirty="0"/>
              <a:t>Web Search Engines: Web search engines, such as Google and Bing, use retrieval systems to match user queries with relevant web pages from the vast amount of information available on the internet.</a:t>
            </a:r>
          </a:p>
          <a:p>
            <a:r>
              <a:rPr lang="en-IN" dirty="0"/>
              <a:t>Enterprise Search: In organizations, retrieval systems are used to search and retrieve relevant documents, emails, and other resources from internal repositories, improving knowledge management and information access.</a:t>
            </a:r>
          </a:p>
          <a:p>
            <a:r>
              <a:rPr lang="en-IN" dirty="0"/>
              <a:t>Digital Libraries: Digital libraries employ retrieval systems to enable users to search and access digital resources, such as academic papers, books, and multimedia content, stored in online repositories.</a:t>
            </a:r>
          </a:p>
          <a:p>
            <a:r>
              <a:rPr lang="en-IN" dirty="0"/>
              <a:t>E-commerce: E-commerce platforms utilize retrieval systems to match user queries with relevant products, enhancing the shopping experience and facilitating product discovery.</a:t>
            </a:r>
          </a:p>
          <a:p>
            <a:pPr marL="0" indent="0">
              <a:buNone/>
            </a:pPr>
            <a:endParaRPr lang="en-US" dirty="0"/>
          </a:p>
        </p:txBody>
      </p:sp>
    </p:spTree>
    <p:extLst>
      <p:ext uri="{BB962C8B-B14F-4D97-AF65-F5344CB8AC3E}">
        <p14:creationId xmlns:p14="http://schemas.microsoft.com/office/powerpoint/2010/main" val="4104357854"/>
      </p:ext>
    </p:extLst>
  </p:cSld>
  <p:clrMapOvr>
    <a:masterClrMapping/>
  </p:clrMapOvr>
</p:sld>
</file>

<file path=ppt/slides/slide1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ADE0138-E467-33F3-8795-E7FABE806D9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806C9BD-CF12-3C88-F275-0302270D4791}"/>
              </a:ext>
            </a:extLst>
          </p:cNvPr>
          <p:cNvSpPr>
            <a:spLocks noGrp="1"/>
          </p:cNvSpPr>
          <p:nvPr>
            <p:ph type="title"/>
          </p:nvPr>
        </p:nvSpPr>
        <p:spPr/>
        <p:txBody>
          <a:bodyPr>
            <a:normAutofit fontScale="90000"/>
          </a:bodyPr>
          <a:lstStyle/>
          <a:p>
            <a:r>
              <a:rPr lang="en-US" dirty="0"/>
              <a:t>Evaluation of retrieval. Applications. and Disadvantages</a:t>
            </a:r>
            <a:br>
              <a:rPr lang="en-US" dirty="0"/>
            </a:br>
            <a:endParaRPr lang="en-US" dirty="0"/>
          </a:p>
        </p:txBody>
      </p:sp>
      <p:sp>
        <p:nvSpPr>
          <p:cNvPr id="3" name="Content Placeholder 2">
            <a:extLst>
              <a:ext uri="{FF2B5EF4-FFF2-40B4-BE49-F238E27FC236}">
                <a16:creationId xmlns:a16="http://schemas.microsoft.com/office/drawing/2014/main" id="{AD7B6CF9-1BC6-86D1-5A17-D2E9AF5BA97D}"/>
              </a:ext>
            </a:extLst>
          </p:cNvPr>
          <p:cNvSpPr>
            <a:spLocks noGrp="1"/>
          </p:cNvSpPr>
          <p:nvPr>
            <p:ph idx="1"/>
          </p:nvPr>
        </p:nvSpPr>
        <p:spPr/>
        <p:txBody>
          <a:bodyPr>
            <a:normAutofit fontScale="77500" lnSpcReduction="20000"/>
          </a:bodyPr>
          <a:lstStyle/>
          <a:p>
            <a:pPr marL="0" indent="0">
              <a:buNone/>
            </a:pPr>
            <a:r>
              <a:rPr lang="en-IN" i="1" dirty="0"/>
              <a:t>3. </a:t>
            </a:r>
            <a:r>
              <a:rPr lang="en-IN" dirty="0"/>
              <a:t>Disadvantages:</a:t>
            </a:r>
          </a:p>
          <a:p>
            <a:pPr algn="just"/>
            <a:r>
              <a:rPr lang="en-IN" dirty="0"/>
              <a:t>Ambiguity and Noise: Retrieval systems may struggle with ambiguous queries, misspellings, and noisy or irrelevant documents, leading to suboptimal results.</a:t>
            </a:r>
          </a:p>
          <a:p>
            <a:pPr algn="just"/>
            <a:r>
              <a:rPr lang="en-IN" dirty="0"/>
              <a:t>Scalability: Building efficient retrieval systems that can handle large-scale document collections and serve a large number of concurrent users can be challenging and resource intensive.</a:t>
            </a:r>
          </a:p>
          <a:p>
            <a:pPr algn="just"/>
            <a:r>
              <a:rPr lang="en-IN" dirty="0"/>
              <a:t>Bias and Fairness: Retrieval systems may exhibit bias in the selection and ranking of documents, potentially leading to unfair or discriminatory outcomes, especially in sensitive domains such as healthcare or hiring.</a:t>
            </a:r>
          </a:p>
          <a:p>
            <a:pPr algn="just"/>
            <a:r>
              <a:rPr lang="en-IN" dirty="0"/>
              <a:t>Cold Start Problem: New or rare queries with limited historical data may pose challenges for retrieval systems, as they may lack sufficient information to provide relevant results.</a:t>
            </a:r>
          </a:p>
          <a:p>
            <a:pPr algn="just"/>
            <a:r>
              <a:rPr lang="en-IN" dirty="0"/>
              <a:t>Dynamic Content: Retrieval systems must continuously adapt to changes in the document collection, user preferences, and evolving information needs, requiring ongoing maintenance and updates.</a:t>
            </a:r>
          </a:p>
          <a:p>
            <a:pPr marL="0" indent="0">
              <a:buNone/>
            </a:pPr>
            <a:endParaRPr lang="en-US" dirty="0"/>
          </a:p>
        </p:txBody>
      </p:sp>
    </p:spTree>
    <p:extLst>
      <p:ext uri="{BB962C8B-B14F-4D97-AF65-F5344CB8AC3E}">
        <p14:creationId xmlns:p14="http://schemas.microsoft.com/office/powerpoint/2010/main" val="3427292787"/>
      </p:ext>
    </p:extLst>
  </p:cSld>
  <p:clrMapOvr>
    <a:masterClrMapping/>
  </p:clrMapOvr>
</p:sld>
</file>

<file path=ppt/slides/slide1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D7F3DA6-DA2B-11C0-62F8-55A79399BFB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6836E11-873B-AC68-C6D7-9C43DFD51185}"/>
              </a:ext>
            </a:extLst>
          </p:cNvPr>
          <p:cNvSpPr>
            <a:spLocks noGrp="1"/>
          </p:cNvSpPr>
          <p:nvPr>
            <p:ph type="title"/>
          </p:nvPr>
        </p:nvSpPr>
        <p:spPr/>
        <p:txBody>
          <a:bodyPr>
            <a:normAutofit fontScale="90000"/>
          </a:bodyPr>
          <a:lstStyle/>
          <a:p>
            <a:r>
              <a:rPr lang="en-US" dirty="0"/>
              <a:t>Evaluation of retrieval. Applications. and Disadvantages</a:t>
            </a:r>
            <a:br>
              <a:rPr lang="en-US" dirty="0"/>
            </a:br>
            <a:endParaRPr lang="en-US" dirty="0"/>
          </a:p>
        </p:txBody>
      </p:sp>
      <p:sp>
        <p:nvSpPr>
          <p:cNvPr id="3" name="Content Placeholder 2">
            <a:extLst>
              <a:ext uri="{FF2B5EF4-FFF2-40B4-BE49-F238E27FC236}">
                <a16:creationId xmlns:a16="http://schemas.microsoft.com/office/drawing/2014/main" id="{904DA409-54C0-6BDB-DD12-92DCFBBA400F}"/>
              </a:ext>
            </a:extLst>
          </p:cNvPr>
          <p:cNvSpPr>
            <a:spLocks noGrp="1"/>
          </p:cNvSpPr>
          <p:nvPr>
            <p:ph idx="1"/>
          </p:nvPr>
        </p:nvSpPr>
        <p:spPr/>
        <p:txBody>
          <a:bodyPr>
            <a:normAutofit/>
          </a:bodyPr>
          <a:lstStyle/>
          <a:p>
            <a:pPr marL="0" indent="0" algn="just">
              <a:buNone/>
            </a:pPr>
            <a:r>
              <a:rPr lang="en-US" dirty="0"/>
              <a:t>Despite these challenges, retrieval systems play a crucial role in facilitating access to information in various domains and have become indispensable tools for users in their everyday tasks, research endeavors, and decision-making processes. Ongoing research and advancements in the field aim to address these challenges and further improve the effectiveness and usability of retrieval systems.</a:t>
            </a:r>
          </a:p>
          <a:p>
            <a:pPr marL="0" indent="0">
              <a:buNone/>
            </a:pPr>
            <a:endParaRPr lang="en-US" dirty="0"/>
          </a:p>
        </p:txBody>
      </p:sp>
    </p:spTree>
    <p:extLst>
      <p:ext uri="{BB962C8B-B14F-4D97-AF65-F5344CB8AC3E}">
        <p14:creationId xmlns:p14="http://schemas.microsoft.com/office/powerpoint/2010/main" val="1039645974"/>
      </p:ext>
    </p:extLst>
  </p:cSld>
  <p:clrMapOvr>
    <a:masterClrMapping/>
  </p:clrMapOvr>
</p:sld>
</file>

<file path=ppt/slides/slide1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0BBEFB0-621E-CC5A-A90F-EA3CCA1E4E4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09398F9-A76D-6061-DED3-9B77EB5B984D}"/>
              </a:ext>
            </a:extLst>
          </p:cNvPr>
          <p:cNvSpPr>
            <a:spLocks noGrp="1"/>
          </p:cNvSpPr>
          <p:nvPr>
            <p:ph type="title"/>
          </p:nvPr>
        </p:nvSpPr>
        <p:spPr/>
        <p:txBody>
          <a:bodyPr/>
          <a:lstStyle/>
          <a:p>
            <a:r>
              <a:rPr lang="en-US" dirty="0"/>
              <a:t>Unit 1: Vector Space Model of Retrieval</a:t>
            </a:r>
          </a:p>
        </p:txBody>
      </p:sp>
      <p:sp>
        <p:nvSpPr>
          <p:cNvPr id="3" name="Content Placeholder 2">
            <a:extLst>
              <a:ext uri="{FF2B5EF4-FFF2-40B4-BE49-F238E27FC236}">
                <a16:creationId xmlns:a16="http://schemas.microsoft.com/office/drawing/2014/main" id="{CDB74F52-0C02-F3DA-53FB-95D0B33F4C6A}"/>
              </a:ext>
            </a:extLst>
          </p:cNvPr>
          <p:cNvSpPr>
            <a:spLocks noGrp="1"/>
          </p:cNvSpPr>
          <p:nvPr>
            <p:ph idx="1"/>
          </p:nvPr>
        </p:nvSpPr>
        <p:spPr/>
        <p:txBody>
          <a:bodyPr>
            <a:normAutofit fontScale="55000" lnSpcReduction="20000"/>
          </a:bodyPr>
          <a:lstStyle/>
          <a:p>
            <a:r>
              <a:rPr lang="en-US" strike="sngStrike" dirty="0"/>
              <a:t>Word Statistics</a:t>
            </a:r>
          </a:p>
          <a:p>
            <a:r>
              <a:rPr lang="en-US" strike="sngStrike" dirty="0"/>
              <a:t>Text preprocessing</a:t>
            </a:r>
          </a:p>
          <a:p>
            <a:r>
              <a:rPr lang="en-US" strike="sngStrike" dirty="0"/>
              <a:t>Term Weighing</a:t>
            </a:r>
          </a:p>
          <a:p>
            <a:r>
              <a:rPr lang="en-US" strike="sngStrike" dirty="0"/>
              <a:t>Similarity Function</a:t>
            </a:r>
          </a:p>
          <a:p>
            <a:r>
              <a:rPr lang="en-US" strike="sngStrike" dirty="0"/>
              <a:t>Indexing</a:t>
            </a:r>
          </a:p>
          <a:p>
            <a:r>
              <a:rPr lang="en-US" strike="sngStrike" dirty="0"/>
              <a:t>Relevance Feedback</a:t>
            </a:r>
          </a:p>
          <a:p>
            <a:r>
              <a:rPr lang="en-US" strike="sngStrike" dirty="0"/>
              <a:t>Query Expansion(With Local Analysis from External Resources)</a:t>
            </a:r>
          </a:p>
          <a:p>
            <a:r>
              <a:rPr lang="en-US" strike="sngStrike" dirty="0"/>
              <a:t>The impact of Document Normalization</a:t>
            </a:r>
          </a:p>
          <a:p>
            <a:r>
              <a:rPr lang="en-US" strike="sngStrike" dirty="0"/>
              <a:t>Multi-Field Retrieval</a:t>
            </a:r>
          </a:p>
          <a:p>
            <a:r>
              <a:rPr lang="en-US" strike="sngStrike" dirty="0"/>
              <a:t>Evaluation of Retrieval</a:t>
            </a:r>
          </a:p>
          <a:p>
            <a:r>
              <a:rPr lang="en-US" strike="sngStrike" dirty="0"/>
              <a:t>Applications</a:t>
            </a:r>
          </a:p>
          <a:p>
            <a:r>
              <a:rPr lang="en-US" strike="sngStrike" dirty="0"/>
              <a:t>Disadvantages</a:t>
            </a:r>
          </a:p>
          <a:p>
            <a:r>
              <a:rPr lang="en-US" dirty="0"/>
              <a:t>Incentives for Engaging in Electronic Commerce</a:t>
            </a:r>
          </a:p>
          <a:p>
            <a:r>
              <a:rPr lang="en-US" dirty="0"/>
              <a:t>Forces behind E-</a:t>
            </a:r>
            <a:r>
              <a:rPr lang="en-US" dirty="0" err="1"/>
              <a:t>commerece</a:t>
            </a:r>
            <a:endParaRPr lang="en-US" dirty="0"/>
          </a:p>
        </p:txBody>
      </p:sp>
    </p:spTree>
    <p:extLst>
      <p:ext uri="{BB962C8B-B14F-4D97-AF65-F5344CB8AC3E}">
        <p14:creationId xmlns:p14="http://schemas.microsoft.com/office/powerpoint/2010/main" val="1526804190"/>
      </p:ext>
    </p:extLst>
  </p:cSld>
  <p:clrMapOvr>
    <a:masterClrMapping/>
  </p:clrMapOvr>
</p:sld>
</file>

<file path=ppt/slides/slide1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DD155F5-5790-C916-AC43-7EF3FBCC5E9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621CE9F-569E-87D2-8529-9925C49C36B2}"/>
              </a:ext>
            </a:extLst>
          </p:cNvPr>
          <p:cNvSpPr>
            <a:spLocks noGrp="1"/>
          </p:cNvSpPr>
          <p:nvPr>
            <p:ph type="title"/>
          </p:nvPr>
        </p:nvSpPr>
        <p:spPr/>
        <p:txBody>
          <a:bodyPr>
            <a:normAutofit fontScale="90000"/>
          </a:bodyPr>
          <a:lstStyle/>
          <a:p>
            <a:r>
              <a:rPr lang="en-US" dirty="0"/>
              <a:t>Incentives for engaging in electronic commerce</a:t>
            </a:r>
            <a:br>
              <a:rPr lang="en-US" dirty="0"/>
            </a:br>
            <a:endParaRPr lang="en-US" dirty="0"/>
          </a:p>
        </p:txBody>
      </p:sp>
      <p:sp>
        <p:nvSpPr>
          <p:cNvPr id="3" name="Content Placeholder 2">
            <a:extLst>
              <a:ext uri="{FF2B5EF4-FFF2-40B4-BE49-F238E27FC236}">
                <a16:creationId xmlns:a16="http://schemas.microsoft.com/office/drawing/2014/main" id="{BC114469-49C9-5A06-583E-537B740E1BE3}"/>
              </a:ext>
            </a:extLst>
          </p:cNvPr>
          <p:cNvSpPr>
            <a:spLocks noGrp="1"/>
          </p:cNvSpPr>
          <p:nvPr>
            <p:ph idx="1"/>
          </p:nvPr>
        </p:nvSpPr>
        <p:spPr/>
        <p:txBody>
          <a:bodyPr>
            <a:normAutofit lnSpcReduction="10000"/>
          </a:bodyPr>
          <a:lstStyle/>
          <a:p>
            <a:pPr marL="0" indent="0" algn="just">
              <a:buNone/>
            </a:pPr>
            <a:r>
              <a:rPr lang="en-US" dirty="0"/>
              <a:t>Engaging in electronic commerce (e-commerce) offers various incentives for businesses, consumers, and other stakeholders involved. Here are some key incentives</a:t>
            </a:r>
          </a:p>
          <a:p>
            <a:pPr marL="0" indent="0" algn="just">
              <a:buNone/>
            </a:pPr>
            <a:r>
              <a:rPr lang="en-US" dirty="0"/>
              <a:t>1. Global Reach: E-commerce provides businesses with the opportunity to reach a global audience without the constraints of geographical boundaries. This enables access to a larger market and potential customers beyond local or regional markets.</a:t>
            </a:r>
          </a:p>
          <a:p>
            <a:pPr marL="0" indent="0" algn="just">
              <a:buNone/>
            </a:pPr>
            <a:r>
              <a:rPr lang="en-IN" i="1" dirty="0"/>
              <a:t>2</a:t>
            </a:r>
            <a:r>
              <a:rPr lang="en-IN" dirty="0"/>
              <a:t>. 24/7 Availability: Online stores are accessible 24/7, allowing customers to browse, shop, and make purchases at any time convenient for them. This flexibility in accessibility enhances customer convenience and satisfaction.</a:t>
            </a:r>
          </a:p>
          <a:p>
            <a:pPr marL="0" indent="0" algn="just">
              <a:buNone/>
            </a:pPr>
            <a:endParaRPr lang="en-IN" dirty="0"/>
          </a:p>
          <a:p>
            <a:pPr marL="0" indent="0">
              <a:buNone/>
            </a:pPr>
            <a:endParaRPr lang="en-US" dirty="0"/>
          </a:p>
          <a:p>
            <a:endParaRPr lang="en-US" dirty="0"/>
          </a:p>
        </p:txBody>
      </p:sp>
    </p:spTree>
    <p:extLst>
      <p:ext uri="{BB962C8B-B14F-4D97-AF65-F5344CB8AC3E}">
        <p14:creationId xmlns:p14="http://schemas.microsoft.com/office/powerpoint/2010/main" val="4177816760"/>
      </p:ext>
    </p:extLst>
  </p:cSld>
  <p:clrMapOvr>
    <a:masterClrMapping/>
  </p:clrMapOvr>
</p:sld>
</file>

<file path=ppt/slides/slide1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972D35A-8647-ED96-CAB9-7056854D931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6CCE7C4-0465-7700-F1B9-08F5354A5470}"/>
              </a:ext>
            </a:extLst>
          </p:cNvPr>
          <p:cNvSpPr>
            <a:spLocks noGrp="1"/>
          </p:cNvSpPr>
          <p:nvPr>
            <p:ph type="title"/>
          </p:nvPr>
        </p:nvSpPr>
        <p:spPr/>
        <p:txBody>
          <a:bodyPr>
            <a:normAutofit fontScale="90000"/>
          </a:bodyPr>
          <a:lstStyle/>
          <a:p>
            <a:r>
              <a:rPr lang="en-US" dirty="0"/>
              <a:t>Incentives for engaging in electronic commerce</a:t>
            </a:r>
            <a:br>
              <a:rPr lang="en-US" dirty="0"/>
            </a:br>
            <a:endParaRPr lang="en-US" dirty="0"/>
          </a:p>
        </p:txBody>
      </p:sp>
      <p:sp>
        <p:nvSpPr>
          <p:cNvPr id="3" name="Content Placeholder 2">
            <a:extLst>
              <a:ext uri="{FF2B5EF4-FFF2-40B4-BE49-F238E27FC236}">
                <a16:creationId xmlns:a16="http://schemas.microsoft.com/office/drawing/2014/main" id="{F7073FC8-EE72-A660-8E18-BC4B05A8D43E}"/>
              </a:ext>
            </a:extLst>
          </p:cNvPr>
          <p:cNvSpPr>
            <a:spLocks noGrp="1"/>
          </p:cNvSpPr>
          <p:nvPr>
            <p:ph idx="1"/>
          </p:nvPr>
        </p:nvSpPr>
        <p:spPr/>
        <p:txBody>
          <a:bodyPr>
            <a:normAutofit lnSpcReduction="10000"/>
          </a:bodyPr>
          <a:lstStyle/>
          <a:p>
            <a:pPr marL="0" indent="0" algn="just">
              <a:buNone/>
            </a:pPr>
            <a:r>
              <a:rPr lang="en-IN" dirty="0"/>
              <a:t>3. Cost Efficiency: E-commerce often involves lower operational costs compared to traditional brick-and-mortar stores. Businesses can save on expenses related to physical infrastructure, rent, utilities, and staffing. Additionally, automation of processes such as inventory management and order processing can lead to further cost savings.</a:t>
            </a:r>
          </a:p>
          <a:p>
            <a:pPr marL="0" indent="0" algn="just">
              <a:buNone/>
            </a:pPr>
            <a:r>
              <a:rPr lang="en-IN" dirty="0"/>
              <a:t>4. Wider Product Range: E-commerce platforms offer businesses the ability to showcase a wider range of products and services compared to physical stores. This allows businesses to cater to diverse customer needs and preferences, leading to increased sales opportunities.</a:t>
            </a:r>
          </a:p>
          <a:p>
            <a:pPr marL="0" indent="0" algn="just">
              <a:buNone/>
            </a:pPr>
            <a:endParaRPr lang="en-IN" dirty="0"/>
          </a:p>
          <a:p>
            <a:pPr marL="0" indent="0" algn="just">
              <a:buNone/>
            </a:pPr>
            <a:endParaRPr lang="en-IN" dirty="0"/>
          </a:p>
          <a:p>
            <a:pPr marL="0" indent="0">
              <a:buNone/>
            </a:pPr>
            <a:endParaRPr lang="en-US" dirty="0"/>
          </a:p>
          <a:p>
            <a:endParaRPr lang="en-US" dirty="0"/>
          </a:p>
        </p:txBody>
      </p:sp>
    </p:spTree>
    <p:extLst>
      <p:ext uri="{BB962C8B-B14F-4D97-AF65-F5344CB8AC3E}">
        <p14:creationId xmlns:p14="http://schemas.microsoft.com/office/powerpoint/2010/main" val="2780437960"/>
      </p:ext>
    </p:extLst>
  </p:cSld>
  <p:clrMapOvr>
    <a:masterClrMapping/>
  </p:clrMapOvr>
</p:sld>
</file>

<file path=ppt/slides/slide1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C8C1040-BB25-00EF-D642-CD2B4262A9A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FD6F786-C5D9-CA64-1F22-B84588793A3D}"/>
              </a:ext>
            </a:extLst>
          </p:cNvPr>
          <p:cNvSpPr>
            <a:spLocks noGrp="1"/>
          </p:cNvSpPr>
          <p:nvPr>
            <p:ph type="title"/>
          </p:nvPr>
        </p:nvSpPr>
        <p:spPr/>
        <p:txBody>
          <a:bodyPr>
            <a:normAutofit fontScale="90000"/>
          </a:bodyPr>
          <a:lstStyle/>
          <a:p>
            <a:r>
              <a:rPr lang="en-US" dirty="0"/>
              <a:t>Incentives for engaging in electronic commerce</a:t>
            </a:r>
            <a:br>
              <a:rPr lang="en-US" dirty="0"/>
            </a:br>
            <a:endParaRPr lang="en-US" dirty="0"/>
          </a:p>
        </p:txBody>
      </p:sp>
      <p:sp>
        <p:nvSpPr>
          <p:cNvPr id="3" name="Content Placeholder 2">
            <a:extLst>
              <a:ext uri="{FF2B5EF4-FFF2-40B4-BE49-F238E27FC236}">
                <a16:creationId xmlns:a16="http://schemas.microsoft.com/office/drawing/2014/main" id="{0708B4E3-642A-EE89-627C-9631B8F21E6E}"/>
              </a:ext>
            </a:extLst>
          </p:cNvPr>
          <p:cNvSpPr>
            <a:spLocks noGrp="1"/>
          </p:cNvSpPr>
          <p:nvPr>
            <p:ph idx="1"/>
          </p:nvPr>
        </p:nvSpPr>
        <p:spPr/>
        <p:txBody>
          <a:bodyPr>
            <a:normAutofit/>
          </a:bodyPr>
          <a:lstStyle/>
          <a:p>
            <a:pPr marL="0" indent="0" algn="just">
              <a:buNone/>
            </a:pPr>
            <a:r>
              <a:rPr lang="en-IN" dirty="0"/>
              <a:t>5. Personalization and Targeting: E-commerce platforms can leverage customer data and analytics to personalize the shopping experience for individual customers. Personalized product recommendations, targeted marketing campaigns, and customized promotions can enhance customer engagement and loyalty.</a:t>
            </a:r>
          </a:p>
          <a:p>
            <a:pPr marL="0" indent="0" algn="just">
              <a:buNone/>
            </a:pPr>
            <a:r>
              <a:rPr lang="en-IN" dirty="0"/>
              <a:t>6. Convenience: E-commerce offers convenience for both businesses and consumers. Customers can shop from the comfort of their homes or on the go using mobile devices, eliminating the need for physical travel to stores. Similarly, businesses can manage operations remotely and efficiently.</a:t>
            </a:r>
          </a:p>
          <a:p>
            <a:pPr marL="0" indent="0" algn="just">
              <a:buNone/>
            </a:pPr>
            <a:endParaRPr lang="en-IN" dirty="0"/>
          </a:p>
          <a:p>
            <a:pPr marL="0" indent="0" algn="just">
              <a:buNone/>
            </a:pPr>
            <a:endParaRPr lang="en-IN" dirty="0"/>
          </a:p>
          <a:p>
            <a:pPr marL="0" indent="0" algn="just">
              <a:buNone/>
            </a:pPr>
            <a:endParaRPr lang="en-IN" dirty="0"/>
          </a:p>
          <a:p>
            <a:pPr marL="0" indent="0">
              <a:buNone/>
            </a:pPr>
            <a:endParaRPr lang="en-US" dirty="0"/>
          </a:p>
          <a:p>
            <a:endParaRPr lang="en-US" dirty="0"/>
          </a:p>
        </p:txBody>
      </p:sp>
    </p:spTree>
    <p:extLst>
      <p:ext uri="{BB962C8B-B14F-4D97-AF65-F5344CB8AC3E}">
        <p14:creationId xmlns:p14="http://schemas.microsoft.com/office/powerpoint/2010/main" val="516503839"/>
      </p:ext>
    </p:extLst>
  </p:cSld>
  <p:clrMapOvr>
    <a:masterClrMapping/>
  </p:clrMapOvr>
</p:sld>
</file>

<file path=ppt/slides/slide1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9709A50-D289-1951-1F42-F30583AA1A4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9F73E44-E61E-1B7C-9C26-02E28D4D6F29}"/>
              </a:ext>
            </a:extLst>
          </p:cNvPr>
          <p:cNvSpPr>
            <a:spLocks noGrp="1"/>
          </p:cNvSpPr>
          <p:nvPr>
            <p:ph type="title"/>
          </p:nvPr>
        </p:nvSpPr>
        <p:spPr/>
        <p:txBody>
          <a:bodyPr>
            <a:normAutofit fontScale="90000"/>
          </a:bodyPr>
          <a:lstStyle/>
          <a:p>
            <a:r>
              <a:rPr lang="en-US" dirty="0"/>
              <a:t>Incentives for engaging in electronic commerce</a:t>
            </a:r>
            <a:br>
              <a:rPr lang="en-US" dirty="0"/>
            </a:br>
            <a:endParaRPr lang="en-US" dirty="0"/>
          </a:p>
        </p:txBody>
      </p:sp>
      <p:sp>
        <p:nvSpPr>
          <p:cNvPr id="3" name="Content Placeholder 2">
            <a:extLst>
              <a:ext uri="{FF2B5EF4-FFF2-40B4-BE49-F238E27FC236}">
                <a16:creationId xmlns:a16="http://schemas.microsoft.com/office/drawing/2014/main" id="{78D14A20-5111-5987-7AF5-8DFD11946F89}"/>
              </a:ext>
            </a:extLst>
          </p:cNvPr>
          <p:cNvSpPr>
            <a:spLocks noGrp="1"/>
          </p:cNvSpPr>
          <p:nvPr>
            <p:ph idx="1"/>
          </p:nvPr>
        </p:nvSpPr>
        <p:spPr/>
        <p:txBody>
          <a:bodyPr>
            <a:normAutofit/>
          </a:bodyPr>
          <a:lstStyle/>
          <a:p>
            <a:pPr marL="0" indent="0" algn="just">
              <a:buNone/>
            </a:pPr>
            <a:r>
              <a:rPr lang="en-IN" dirty="0"/>
              <a:t>7. Data Insights: E-commerce platforms generate vast amounts of data on customer behaviour, preferences, and purchasing patterns. Businesses can leverage this data to gain valuable insights into market trends, consumer preferences, and competitor analysis, enabling informed decision-making and strategic planning.</a:t>
            </a:r>
          </a:p>
          <a:p>
            <a:pPr marL="0" indent="0" algn="just">
              <a:buNone/>
            </a:pPr>
            <a:r>
              <a:rPr lang="en-IN" dirty="0"/>
              <a:t>8. Scalability: E-commerce businesses have the potential for rapid scalability and growth. With the right infrastructure and technology in place, businesses can quickly expand their operations to new markets, add new products or services, and accommodate increasing demand</a:t>
            </a:r>
          </a:p>
          <a:p>
            <a:pPr marL="0" indent="0" algn="just">
              <a:buNone/>
            </a:pPr>
            <a:endParaRPr lang="en-IN" dirty="0"/>
          </a:p>
          <a:p>
            <a:pPr marL="0" indent="0" algn="just">
              <a:buNone/>
            </a:pPr>
            <a:endParaRPr lang="en-IN" dirty="0"/>
          </a:p>
          <a:p>
            <a:pPr marL="0" indent="0" algn="just">
              <a:buNone/>
            </a:pPr>
            <a:endParaRPr lang="en-IN" dirty="0"/>
          </a:p>
          <a:p>
            <a:pPr marL="0" indent="0">
              <a:buNone/>
            </a:pPr>
            <a:endParaRPr lang="en-US" dirty="0"/>
          </a:p>
          <a:p>
            <a:endParaRPr lang="en-US" dirty="0"/>
          </a:p>
        </p:txBody>
      </p:sp>
    </p:spTree>
    <p:extLst>
      <p:ext uri="{BB962C8B-B14F-4D97-AF65-F5344CB8AC3E}">
        <p14:creationId xmlns:p14="http://schemas.microsoft.com/office/powerpoint/2010/main" val="2535469526"/>
      </p:ext>
    </p:extLst>
  </p:cSld>
  <p:clrMapOvr>
    <a:masterClrMapping/>
  </p:clrMapOvr>
</p:sld>
</file>

<file path=ppt/slides/slide1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0047207-7D8B-EEC2-27D0-E5D6B7493FC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1361D91-D676-E2C7-C7F1-1F1A5728D371}"/>
              </a:ext>
            </a:extLst>
          </p:cNvPr>
          <p:cNvSpPr>
            <a:spLocks noGrp="1"/>
          </p:cNvSpPr>
          <p:nvPr>
            <p:ph type="title"/>
          </p:nvPr>
        </p:nvSpPr>
        <p:spPr/>
        <p:txBody>
          <a:bodyPr>
            <a:normAutofit fontScale="90000"/>
          </a:bodyPr>
          <a:lstStyle/>
          <a:p>
            <a:r>
              <a:rPr lang="en-US" dirty="0"/>
              <a:t>Incentives for engaging in electronic commerce</a:t>
            </a:r>
            <a:br>
              <a:rPr lang="en-US" dirty="0"/>
            </a:br>
            <a:endParaRPr lang="en-US" dirty="0"/>
          </a:p>
        </p:txBody>
      </p:sp>
      <p:sp>
        <p:nvSpPr>
          <p:cNvPr id="3" name="Content Placeholder 2">
            <a:extLst>
              <a:ext uri="{FF2B5EF4-FFF2-40B4-BE49-F238E27FC236}">
                <a16:creationId xmlns:a16="http://schemas.microsoft.com/office/drawing/2014/main" id="{DDCC1200-E88B-9FD4-EA5A-1F7BF39495F6}"/>
              </a:ext>
            </a:extLst>
          </p:cNvPr>
          <p:cNvSpPr>
            <a:spLocks noGrp="1"/>
          </p:cNvSpPr>
          <p:nvPr>
            <p:ph idx="1"/>
          </p:nvPr>
        </p:nvSpPr>
        <p:spPr/>
        <p:txBody>
          <a:bodyPr>
            <a:normAutofit fontScale="92500" lnSpcReduction="20000"/>
          </a:bodyPr>
          <a:lstStyle/>
          <a:p>
            <a:pPr marL="0" indent="0" algn="just">
              <a:buNone/>
            </a:pPr>
            <a:r>
              <a:rPr lang="en-IN" dirty="0"/>
              <a:t>9. Improved Customer Service: E-commerce platforms enable businesses to provide better customer service through features such as live chat support, self-service options, and fast resolution of inquiries or issues. Enhanced customer service leads to higher customer satisfaction and loyalty.</a:t>
            </a:r>
          </a:p>
          <a:p>
            <a:pPr marL="0" indent="0" algn="just">
              <a:buNone/>
            </a:pPr>
            <a:r>
              <a:rPr lang="en-IN" dirty="0"/>
              <a:t>10. Environmental Impact: E-commerce can have a lower environmental impact compared to traditional retail models. By reducing the need for physical storefronts and transportation, ecommerce can contribute to lower carbon emissions and resource consumption.</a:t>
            </a:r>
          </a:p>
          <a:p>
            <a:pPr marL="0" indent="0" algn="just">
              <a:buNone/>
            </a:pPr>
            <a:endParaRPr lang="en-IN" dirty="0"/>
          </a:p>
          <a:p>
            <a:pPr marL="0" indent="0" algn="just">
              <a:buNone/>
            </a:pPr>
            <a:r>
              <a:rPr lang="en-IN" dirty="0"/>
              <a:t>Overall, engaging in e-commerce offers numerous incentives for businesses, consumers, and society as a whole, driving innovation, economic growth, and efficiency in the digital marketplace.</a:t>
            </a:r>
          </a:p>
          <a:p>
            <a:pPr marL="0" indent="0" algn="just">
              <a:buNone/>
            </a:pPr>
            <a:endParaRPr lang="en-IN" dirty="0"/>
          </a:p>
          <a:p>
            <a:pPr marL="0" indent="0" algn="just">
              <a:buNone/>
            </a:pPr>
            <a:endParaRPr lang="en-IN" dirty="0"/>
          </a:p>
          <a:p>
            <a:pPr marL="0" indent="0" algn="just">
              <a:buNone/>
            </a:pPr>
            <a:endParaRPr lang="en-IN" dirty="0"/>
          </a:p>
          <a:p>
            <a:pPr marL="0" indent="0">
              <a:buNone/>
            </a:pPr>
            <a:endParaRPr lang="en-US" dirty="0"/>
          </a:p>
          <a:p>
            <a:endParaRPr lang="en-US" dirty="0"/>
          </a:p>
        </p:txBody>
      </p:sp>
    </p:spTree>
    <p:extLst>
      <p:ext uri="{BB962C8B-B14F-4D97-AF65-F5344CB8AC3E}">
        <p14:creationId xmlns:p14="http://schemas.microsoft.com/office/powerpoint/2010/main" val="1540940036"/>
      </p:ext>
    </p:extLst>
  </p:cSld>
  <p:clrMapOvr>
    <a:masterClrMapping/>
  </p:clrMapOvr>
</p:sld>
</file>

<file path=ppt/slides/slide1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95B7F08-47D1-29C9-1DE1-1159C464FD9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5B1E69F-7DD5-B989-4B04-9742BE3655BD}"/>
              </a:ext>
            </a:extLst>
          </p:cNvPr>
          <p:cNvSpPr>
            <a:spLocks noGrp="1"/>
          </p:cNvSpPr>
          <p:nvPr>
            <p:ph type="title"/>
          </p:nvPr>
        </p:nvSpPr>
        <p:spPr/>
        <p:txBody>
          <a:bodyPr/>
          <a:lstStyle/>
          <a:p>
            <a:r>
              <a:rPr lang="en-US" dirty="0"/>
              <a:t>Unit 1: Vector Space Model of Retrieval</a:t>
            </a:r>
          </a:p>
        </p:txBody>
      </p:sp>
      <p:sp>
        <p:nvSpPr>
          <p:cNvPr id="3" name="Content Placeholder 2">
            <a:extLst>
              <a:ext uri="{FF2B5EF4-FFF2-40B4-BE49-F238E27FC236}">
                <a16:creationId xmlns:a16="http://schemas.microsoft.com/office/drawing/2014/main" id="{A6B895B3-A9C7-CEBC-5B4C-A76EA37DF123}"/>
              </a:ext>
            </a:extLst>
          </p:cNvPr>
          <p:cNvSpPr>
            <a:spLocks noGrp="1"/>
          </p:cNvSpPr>
          <p:nvPr>
            <p:ph idx="1"/>
          </p:nvPr>
        </p:nvSpPr>
        <p:spPr/>
        <p:txBody>
          <a:bodyPr>
            <a:normAutofit fontScale="55000" lnSpcReduction="20000"/>
          </a:bodyPr>
          <a:lstStyle/>
          <a:p>
            <a:r>
              <a:rPr lang="en-US" strike="sngStrike" dirty="0"/>
              <a:t>Word Statistics</a:t>
            </a:r>
          </a:p>
          <a:p>
            <a:r>
              <a:rPr lang="en-US" strike="sngStrike" dirty="0"/>
              <a:t>Text preprocessing</a:t>
            </a:r>
          </a:p>
          <a:p>
            <a:r>
              <a:rPr lang="en-US" strike="sngStrike" dirty="0"/>
              <a:t>Term Weighing</a:t>
            </a:r>
          </a:p>
          <a:p>
            <a:r>
              <a:rPr lang="en-US" strike="sngStrike" dirty="0"/>
              <a:t>Similarity Function</a:t>
            </a:r>
          </a:p>
          <a:p>
            <a:r>
              <a:rPr lang="en-US" strike="sngStrike" dirty="0"/>
              <a:t>Indexing</a:t>
            </a:r>
          </a:p>
          <a:p>
            <a:r>
              <a:rPr lang="en-US" strike="sngStrike" dirty="0"/>
              <a:t>Relevance Feedback</a:t>
            </a:r>
          </a:p>
          <a:p>
            <a:r>
              <a:rPr lang="en-US" strike="sngStrike" dirty="0"/>
              <a:t>Query Expansion(With Local Analysis from External Resources)</a:t>
            </a:r>
          </a:p>
          <a:p>
            <a:r>
              <a:rPr lang="en-US" strike="sngStrike" dirty="0"/>
              <a:t>The impact of Document Normalization</a:t>
            </a:r>
          </a:p>
          <a:p>
            <a:r>
              <a:rPr lang="en-US" strike="sngStrike" dirty="0"/>
              <a:t>Multi-Field Retrieval</a:t>
            </a:r>
          </a:p>
          <a:p>
            <a:r>
              <a:rPr lang="en-US" strike="sngStrike" dirty="0"/>
              <a:t>Evaluation of Retrieval</a:t>
            </a:r>
          </a:p>
          <a:p>
            <a:r>
              <a:rPr lang="en-US" strike="sngStrike" dirty="0"/>
              <a:t>Applications</a:t>
            </a:r>
          </a:p>
          <a:p>
            <a:r>
              <a:rPr lang="en-US" strike="sngStrike" dirty="0"/>
              <a:t>Disadvantages</a:t>
            </a:r>
          </a:p>
          <a:p>
            <a:r>
              <a:rPr lang="en-US" strike="sngStrike" dirty="0"/>
              <a:t>Incentives for Engaging in Electronic Commerce</a:t>
            </a:r>
          </a:p>
          <a:p>
            <a:r>
              <a:rPr lang="en-US" dirty="0"/>
              <a:t>Forces behind E-</a:t>
            </a:r>
            <a:r>
              <a:rPr lang="en-US" dirty="0" err="1"/>
              <a:t>commerece</a:t>
            </a:r>
            <a:endParaRPr lang="en-US" dirty="0"/>
          </a:p>
        </p:txBody>
      </p:sp>
    </p:spTree>
    <p:extLst>
      <p:ext uri="{BB962C8B-B14F-4D97-AF65-F5344CB8AC3E}">
        <p14:creationId xmlns:p14="http://schemas.microsoft.com/office/powerpoint/2010/main" val="534993313"/>
      </p:ext>
    </p:extLst>
  </p:cSld>
  <p:clrMapOvr>
    <a:masterClrMapping/>
  </p:clrMapOvr>
</p:sld>
</file>

<file path=ppt/slides/slide1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9B758D1-701D-457C-03BE-3D536485F9CB}"/>
              </a:ext>
            </a:extLst>
          </p:cNvPr>
          <p:cNvSpPr>
            <a:spLocks noGrp="1"/>
          </p:cNvSpPr>
          <p:nvPr>
            <p:ph type="title"/>
          </p:nvPr>
        </p:nvSpPr>
        <p:spPr/>
        <p:txBody>
          <a:bodyPr/>
          <a:lstStyle/>
          <a:p>
            <a:r>
              <a:rPr lang="en-US" dirty="0"/>
              <a:t>Forces behind E-Commerce for using IR</a:t>
            </a:r>
            <a:br>
              <a:rPr lang="en-US" dirty="0"/>
            </a:br>
            <a:endParaRPr lang="en-US" dirty="0"/>
          </a:p>
        </p:txBody>
      </p:sp>
      <p:sp>
        <p:nvSpPr>
          <p:cNvPr id="3" name="Content Placeholder 2">
            <a:extLst>
              <a:ext uri="{FF2B5EF4-FFF2-40B4-BE49-F238E27FC236}">
                <a16:creationId xmlns:a16="http://schemas.microsoft.com/office/drawing/2014/main" id="{AC80FED7-892E-3BDA-F7C9-15DB102DC25A}"/>
              </a:ext>
            </a:extLst>
          </p:cNvPr>
          <p:cNvSpPr>
            <a:spLocks noGrp="1"/>
          </p:cNvSpPr>
          <p:nvPr>
            <p:ph idx="1"/>
          </p:nvPr>
        </p:nvSpPr>
        <p:spPr/>
        <p:txBody>
          <a:bodyPr>
            <a:normAutofit/>
          </a:bodyPr>
          <a:lstStyle/>
          <a:p>
            <a:pPr marL="0" indent="0" algn="just">
              <a:buNone/>
            </a:pPr>
            <a:r>
              <a:rPr lang="en-IN" dirty="0"/>
              <a:t>Information retrieval (IR) plays a crucial role in the success of e-commerce by facilitating efficient search, retrieval, and presentation of relevant products and services to users. Several forces drive the adoption of IR in e-commerce:</a:t>
            </a:r>
          </a:p>
          <a:p>
            <a:pPr marL="0" indent="0" algn="just">
              <a:buNone/>
            </a:pPr>
            <a:endParaRPr lang="en-IN" dirty="0"/>
          </a:p>
          <a:p>
            <a:pPr marL="0" indent="0" algn="just">
              <a:buNone/>
            </a:pPr>
            <a:r>
              <a:rPr lang="en-IN" dirty="0"/>
              <a:t>1. Vast Product </a:t>
            </a:r>
            <a:r>
              <a:rPr lang="en-IN" dirty="0" err="1"/>
              <a:t>Catalogs</a:t>
            </a:r>
            <a:r>
              <a:rPr lang="en-IN" dirty="0"/>
              <a:t>: E-commerce platforms often have vast product </a:t>
            </a:r>
            <a:r>
              <a:rPr lang="en-IN" dirty="0" err="1"/>
              <a:t>catalogs</a:t>
            </a:r>
            <a:r>
              <a:rPr lang="en-IN" dirty="0"/>
              <a:t> with thousands or even millions of items. IR enables users to efficiently navigate and search through these </a:t>
            </a:r>
            <a:r>
              <a:rPr lang="en-IN" dirty="0" err="1"/>
              <a:t>catalogs</a:t>
            </a:r>
            <a:r>
              <a:rPr lang="en-IN" dirty="0"/>
              <a:t> to find products that meet their specific needs and preferences.</a:t>
            </a:r>
          </a:p>
          <a:p>
            <a:endParaRPr lang="en-IN" dirty="0"/>
          </a:p>
          <a:p>
            <a:endParaRPr lang="en-US" dirty="0"/>
          </a:p>
        </p:txBody>
      </p:sp>
    </p:spTree>
    <p:extLst>
      <p:ext uri="{BB962C8B-B14F-4D97-AF65-F5344CB8AC3E}">
        <p14:creationId xmlns:p14="http://schemas.microsoft.com/office/powerpoint/2010/main" val="331895928"/>
      </p:ext>
    </p:extLst>
  </p:cSld>
  <p:clrMapOvr>
    <a:masterClrMapping/>
  </p:clrMapOvr>
</p:sld>
</file>

<file path=ppt/slides/slide1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252F5CB-1C41-299B-98AF-12D11558A05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3264952-43B0-D4E3-4F69-FF736561FAC6}"/>
              </a:ext>
            </a:extLst>
          </p:cNvPr>
          <p:cNvSpPr>
            <a:spLocks noGrp="1"/>
          </p:cNvSpPr>
          <p:nvPr>
            <p:ph type="title"/>
          </p:nvPr>
        </p:nvSpPr>
        <p:spPr/>
        <p:txBody>
          <a:bodyPr/>
          <a:lstStyle/>
          <a:p>
            <a:r>
              <a:rPr lang="en-US" dirty="0"/>
              <a:t>Forces behind E-Commerce for using IR</a:t>
            </a:r>
            <a:br>
              <a:rPr lang="en-US" dirty="0"/>
            </a:br>
            <a:endParaRPr lang="en-US" dirty="0"/>
          </a:p>
        </p:txBody>
      </p:sp>
      <p:sp>
        <p:nvSpPr>
          <p:cNvPr id="3" name="Content Placeholder 2">
            <a:extLst>
              <a:ext uri="{FF2B5EF4-FFF2-40B4-BE49-F238E27FC236}">
                <a16:creationId xmlns:a16="http://schemas.microsoft.com/office/drawing/2014/main" id="{6793A992-E518-61AF-10AC-0FC7680A920D}"/>
              </a:ext>
            </a:extLst>
          </p:cNvPr>
          <p:cNvSpPr>
            <a:spLocks noGrp="1"/>
          </p:cNvSpPr>
          <p:nvPr>
            <p:ph idx="1"/>
          </p:nvPr>
        </p:nvSpPr>
        <p:spPr/>
        <p:txBody>
          <a:bodyPr>
            <a:normAutofit lnSpcReduction="10000"/>
          </a:bodyPr>
          <a:lstStyle/>
          <a:p>
            <a:pPr marL="0" indent="0" algn="just">
              <a:buNone/>
            </a:pPr>
            <a:r>
              <a:rPr lang="en-IN" dirty="0"/>
              <a:t>2. Personalization: Personalized recommendations and search results enhance the user experience and increase engagement. IR techniques </a:t>
            </a:r>
            <a:r>
              <a:rPr lang="en-IN" dirty="0" err="1"/>
              <a:t>analyze</a:t>
            </a:r>
            <a:r>
              <a:rPr lang="en-IN" dirty="0"/>
              <a:t> user </a:t>
            </a:r>
            <a:r>
              <a:rPr lang="en-IN" dirty="0" err="1"/>
              <a:t>behavior</a:t>
            </a:r>
            <a:r>
              <a:rPr lang="en-IN" dirty="0"/>
              <a:t>, purchase history, and preferences to deliver tailored product recommendations and search results, leading to higher conversion rates and customer satisfaction.</a:t>
            </a:r>
          </a:p>
          <a:p>
            <a:pPr marL="0" indent="0">
              <a:buNone/>
            </a:pPr>
            <a:r>
              <a:rPr lang="en-IN" dirty="0"/>
              <a:t>3. Dynamic Inventory: E-commerce inventory is dynamic, with products being added, removed, or updated frequently. IR systems help manage this dynamic inventory by indexing and updating product information in real-time, ensuring that users have access to the latest and most relevant product listings.</a:t>
            </a:r>
          </a:p>
          <a:p>
            <a:pPr marL="0" indent="0">
              <a:buNone/>
            </a:pPr>
            <a:endParaRPr lang="en-IN" dirty="0"/>
          </a:p>
          <a:p>
            <a:pPr marL="0" indent="0">
              <a:buNone/>
            </a:pPr>
            <a:endParaRPr lang="en-IN" dirty="0"/>
          </a:p>
          <a:p>
            <a:endParaRPr lang="en-IN" dirty="0"/>
          </a:p>
          <a:p>
            <a:endParaRPr lang="en-US" dirty="0"/>
          </a:p>
        </p:txBody>
      </p:sp>
    </p:spTree>
    <p:extLst>
      <p:ext uri="{BB962C8B-B14F-4D97-AF65-F5344CB8AC3E}">
        <p14:creationId xmlns:p14="http://schemas.microsoft.com/office/powerpoint/2010/main" val="2752054396"/>
      </p:ext>
    </p:extLst>
  </p:cSld>
  <p:clrMapOvr>
    <a:masterClrMapping/>
  </p:clrMapOvr>
</p:sld>
</file>

<file path=ppt/slides/slide1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4EA8F78-1384-CC4B-4D54-074074462B2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9A0616B-277B-9B62-CCA9-FB9694CF5FA2}"/>
              </a:ext>
            </a:extLst>
          </p:cNvPr>
          <p:cNvSpPr>
            <a:spLocks noGrp="1"/>
          </p:cNvSpPr>
          <p:nvPr>
            <p:ph type="title"/>
          </p:nvPr>
        </p:nvSpPr>
        <p:spPr/>
        <p:txBody>
          <a:bodyPr/>
          <a:lstStyle/>
          <a:p>
            <a:r>
              <a:rPr lang="en-US" dirty="0"/>
              <a:t>Forces behind E-Commerce for using IR</a:t>
            </a:r>
            <a:br>
              <a:rPr lang="en-US" dirty="0"/>
            </a:br>
            <a:endParaRPr lang="en-US" dirty="0"/>
          </a:p>
        </p:txBody>
      </p:sp>
      <p:sp>
        <p:nvSpPr>
          <p:cNvPr id="3" name="Content Placeholder 2">
            <a:extLst>
              <a:ext uri="{FF2B5EF4-FFF2-40B4-BE49-F238E27FC236}">
                <a16:creationId xmlns:a16="http://schemas.microsoft.com/office/drawing/2014/main" id="{1ECDBA2F-5BB4-B3BF-C39F-54CFE2D4D97E}"/>
              </a:ext>
            </a:extLst>
          </p:cNvPr>
          <p:cNvSpPr>
            <a:spLocks noGrp="1"/>
          </p:cNvSpPr>
          <p:nvPr>
            <p:ph idx="1"/>
          </p:nvPr>
        </p:nvSpPr>
        <p:spPr/>
        <p:txBody>
          <a:bodyPr>
            <a:normAutofit/>
          </a:bodyPr>
          <a:lstStyle/>
          <a:p>
            <a:pPr marL="0" indent="0" algn="just">
              <a:buNone/>
            </a:pPr>
            <a:endParaRPr lang="en-IN" dirty="0"/>
          </a:p>
          <a:p>
            <a:pPr marL="0" indent="0">
              <a:buNone/>
            </a:pPr>
            <a:endParaRPr lang="en-IN" dirty="0"/>
          </a:p>
          <a:p>
            <a:endParaRPr lang="en-IN" dirty="0"/>
          </a:p>
          <a:p>
            <a:endParaRPr lang="en-US" dirty="0"/>
          </a:p>
        </p:txBody>
      </p:sp>
    </p:spTree>
    <p:extLst>
      <p:ext uri="{BB962C8B-B14F-4D97-AF65-F5344CB8AC3E}">
        <p14:creationId xmlns:p14="http://schemas.microsoft.com/office/powerpoint/2010/main" val="2539927567"/>
      </p:ext>
    </p:extLst>
  </p:cSld>
  <p:clrMapOvr>
    <a:masterClrMapping/>
  </p:clrMapOvr>
</p:sld>
</file>

<file path=ppt/slides/slide1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093879C-B2BE-6D16-F304-0AEAE3D0E0B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E030047-00A3-C603-17CC-1E8FE4FAD4B0}"/>
              </a:ext>
            </a:extLst>
          </p:cNvPr>
          <p:cNvSpPr>
            <a:spLocks noGrp="1"/>
          </p:cNvSpPr>
          <p:nvPr>
            <p:ph type="title"/>
          </p:nvPr>
        </p:nvSpPr>
        <p:spPr/>
        <p:txBody>
          <a:bodyPr/>
          <a:lstStyle/>
          <a:p>
            <a:r>
              <a:rPr lang="en-US" dirty="0"/>
              <a:t>Forces behind E-Commerce for using IR</a:t>
            </a:r>
            <a:br>
              <a:rPr lang="en-US" dirty="0"/>
            </a:br>
            <a:endParaRPr lang="en-US" dirty="0"/>
          </a:p>
        </p:txBody>
      </p:sp>
      <p:sp>
        <p:nvSpPr>
          <p:cNvPr id="3" name="Content Placeholder 2">
            <a:extLst>
              <a:ext uri="{FF2B5EF4-FFF2-40B4-BE49-F238E27FC236}">
                <a16:creationId xmlns:a16="http://schemas.microsoft.com/office/drawing/2014/main" id="{6562CF65-1231-6CF8-8CC8-B7E395180B23}"/>
              </a:ext>
            </a:extLst>
          </p:cNvPr>
          <p:cNvSpPr>
            <a:spLocks noGrp="1"/>
          </p:cNvSpPr>
          <p:nvPr>
            <p:ph idx="1"/>
          </p:nvPr>
        </p:nvSpPr>
        <p:spPr/>
        <p:txBody>
          <a:bodyPr>
            <a:normAutofit/>
          </a:bodyPr>
          <a:lstStyle/>
          <a:p>
            <a:pPr marL="0" indent="0" algn="just">
              <a:buNone/>
            </a:pPr>
            <a:endParaRPr lang="en-IN" dirty="0"/>
          </a:p>
          <a:p>
            <a:pPr marL="0" indent="0">
              <a:buNone/>
            </a:pPr>
            <a:endParaRPr lang="en-IN" dirty="0"/>
          </a:p>
          <a:p>
            <a:endParaRPr lang="en-IN" dirty="0"/>
          </a:p>
          <a:p>
            <a:endParaRPr lang="en-US" dirty="0"/>
          </a:p>
        </p:txBody>
      </p:sp>
    </p:spTree>
    <p:extLst>
      <p:ext uri="{BB962C8B-B14F-4D97-AF65-F5344CB8AC3E}">
        <p14:creationId xmlns:p14="http://schemas.microsoft.com/office/powerpoint/2010/main" val="2272890267"/>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4973</TotalTime>
  <Words>11513</Words>
  <Application>Microsoft Macintosh PowerPoint</Application>
  <PresentationFormat>Widescreen</PresentationFormat>
  <Paragraphs>971</Paragraphs>
  <Slides>122</Slides>
  <Notes>1</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122</vt:i4>
      </vt:variant>
    </vt:vector>
  </HeadingPairs>
  <TitlesOfParts>
    <vt:vector size="129" baseType="lpstr">
      <vt:lpstr>Aptos</vt:lpstr>
      <vt:lpstr>Aptos Display</vt:lpstr>
      <vt:lpstr>Arial</vt:lpstr>
      <vt:lpstr>Cambria Math</vt:lpstr>
      <vt:lpstr>Google Sans</vt:lpstr>
      <vt:lpstr>Helvetica</vt:lpstr>
      <vt:lpstr>Office Theme</vt:lpstr>
      <vt:lpstr>Information Retrieval</vt:lpstr>
      <vt:lpstr>Unit 1: Vector Space Model of Retrieval</vt:lpstr>
      <vt:lpstr>What exactly is Information Retrieval?</vt:lpstr>
      <vt:lpstr>Basics of IR System</vt:lpstr>
      <vt:lpstr>Information Retrieval</vt:lpstr>
      <vt:lpstr>Information Retrieval: Key Components and Techniques</vt:lpstr>
      <vt:lpstr>Information Retrieval: Key Components and Techniques</vt:lpstr>
      <vt:lpstr>Information Retrieval: Key Components and Techniques</vt:lpstr>
      <vt:lpstr>Information Retrieval Models</vt:lpstr>
      <vt:lpstr>Types of IR Model</vt:lpstr>
      <vt:lpstr>Vector Space Model</vt:lpstr>
      <vt:lpstr>Fictional Example to understand vector Space Model</vt:lpstr>
      <vt:lpstr>PowerPoint Presentation</vt:lpstr>
      <vt:lpstr>https://ds4psych.com/vectorspace-intro </vt:lpstr>
      <vt:lpstr>Unit 1: Vector Space Model of Retrieval</vt:lpstr>
      <vt:lpstr>Word Statistics</vt:lpstr>
      <vt:lpstr>Key Word Statistics &amp; Concepts in VSM:</vt:lpstr>
      <vt:lpstr>Some Common Word Statistics</vt:lpstr>
      <vt:lpstr>Some Common Word Statistics</vt:lpstr>
      <vt:lpstr>Some Common Word Statistics</vt:lpstr>
      <vt:lpstr>Some Common Word Statistics</vt:lpstr>
      <vt:lpstr>Python Lab 1</vt:lpstr>
      <vt:lpstr>Unit 1: Vector Space Model of Retrieval</vt:lpstr>
      <vt:lpstr>Text Preprocessing</vt:lpstr>
      <vt:lpstr>Text Preprocessing</vt:lpstr>
      <vt:lpstr>N-grams</vt:lpstr>
      <vt:lpstr>Standardization and Cleaning</vt:lpstr>
      <vt:lpstr>Stop Word Removal</vt:lpstr>
      <vt:lpstr>Custom Stop Word Dictionaries</vt:lpstr>
      <vt:lpstr>Stemming and Lemmatization</vt:lpstr>
      <vt:lpstr>Lemmatization</vt:lpstr>
      <vt:lpstr>Python Lab 2</vt:lpstr>
      <vt:lpstr>Unit 1: Vector Space Model of Retrieval</vt:lpstr>
      <vt:lpstr>Term Weighting</vt:lpstr>
      <vt:lpstr>Introduction to Term Weighting (Ranked Retrieval)</vt:lpstr>
      <vt:lpstr>Retrieval Task and Topical Relevance</vt:lpstr>
      <vt:lpstr>Bag-of-Words &amp; Scoring Documents</vt:lpstr>
      <vt:lpstr>Term Frequency as Term Weight</vt:lpstr>
      <vt:lpstr>Rare Terms, Document Frequency &amp; IDF (Preview)</vt:lpstr>
      <vt:lpstr>Recap: Why Term Weighting?</vt:lpstr>
      <vt:lpstr>From Binary Presence → Term Incidence Vector</vt:lpstr>
      <vt:lpstr>Term Frequency (TF) + Log Damping</vt:lpstr>
      <vt:lpstr>Why Rare Terms Matter (Intuition)</vt:lpstr>
      <vt:lpstr>Unit 1: Vector Space Model of Retrieval</vt:lpstr>
      <vt:lpstr>Similarity Function</vt:lpstr>
      <vt:lpstr>Types of Measures:</vt:lpstr>
      <vt:lpstr>Cosine Similarity</vt:lpstr>
      <vt:lpstr>PowerPoint Presentation</vt:lpstr>
      <vt:lpstr>Jaccard Similarity</vt:lpstr>
      <vt:lpstr>Jaccard Similarity</vt:lpstr>
      <vt:lpstr>PowerPoint Presentation</vt:lpstr>
      <vt:lpstr>Advantages and Limitations  </vt:lpstr>
      <vt:lpstr>Euclidean Distance </vt:lpstr>
      <vt:lpstr>Manhattan Distance </vt:lpstr>
      <vt:lpstr>Dice Coefficient </vt:lpstr>
      <vt:lpstr>Levenshtein Distance </vt:lpstr>
      <vt:lpstr>PowerPoint Presentation</vt:lpstr>
      <vt:lpstr>Pearson Correlation Coefficient </vt:lpstr>
      <vt:lpstr>Pearson Correlation Coefficient </vt:lpstr>
      <vt:lpstr>Comparison of All Measures</vt:lpstr>
      <vt:lpstr>Python Lab 3</vt:lpstr>
      <vt:lpstr>Unit 1: Vector Space Model of Retrieval</vt:lpstr>
      <vt:lpstr>Positional Index </vt:lpstr>
      <vt:lpstr>Basic Inverted Index </vt:lpstr>
      <vt:lpstr>Positional Index Extension </vt:lpstr>
      <vt:lpstr>Advantages of Positional Index </vt:lpstr>
      <vt:lpstr>Applications of Positional Index </vt:lpstr>
      <vt:lpstr>Challenges and Considerations </vt:lpstr>
      <vt:lpstr>Index Construction </vt:lpstr>
      <vt:lpstr>Merge based Index Model </vt:lpstr>
      <vt:lpstr>Overview of the merge-based index model </vt:lpstr>
      <vt:lpstr>Python Lab 4</vt:lpstr>
      <vt:lpstr>Unit 1: Vector Space Model of Retrieval</vt:lpstr>
      <vt:lpstr>Relevance Feedback</vt:lpstr>
      <vt:lpstr>How relevance feedback query expansion works: </vt:lpstr>
      <vt:lpstr>Python Lab 5</vt:lpstr>
      <vt:lpstr>Unit 1: Vector Space Model of Retrieval</vt:lpstr>
      <vt:lpstr>Query expansion (with local analysis – from external resources) </vt:lpstr>
      <vt:lpstr>Query expansion (with local analysis – from external resources) </vt:lpstr>
      <vt:lpstr>PowerPoint Presentation</vt:lpstr>
      <vt:lpstr>PowerPoint Presentation</vt:lpstr>
      <vt:lpstr>Query expansion (with local analysis – from external resources) </vt:lpstr>
      <vt:lpstr>Unit 1: Vector Space Model of Retrieval</vt:lpstr>
      <vt:lpstr>The impact of document normalization </vt:lpstr>
      <vt:lpstr>The impact of document normalization </vt:lpstr>
      <vt:lpstr>The impact of document normalization </vt:lpstr>
      <vt:lpstr>The impact of document normalization </vt:lpstr>
      <vt:lpstr>The impact of document normalization </vt:lpstr>
      <vt:lpstr>The impact of document normalization </vt:lpstr>
      <vt:lpstr>The impact of document normalization</vt:lpstr>
      <vt:lpstr>Unit 1: Vector Space Model of Retrieval</vt:lpstr>
      <vt:lpstr>Multi-Field Retrieval</vt:lpstr>
      <vt:lpstr>Overview of the multi-field retrieval model </vt:lpstr>
      <vt:lpstr>Overview of the multi-field retrieval model </vt:lpstr>
      <vt:lpstr>Overview of the multi-field retrieval model </vt:lpstr>
      <vt:lpstr>Overview of the multi-field retrieval model </vt:lpstr>
      <vt:lpstr>Unit 1: Vector Space Model of Retrieval</vt:lpstr>
      <vt:lpstr>Evaluation of IR Systems</vt:lpstr>
      <vt:lpstr>key aspects of the evaluation of IR systems </vt:lpstr>
      <vt:lpstr>key aspects of the evaluation of IR systems </vt:lpstr>
      <vt:lpstr>key aspects of the evaluation of IR systems </vt:lpstr>
      <vt:lpstr>key aspects of the evaluation of IR systems </vt:lpstr>
      <vt:lpstr>key aspects of the evaluation of IR systems </vt:lpstr>
      <vt:lpstr>key aspects of the evaluation of IR systems </vt:lpstr>
      <vt:lpstr>key aspects of the evaluation of IR systems </vt:lpstr>
      <vt:lpstr>key aspects of the evaluation of IR systems </vt:lpstr>
      <vt:lpstr>Unit 1: Vector Space Model of Retrieval</vt:lpstr>
      <vt:lpstr>Evaluation of retrieval. Applications. and Disadvantages </vt:lpstr>
      <vt:lpstr>Evaluation of retrieval. Applications. and Disadvantages </vt:lpstr>
      <vt:lpstr>Evaluation of retrieval. Applications. and Disadvantages </vt:lpstr>
      <vt:lpstr>Evaluation of retrieval. Applications. and Disadvantages </vt:lpstr>
      <vt:lpstr>Unit 1: Vector Space Model of Retrieval</vt:lpstr>
      <vt:lpstr>Incentives for engaging in electronic commerce </vt:lpstr>
      <vt:lpstr>Incentives for engaging in electronic commerce </vt:lpstr>
      <vt:lpstr>Incentives for engaging in electronic commerce </vt:lpstr>
      <vt:lpstr>Incentives for engaging in electronic commerce </vt:lpstr>
      <vt:lpstr>Incentives for engaging in electronic commerce </vt:lpstr>
      <vt:lpstr>Unit 1: Vector Space Model of Retrieval</vt:lpstr>
      <vt:lpstr>Forces behind E-Commerce for using IR </vt:lpstr>
      <vt:lpstr>Forces behind E-Commerce for using IR </vt:lpstr>
      <vt:lpstr>Forces behind E-Commerce for using IR </vt:lpstr>
      <vt:lpstr>Forces behind E-Commerce for using IR </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Dr Nonita Sharma</dc:creator>
  <cp:lastModifiedBy>Dr Nonita Sharma</cp:lastModifiedBy>
  <cp:revision>36</cp:revision>
  <dcterms:created xsi:type="dcterms:W3CDTF">2026-01-11T12:40:52Z</dcterms:created>
  <dcterms:modified xsi:type="dcterms:W3CDTF">2026-02-10T18:36:53Z</dcterms:modified>
</cp:coreProperties>
</file>